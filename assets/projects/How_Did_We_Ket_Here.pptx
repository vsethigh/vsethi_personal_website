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DM Sans Bold Italics" charset="1" panose="00000000000000000000"/>
      <p:regular r:id="rId21"/>
    </p:embeddedFont>
    <p:embeddedFont>
      <p:font typeface="Canva Sans" charset="1" panose="020B0503030501040103"/>
      <p:regular r:id="rId25"/>
    </p:embeddedFont>
    <p:embeddedFont>
      <p:font typeface="Arimo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Got Results (1001)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Got Results (1001)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Got Results (1001)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Got Results (1001)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21.png" Type="http://schemas.openxmlformats.org/officeDocument/2006/relationships/image"/><Relationship Id="rId24" Target="../media/image22.svg" Type="http://schemas.openxmlformats.org/officeDocument/2006/relationships/image"/><Relationship Id="rId25" Target="../media/image23.png" Type="http://schemas.openxmlformats.org/officeDocument/2006/relationships/image"/><Relationship Id="rId26" Target="../media/image24.svg" Type="http://schemas.openxmlformats.org/officeDocument/2006/relationships/image"/><Relationship Id="rId27" Target="../media/image25.png" Type="http://schemas.openxmlformats.org/officeDocument/2006/relationships/image"/><Relationship Id="rId28" Target="../media/image26.svg" Type="http://schemas.openxmlformats.org/officeDocument/2006/relationships/image"/><Relationship Id="rId29" Target="../media/image27.png" Type="http://schemas.openxmlformats.org/officeDocument/2006/relationships/image"/><Relationship Id="rId3" Target="../media/image1.png" Type="http://schemas.openxmlformats.org/officeDocument/2006/relationships/image"/><Relationship Id="rId30" Target="../media/image28.sv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26" Target="../media/image27.png" Type="http://schemas.openxmlformats.org/officeDocument/2006/relationships/image"/><Relationship Id="rId27" Target="../media/image28.svg" Type="http://schemas.openxmlformats.org/officeDocument/2006/relationships/image"/><Relationship Id="rId28" Target="../media/image47.png" Type="http://schemas.openxmlformats.org/officeDocument/2006/relationships/image"/><Relationship Id="rId29" Target="../media/image48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26" Target="../media/image27.png" Type="http://schemas.openxmlformats.org/officeDocument/2006/relationships/image"/><Relationship Id="rId27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688802" y="2310287"/>
            <a:ext cx="10910396" cy="320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8"/>
              </a:lnSpc>
            </a:pPr>
            <a:r>
              <a:rPr lang="en-US" b="true" sz="1299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How Did We Ket Here?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963817" y="237103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039158" y="5267808"/>
            <a:ext cx="8209685" cy="2062683"/>
          </a:xfrm>
          <a:custGeom>
            <a:avLst/>
            <a:gdLst/>
            <a:ahLst/>
            <a:cxnLst/>
            <a:rect r="r" b="b" t="t" l="l"/>
            <a:pathLst>
              <a:path h="2062683" w="8209685">
                <a:moveTo>
                  <a:pt x="0" y="0"/>
                </a:moveTo>
                <a:lnTo>
                  <a:pt x="8209684" y="0"/>
                </a:lnTo>
                <a:lnTo>
                  <a:pt x="8209684" y="2062683"/>
                </a:lnTo>
                <a:lnTo>
                  <a:pt x="0" y="206268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914102" y="7601547"/>
            <a:ext cx="8459795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b="true" sz="438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Hazel, Ryon, Toby, &amp; Varun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651490" y="795134"/>
            <a:ext cx="4484327" cy="3862013"/>
          </a:xfrm>
          <a:custGeom>
            <a:avLst/>
            <a:gdLst/>
            <a:ahLst/>
            <a:cxnLst/>
            <a:rect r="r" b="b" t="t" l="l"/>
            <a:pathLst>
              <a:path h="3862013" w="4484327">
                <a:moveTo>
                  <a:pt x="0" y="0"/>
                </a:moveTo>
                <a:lnTo>
                  <a:pt x="4484327" y="0"/>
                </a:lnTo>
                <a:lnTo>
                  <a:pt x="4484327" y="3862013"/>
                </a:lnTo>
                <a:lnTo>
                  <a:pt x="0" y="38620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51490" y="5342373"/>
            <a:ext cx="4484327" cy="4503090"/>
          </a:xfrm>
          <a:custGeom>
            <a:avLst/>
            <a:gdLst/>
            <a:ahLst/>
            <a:cxnLst/>
            <a:rect r="r" b="b" t="t" l="l"/>
            <a:pathLst>
              <a:path h="4503090" w="4484327">
                <a:moveTo>
                  <a:pt x="0" y="0"/>
                </a:moveTo>
                <a:lnTo>
                  <a:pt x="4484327" y="0"/>
                </a:lnTo>
                <a:lnTo>
                  <a:pt x="4484327" y="4503090"/>
                </a:lnTo>
                <a:lnTo>
                  <a:pt x="0" y="4503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0646" y="550582"/>
            <a:ext cx="4428014" cy="4351117"/>
          </a:xfrm>
          <a:custGeom>
            <a:avLst/>
            <a:gdLst/>
            <a:ahLst/>
            <a:cxnLst/>
            <a:rect r="r" b="b" t="t" l="l"/>
            <a:pathLst>
              <a:path h="4351117" w="4428014">
                <a:moveTo>
                  <a:pt x="0" y="0"/>
                </a:moveTo>
                <a:lnTo>
                  <a:pt x="4428015" y="0"/>
                </a:lnTo>
                <a:lnTo>
                  <a:pt x="4428015" y="4351117"/>
                </a:lnTo>
                <a:lnTo>
                  <a:pt x="0" y="43511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0646" y="5488069"/>
            <a:ext cx="4431529" cy="4211698"/>
          </a:xfrm>
          <a:custGeom>
            <a:avLst/>
            <a:gdLst/>
            <a:ahLst/>
            <a:cxnLst/>
            <a:rect r="r" b="b" t="t" l="l"/>
            <a:pathLst>
              <a:path h="4211698" w="4431529">
                <a:moveTo>
                  <a:pt x="0" y="0"/>
                </a:moveTo>
                <a:lnTo>
                  <a:pt x="4431530" y="0"/>
                </a:lnTo>
                <a:lnTo>
                  <a:pt x="4431530" y="4211698"/>
                </a:lnTo>
                <a:lnTo>
                  <a:pt x="0" y="421169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3687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69821" y="2488242"/>
            <a:ext cx="7148357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Who are we?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19636" y="3876311"/>
            <a:ext cx="8648729" cy="371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2" indent="-421006" lvl="1">
              <a:lnSpc>
                <a:spcPts val="7800"/>
              </a:lnSpc>
              <a:buFont typeface="Arial"/>
              <a:buChar char="•"/>
            </a:pPr>
            <a:r>
              <a:rPr lang="en-US" sz="3900" spc="2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Clemson University Students</a:t>
            </a:r>
          </a:p>
          <a:p>
            <a:pPr algn="l" marL="842012" indent="-421006" lvl="1">
              <a:lnSpc>
                <a:spcPts val="5265"/>
              </a:lnSpc>
              <a:buFont typeface="Arial"/>
              <a:buChar char="•"/>
            </a:pPr>
            <a:r>
              <a:rPr lang="en-US" sz="3900" spc="2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Sophmore Computer Science + (mostly) Math Majors</a:t>
            </a:r>
          </a:p>
          <a:p>
            <a:pPr algn="l" marL="842012" indent="-421006" lvl="1">
              <a:lnSpc>
                <a:spcPts val="5265"/>
              </a:lnSpc>
              <a:buFont typeface="Arial"/>
              <a:buChar char="•"/>
            </a:pPr>
            <a:r>
              <a:rPr lang="en-US" sz="3900" spc="23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Spent the Current Academic Year Learning Quantum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4371" y="6150967"/>
            <a:ext cx="3847745" cy="3883046"/>
          </a:xfrm>
          <a:custGeom>
            <a:avLst/>
            <a:gdLst/>
            <a:ahLst/>
            <a:cxnLst/>
            <a:rect r="r" b="b" t="t" l="l"/>
            <a:pathLst>
              <a:path h="3883046" w="3847745">
                <a:moveTo>
                  <a:pt x="0" y="0"/>
                </a:moveTo>
                <a:lnTo>
                  <a:pt x="3847745" y="0"/>
                </a:lnTo>
                <a:lnTo>
                  <a:pt x="3847745" y="3883046"/>
                </a:lnTo>
                <a:lnTo>
                  <a:pt x="0" y="388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144611" y="3237603"/>
            <a:ext cx="5391671" cy="3066422"/>
          </a:xfrm>
          <a:custGeom>
            <a:avLst/>
            <a:gdLst/>
            <a:ahLst/>
            <a:cxnLst/>
            <a:rect r="r" b="b" t="t" l="l"/>
            <a:pathLst>
              <a:path h="3066422" w="5391671">
                <a:moveTo>
                  <a:pt x="0" y="0"/>
                </a:moveTo>
                <a:lnTo>
                  <a:pt x="5391670" y="0"/>
                </a:lnTo>
                <a:lnTo>
                  <a:pt x="5391670" y="3066422"/>
                </a:lnTo>
                <a:lnTo>
                  <a:pt x="0" y="3066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44611" y="6427850"/>
            <a:ext cx="5179385" cy="3859150"/>
          </a:xfrm>
          <a:custGeom>
            <a:avLst/>
            <a:gdLst/>
            <a:ahLst/>
            <a:cxnLst/>
            <a:rect r="r" b="b" t="t" l="l"/>
            <a:pathLst>
              <a:path h="3859150" w="5179385">
                <a:moveTo>
                  <a:pt x="0" y="0"/>
                </a:moveTo>
                <a:lnTo>
                  <a:pt x="5179385" y="0"/>
                </a:lnTo>
                <a:lnTo>
                  <a:pt x="5179385" y="3859150"/>
                </a:lnTo>
                <a:lnTo>
                  <a:pt x="0" y="3859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42411" y="3983011"/>
            <a:ext cx="7697137" cy="5659299"/>
          </a:xfrm>
          <a:custGeom>
            <a:avLst/>
            <a:gdLst/>
            <a:ahLst/>
            <a:cxnLst/>
            <a:rect r="r" b="b" t="t" l="l"/>
            <a:pathLst>
              <a:path h="5659299" w="7697137">
                <a:moveTo>
                  <a:pt x="0" y="0"/>
                </a:moveTo>
                <a:lnTo>
                  <a:pt x="7697137" y="0"/>
                </a:lnTo>
                <a:lnTo>
                  <a:pt x="7697137" y="5659299"/>
                </a:lnTo>
                <a:lnTo>
                  <a:pt x="0" y="56592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75985" y="1104900"/>
            <a:ext cx="633603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  <a:spcBef>
                <a:spcPct val="0"/>
              </a:spcBef>
            </a:pPr>
            <a:r>
              <a:rPr lang="en-US" b="true" sz="5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Problems One &amp; Two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08192" y="2463221"/>
            <a:ext cx="112549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1001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42411" y="3099491"/>
            <a:ext cx="787836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1100101101100011011000011100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67884" y="486918"/>
            <a:ext cx="13352232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Approach 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Issues 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New Ideas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 Solution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76833" y="1765038"/>
            <a:ext cx="894992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Using Qiskit’s AerSimulator Locally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737" y="3712922"/>
            <a:ext cx="8306686" cy="4630977"/>
          </a:xfrm>
          <a:custGeom>
            <a:avLst/>
            <a:gdLst/>
            <a:ahLst/>
            <a:cxnLst/>
            <a:rect r="r" b="b" t="t" l="l"/>
            <a:pathLst>
              <a:path h="4630977" w="8306686">
                <a:moveTo>
                  <a:pt x="0" y="0"/>
                </a:moveTo>
                <a:lnTo>
                  <a:pt x="8306686" y="0"/>
                </a:lnTo>
                <a:lnTo>
                  <a:pt x="8306686" y="4630978"/>
                </a:lnTo>
                <a:lnTo>
                  <a:pt x="0" y="4630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2142" y="3712922"/>
            <a:ext cx="8889866" cy="4589394"/>
          </a:xfrm>
          <a:custGeom>
            <a:avLst/>
            <a:gdLst/>
            <a:ahLst/>
            <a:cxnLst/>
            <a:rect r="r" b="b" t="t" l="l"/>
            <a:pathLst>
              <a:path h="4589394" w="8889866">
                <a:moveTo>
                  <a:pt x="0" y="0"/>
                </a:moveTo>
                <a:lnTo>
                  <a:pt x="8889867" y="0"/>
                </a:lnTo>
                <a:lnTo>
                  <a:pt x="8889867" y="4589394"/>
                </a:lnTo>
                <a:lnTo>
                  <a:pt x="0" y="458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700841"/>
            <a:ext cx="16230600" cy="1126486"/>
          </a:xfrm>
          <a:custGeom>
            <a:avLst/>
            <a:gdLst/>
            <a:ahLst/>
            <a:cxnLst/>
            <a:rect r="r" b="b" t="t" l="l"/>
            <a:pathLst>
              <a:path h="1126486" w="16230600">
                <a:moveTo>
                  <a:pt x="0" y="0"/>
                </a:moveTo>
                <a:lnTo>
                  <a:pt x="16230600" y="0"/>
                </a:lnTo>
                <a:lnTo>
                  <a:pt x="16230600" y="1126486"/>
                </a:lnTo>
                <a:lnTo>
                  <a:pt x="0" y="1126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94640" y="1644727"/>
            <a:ext cx="309872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  <a:spcBef>
                <a:spcPct val="0"/>
              </a:spcBef>
            </a:pPr>
            <a:r>
              <a:rPr lang="en-US" b="true" sz="5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9154" y="1514552"/>
            <a:ext cx="12769691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</a:p>
          <a:p>
            <a:pPr algn="ctr">
              <a:lnSpc>
                <a:spcPts val="5880"/>
              </a:lnSpc>
            </a:pPr>
            <a:r>
              <a:rPr lang="en-US" b="true" sz="420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Using BlueQubit’s Simulator</a:t>
            </a:r>
          </a:p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10001101010101010000011111001101000100011010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23742" y="486918"/>
            <a:ext cx="13376801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Approach 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Issues 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New Ideas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 Solution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7212" y="2336428"/>
            <a:ext cx="1933575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  <a:spcBef>
                <a:spcPct val="0"/>
              </a:spcBef>
            </a:pPr>
            <a:r>
              <a:rPr lang="en-US" b="true" sz="5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Issues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4570" y="3181350"/>
            <a:ext cx="14598859" cy="281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5" indent="-539753" lvl="1">
              <a:lnSpc>
                <a:spcPts val="75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Difficult to simulate large circuits</a:t>
            </a:r>
          </a:p>
          <a:p>
            <a:pPr algn="ctr" marL="1079505" indent="-539753" lvl="1">
              <a:lnSpc>
                <a:spcPts val="75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Problem 1 / 2 Solution too slow for Problem 3</a:t>
            </a:r>
          </a:p>
          <a:p>
            <a:pPr algn="ctr" marL="1079505" indent="-539753" lvl="1">
              <a:lnSpc>
                <a:spcPts val="75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Circuit simulations are memory inefficient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674156" y="-1610855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686214" y="-3116418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7409323" y="-3238325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831481" y="-2164733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2442654" y="486918"/>
            <a:ext cx="13402693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Approach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 Issues 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New Ideas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 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604553" y="237103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50" y="3667776"/>
            <a:ext cx="6177565" cy="4579583"/>
          </a:xfrm>
          <a:custGeom>
            <a:avLst/>
            <a:gdLst/>
            <a:ahLst/>
            <a:cxnLst/>
            <a:rect r="r" b="b" t="t" l="l"/>
            <a:pathLst>
              <a:path h="4579583" w="6177565">
                <a:moveTo>
                  <a:pt x="0" y="0"/>
                </a:moveTo>
                <a:lnTo>
                  <a:pt x="6177564" y="0"/>
                </a:lnTo>
                <a:lnTo>
                  <a:pt x="6177564" y="4579582"/>
                </a:lnTo>
                <a:lnTo>
                  <a:pt x="0" y="4579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27735" y="3652636"/>
            <a:ext cx="5814615" cy="4594723"/>
          </a:xfrm>
          <a:custGeom>
            <a:avLst/>
            <a:gdLst/>
            <a:ahLst/>
            <a:cxnLst/>
            <a:rect r="r" b="b" t="t" l="l"/>
            <a:pathLst>
              <a:path h="4594723" w="5814615">
                <a:moveTo>
                  <a:pt x="0" y="0"/>
                </a:moveTo>
                <a:lnTo>
                  <a:pt x="5814615" y="0"/>
                </a:lnTo>
                <a:lnTo>
                  <a:pt x="5814615" y="4594722"/>
                </a:lnTo>
                <a:lnTo>
                  <a:pt x="0" y="4594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11317" y="3385865"/>
            <a:ext cx="5430668" cy="5128264"/>
          </a:xfrm>
          <a:custGeom>
            <a:avLst/>
            <a:gdLst/>
            <a:ahLst/>
            <a:cxnLst/>
            <a:rect r="r" b="b" t="t" l="l"/>
            <a:pathLst>
              <a:path h="5128264" w="5430668">
                <a:moveTo>
                  <a:pt x="0" y="0"/>
                </a:moveTo>
                <a:lnTo>
                  <a:pt x="5430668" y="0"/>
                </a:lnTo>
                <a:lnTo>
                  <a:pt x="5430668" y="5128264"/>
                </a:lnTo>
                <a:lnTo>
                  <a:pt x="0" y="51282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58914" y="1905657"/>
            <a:ext cx="6935475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  <a:spcBef>
                <a:spcPct val="0"/>
              </a:spcBef>
            </a:pPr>
            <a:r>
              <a:rPr lang="en-US" b="true" sz="5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Entanglement Graph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5599" y="486918"/>
            <a:ext cx="13376801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Approach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Issues 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⟶ New Ideas 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7520" y="8634730"/>
            <a:ext cx="1567296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Important observation for P2 and P3: this graph representing how qubits are entangled is cyclic in each of these problems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27" y="1824681"/>
            <a:ext cx="6963417" cy="3318819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16677" y="0"/>
                  </a:moveTo>
                  <a:lnTo>
                    <a:pt x="2049263" y="0"/>
                  </a:lnTo>
                  <a:cubicBezTo>
                    <a:pt x="2058474" y="0"/>
                    <a:pt x="2065940" y="7467"/>
                    <a:pt x="2065940" y="16677"/>
                  </a:cubicBezTo>
                  <a:lnTo>
                    <a:pt x="2065940" y="967966"/>
                  </a:lnTo>
                  <a:cubicBezTo>
                    <a:pt x="2065940" y="977177"/>
                    <a:pt x="2058474" y="984643"/>
                    <a:pt x="2049263" y="984643"/>
                  </a:cubicBezTo>
                  <a:lnTo>
                    <a:pt x="16677" y="984643"/>
                  </a:lnTo>
                  <a:cubicBezTo>
                    <a:pt x="7467" y="984643"/>
                    <a:pt x="0" y="977177"/>
                    <a:pt x="0" y="967966"/>
                  </a:cubicBezTo>
                  <a:lnTo>
                    <a:pt x="0" y="16677"/>
                  </a:lnTo>
                  <a:cubicBezTo>
                    <a:pt x="0" y="7467"/>
                    <a:pt x="7467" y="0"/>
                    <a:pt x="16677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1082" y="5939481"/>
            <a:ext cx="6963417" cy="3318819"/>
            <a:chOff x="0" y="0"/>
            <a:chExt cx="2065940" cy="984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16677" y="0"/>
                  </a:moveTo>
                  <a:lnTo>
                    <a:pt x="2049263" y="0"/>
                  </a:lnTo>
                  <a:cubicBezTo>
                    <a:pt x="2058474" y="0"/>
                    <a:pt x="2065940" y="7467"/>
                    <a:pt x="2065940" y="16677"/>
                  </a:cubicBezTo>
                  <a:lnTo>
                    <a:pt x="2065940" y="967966"/>
                  </a:lnTo>
                  <a:cubicBezTo>
                    <a:pt x="2065940" y="977177"/>
                    <a:pt x="2058474" y="984643"/>
                    <a:pt x="2049263" y="984643"/>
                  </a:cubicBezTo>
                  <a:lnTo>
                    <a:pt x="16677" y="984643"/>
                  </a:lnTo>
                  <a:cubicBezTo>
                    <a:pt x="7467" y="984643"/>
                    <a:pt x="0" y="977177"/>
                    <a:pt x="0" y="967966"/>
                  </a:cubicBezTo>
                  <a:lnTo>
                    <a:pt x="0" y="16677"/>
                  </a:lnTo>
                  <a:cubicBezTo>
                    <a:pt x="0" y="7467"/>
                    <a:pt x="7467" y="0"/>
                    <a:pt x="16677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53501" y="5939481"/>
            <a:ext cx="6963417" cy="3318819"/>
            <a:chOff x="0" y="0"/>
            <a:chExt cx="2065940" cy="984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16677" y="0"/>
                  </a:moveTo>
                  <a:lnTo>
                    <a:pt x="2049263" y="0"/>
                  </a:lnTo>
                  <a:cubicBezTo>
                    <a:pt x="2058474" y="0"/>
                    <a:pt x="2065940" y="7467"/>
                    <a:pt x="2065940" y="16677"/>
                  </a:cubicBezTo>
                  <a:lnTo>
                    <a:pt x="2065940" y="967966"/>
                  </a:lnTo>
                  <a:cubicBezTo>
                    <a:pt x="2065940" y="977177"/>
                    <a:pt x="2058474" y="984643"/>
                    <a:pt x="2049263" y="984643"/>
                  </a:cubicBezTo>
                  <a:lnTo>
                    <a:pt x="16677" y="984643"/>
                  </a:lnTo>
                  <a:cubicBezTo>
                    <a:pt x="7467" y="984643"/>
                    <a:pt x="0" y="977177"/>
                    <a:pt x="0" y="967966"/>
                  </a:cubicBezTo>
                  <a:lnTo>
                    <a:pt x="0" y="16677"/>
                  </a:lnTo>
                  <a:cubicBezTo>
                    <a:pt x="0" y="7467"/>
                    <a:pt x="7467" y="0"/>
                    <a:pt x="16677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53501" y="1824681"/>
            <a:ext cx="6963417" cy="3318819"/>
            <a:chOff x="0" y="0"/>
            <a:chExt cx="2065940" cy="9846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16677" y="0"/>
                  </a:moveTo>
                  <a:lnTo>
                    <a:pt x="2049263" y="0"/>
                  </a:lnTo>
                  <a:cubicBezTo>
                    <a:pt x="2058474" y="0"/>
                    <a:pt x="2065940" y="7467"/>
                    <a:pt x="2065940" y="16677"/>
                  </a:cubicBezTo>
                  <a:lnTo>
                    <a:pt x="2065940" y="967966"/>
                  </a:lnTo>
                  <a:cubicBezTo>
                    <a:pt x="2065940" y="977177"/>
                    <a:pt x="2058474" y="984643"/>
                    <a:pt x="2049263" y="984643"/>
                  </a:cubicBezTo>
                  <a:lnTo>
                    <a:pt x="16677" y="984643"/>
                  </a:lnTo>
                  <a:cubicBezTo>
                    <a:pt x="7467" y="984643"/>
                    <a:pt x="0" y="977177"/>
                    <a:pt x="0" y="967966"/>
                  </a:cubicBezTo>
                  <a:lnTo>
                    <a:pt x="0" y="16677"/>
                  </a:lnTo>
                  <a:cubicBezTo>
                    <a:pt x="0" y="7467"/>
                    <a:pt x="7467" y="0"/>
                    <a:pt x="16677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370226" y="6752384"/>
            <a:ext cx="2151569" cy="2302556"/>
          </a:xfrm>
          <a:custGeom>
            <a:avLst/>
            <a:gdLst/>
            <a:ahLst/>
            <a:cxnLst/>
            <a:rect r="r" b="b" t="t" l="l"/>
            <a:pathLst>
              <a:path h="2302556" w="2151569">
                <a:moveTo>
                  <a:pt x="0" y="0"/>
                </a:moveTo>
                <a:lnTo>
                  <a:pt x="2151569" y="0"/>
                </a:lnTo>
                <a:lnTo>
                  <a:pt x="2151569" y="2302556"/>
                </a:lnTo>
                <a:lnTo>
                  <a:pt x="0" y="2302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56581" y="2839876"/>
            <a:ext cx="2655058" cy="1894629"/>
          </a:xfrm>
          <a:custGeom>
            <a:avLst/>
            <a:gdLst/>
            <a:ahLst/>
            <a:cxnLst/>
            <a:rect r="r" b="b" t="t" l="l"/>
            <a:pathLst>
              <a:path h="1894629" w="2655058">
                <a:moveTo>
                  <a:pt x="0" y="0"/>
                </a:moveTo>
                <a:lnTo>
                  <a:pt x="2655058" y="0"/>
                </a:lnTo>
                <a:lnTo>
                  <a:pt x="2655058" y="1894629"/>
                </a:lnTo>
                <a:lnTo>
                  <a:pt x="0" y="1894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0777" y="2896194"/>
            <a:ext cx="2995260" cy="1721033"/>
          </a:xfrm>
          <a:custGeom>
            <a:avLst/>
            <a:gdLst/>
            <a:ahLst/>
            <a:cxnLst/>
            <a:rect r="r" b="b" t="t" l="l"/>
            <a:pathLst>
              <a:path h="1721033" w="2995260">
                <a:moveTo>
                  <a:pt x="0" y="0"/>
                </a:moveTo>
                <a:lnTo>
                  <a:pt x="2995260" y="0"/>
                </a:lnTo>
                <a:lnTo>
                  <a:pt x="2995260" y="1721034"/>
                </a:lnTo>
                <a:lnTo>
                  <a:pt x="0" y="172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6716650"/>
            <a:ext cx="1924050" cy="2401310"/>
          </a:xfrm>
          <a:custGeom>
            <a:avLst/>
            <a:gdLst/>
            <a:ahLst/>
            <a:cxnLst/>
            <a:rect r="r" b="b" t="t" l="l"/>
            <a:pathLst>
              <a:path h="2401310" w="1924050">
                <a:moveTo>
                  <a:pt x="0" y="0"/>
                </a:moveTo>
                <a:lnTo>
                  <a:pt x="1924050" y="0"/>
                </a:lnTo>
                <a:lnTo>
                  <a:pt x="1924050" y="2401310"/>
                </a:lnTo>
                <a:lnTo>
                  <a:pt x="0" y="2401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334499" y="5100955"/>
            <a:ext cx="3619002" cy="161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207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Different Paths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2083" y="2112349"/>
            <a:ext cx="5066506" cy="4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Statevector Simulation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46037" y="6930873"/>
            <a:ext cx="3510384" cy="175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16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Instead of having a big matrix, compose in a smaller network of tensors.</a:t>
            </a:r>
          </a:p>
          <a:p>
            <a:pPr algn="l">
              <a:lnSpc>
                <a:spcPts val="2414"/>
              </a:lnSpc>
            </a:pPr>
          </a:p>
          <a:p>
            <a:pPr algn="l" marL="0" indent="0" lvl="0">
              <a:lnSpc>
                <a:spcPts val="2414"/>
              </a:lnSpc>
            </a:pPr>
            <a:r>
              <a:rPr lang="en-US" sz="16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Implemented using Quimb for our attempt at P4.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47798" y="6229350"/>
            <a:ext cx="3455075" cy="4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Tensor Network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51856" y="6779276"/>
            <a:ext cx="3295060" cy="22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5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a graph representing which nodes are entangled with which others and see if this provides helpful structure.</a:t>
            </a:r>
          </a:p>
          <a:p>
            <a:pPr algn="l">
              <a:lnSpc>
                <a:spcPts val="2266"/>
              </a:lnSpc>
            </a:pPr>
          </a:p>
          <a:p>
            <a:pPr algn="l" marL="0" indent="0" lvl="0">
              <a:lnSpc>
                <a:spcPts val="2266"/>
              </a:lnSpc>
            </a:pPr>
            <a:r>
              <a:rPr lang="en-US" sz="15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Didn’t know how to move from adjacency matrix to a representation of circuit.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87051" y="6229350"/>
            <a:ext cx="3850600" cy="48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Adjacency Graph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51856" y="2858094"/>
            <a:ext cx="3510384" cy="192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Used since we have low entanglement states in P2, P3 to provide a speedup over statevector and tensor network simulations.</a:t>
            </a:r>
          </a:p>
          <a:p>
            <a:pPr algn="l">
              <a:lnSpc>
                <a:spcPts val="2414"/>
              </a:lnSpc>
            </a:pPr>
          </a:p>
          <a:p>
            <a:pPr algn="l" marL="0" indent="0" lvl="0">
              <a:lnSpc>
                <a:spcPts val="2414"/>
              </a:lnSpc>
            </a:pPr>
            <a:r>
              <a:rPr lang="en-US" sz="16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Did provide a notable speedup for P3, but not for P4.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46010" y="2112349"/>
            <a:ext cx="4700111" cy="4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Matrix Product State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04150" y="486918"/>
            <a:ext cx="13279700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Approach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Issues 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⟶ New Ideas 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95867" y="2888596"/>
            <a:ext cx="3510384" cy="175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16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Used to solve P1 and P2 locally and P3 using BlueQubit’s simulator.</a:t>
            </a:r>
          </a:p>
          <a:p>
            <a:pPr algn="l">
              <a:lnSpc>
                <a:spcPts val="2414"/>
              </a:lnSpc>
            </a:pPr>
          </a:p>
          <a:p>
            <a:pPr algn="l">
              <a:lnSpc>
                <a:spcPts val="2414"/>
              </a:lnSpc>
            </a:pPr>
            <a:r>
              <a:rPr lang="en-US" sz="16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Was too slow and too memory inefficient to continue using after the smaller problems.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901798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7044" y="9882374"/>
            <a:ext cx="3296956" cy="809253"/>
          </a:xfrm>
          <a:custGeom>
            <a:avLst/>
            <a:gdLst/>
            <a:ahLst/>
            <a:cxnLst/>
            <a:rect r="r" b="b" t="t" l="l"/>
            <a:pathLst>
              <a:path h="809253" w="3296956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94772" y="9017983"/>
            <a:ext cx="4427843" cy="3481392"/>
          </a:xfrm>
          <a:custGeom>
            <a:avLst/>
            <a:gdLst/>
            <a:ahLst/>
            <a:cxnLst/>
            <a:rect r="r" b="b" t="t" l="l"/>
            <a:pathLst>
              <a:path h="3481392" w="4427843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763398" y="-188085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01533" y="-3400534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95522" y="-3644348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61154" y="-2448849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494810" y="2371030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49682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596506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259300" y="-971659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9818926" y="6118021"/>
            <a:ext cx="6339307" cy="3764353"/>
          </a:xfrm>
          <a:custGeom>
            <a:avLst/>
            <a:gdLst/>
            <a:ahLst/>
            <a:cxnLst/>
            <a:rect r="r" b="b" t="t" l="l"/>
            <a:pathLst>
              <a:path h="3764353" w="6339307">
                <a:moveTo>
                  <a:pt x="0" y="0"/>
                </a:moveTo>
                <a:lnTo>
                  <a:pt x="6339308" y="0"/>
                </a:lnTo>
                <a:lnTo>
                  <a:pt x="6339308" y="3764353"/>
                </a:lnTo>
                <a:lnTo>
                  <a:pt x="0" y="376435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-546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662450" y="2154194"/>
            <a:ext cx="6652261" cy="3683690"/>
          </a:xfrm>
          <a:custGeom>
            <a:avLst/>
            <a:gdLst/>
            <a:ahLst/>
            <a:cxnLst/>
            <a:rect r="r" b="b" t="t" l="l"/>
            <a:pathLst>
              <a:path h="3683690" w="6652261">
                <a:moveTo>
                  <a:pt x="0" y="0"/>
                </a:moveTo>
                <a:lnTo>
                  <a:pt x="6652261" y="0"/>
                </a:lnTo>
                <a:lnTo>
                  <a:pt x="6652261" y="3683689"/>
                </a:lnTo>
                <a:lnTo>
                  <a:pt x="0" y="368368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3405" y="3263182"/>
            <a:ext cx="7774608" cy="245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2372" indent="-401186" lvl="1">
              <a:lnSpc>
                <a:spcPts val="5017"/>
              </a:lnSpc>
              <a:buFont typeface="Arial"/>
              <a:buChar char="•"/>
            </a:pPr>
            <a:r>
              <a:rPr lang="en-US" sz="3716" spc="2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Used Quimb library</a:t>
            </a:r>
          </a:p>
          <a:p>
            <a:pPr algn="ctr" marL="802372" indent="-401186" lvl="1">
              <a:lnSpc>
                <a:spcPts val="5017"/>
              </a:lnSpc>
              <a:buFont typeface="Arial"/>
              <a:buChar char="•"/>
            </a:pPr>
            <a:r>
              <a:rPr lang="en-US" sz="3716" spc="2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Much more efficent</a:t>
            </a:r>
          </a:p>
          <a:p>
            <a:pPr algn="ctr" marL="802372" indent="-401186" lvl="1">
              <a:lnSpc>
                <a:spcPts val="5017"/>
              </a:lnSpc>
              <a:spcBef>
                <a:spcPct val="0"/>
              </a:spcBef>
              <a:buFont typeface="Arial"/>
              <a:buChar char="•"/>
            </a:pPr>
            <a:r>
              <a:rPr lang="en-US" sz="3716" spc="2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Created Necessary Gates</a:t>
            </a:r>
          </a:p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99" spc="89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Rotation (X, Y, Z), Controlled-Z, Single-Qubit Rotation Gate, Pauli X</a:t>
            </a:r>
          </a:p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99" spc="89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 Can Implement Any!!!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3832" y="1425867"/>
            <a:ext cx="16660978" cy="77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3"/>
              </a:lnSpc>
            </a:pPr>
            <a:r>
              <a:rPr lang="en-US" b="true" sz="5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Final  Version: Tensor Network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39727" y="489839"/>
            <a:ext cx="13008546" cy="5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41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Approach</a:t>
            </a:r>
            <a:r>
              <a:rPr lang="en-US" sz="4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 </a:t>
            </a:r>
            <a:r>
              <a:rPr lang="en-US" sz="41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Issues </a:t>
            </a:r>
            <a:r>
              <a:rPr lang="en-US" sz="4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⟶ </a:t>
            </a:r>
            <a:r>
              <a:rPr lang="en-US" sz="41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New Ideas</a:t>
            </a:r>
            <a:r>
              <a:rPr lang="en-US" sz="4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 Solution</a:t>
            </a:r>
            <a:r>
              <a:rPr lang="en-US" sz="41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61586" y="6437269"/>
            <a:ext cx="215824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88921" y="2703346"/>
            <a:ext cx="334446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We Did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8893" y="7166469"/>
            <a:ext cx="7774608" cy="194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2373" indent="-401187" lvl="1">
              <a:lnSpc>
                <a:spcPts val="5017"/>
              </a:lnSpc>
              <a:buFont typeface="Arial"/>
              <a:buChar char="•"/>
            </a:pPr>
            <a:r>
              <a:rPr lang="en-US" sz="3716" spc="2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Long compile times</a:t>
            </a:r>
          </a:p>
          <a:p>
            <a:pPr algn="ctr" marL="802373" indent="-401187" lvl="1">
              <a:lnSpc>
                <a:spcPts val="5017"/>
              </a:lnSpc>
              <a:buFont typeface="Arial"/>
              <a:buChar char="•"/>
            </a:pPr>
            <a:r>
              <a:rPr lang="en-US" sz="3716" spc="2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Long sampling times</a:t>
            </a:r>
          </a:p>
          <a:p>
            <a:pPr algn="ctr" marL="802373" indent="-401187" lvl="1">
              <a:lnSpc>
                <a:spcPts val="5017"/>
              </a:lnSpc>
              <a:spcBef>
                <a:spcPct val="0"/>
              </a:spcBef>
              <a:buFont typeface="Arial"/>
              <a:buChar char="•"/>
            </a:pPr>
            <a:r>
              <a:rPr lang="en-US" sz="3716" spc="2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Issues with tuning bond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19865" y="2242671"/>
            <a:ext cx="7248269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Goals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7802" y="3782737"/>
            <a:ext cx="8339895" cy="1949976"/>
            <a:chOff x="0" y="0"/>
            <a:chExt cx="3667429" cy="8574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67429" cy="857492"/>
            </a:xfrm>
            <a:custGeom>
              <a:avLst/>
              <a:gdLst/>
              <a:ahLst/>
              <a:cxnLst/>
              <a:rect r="r" b="b" t="t" l="l"/>
              <a:pathLst>
                <a:path h="857492" w="3667429">
                  <a:moveTo>
                    <a:pt x="13924" y="0"/>
                  </a:moveTo>
                  <a:lnTo>
                    <a:pt x="3653505" y="0"/>
                  </a:lnTo>
                  <a:cubicBezTo>
                    <a:pt x="3661195" y="0"/>
                    <a:pt x="3667429" y="6234"/>
                    <a:pt x="3667429" y="13924"/>
                  </a:cubicBezTo>
                  <a:lnTo>
                    <a:pt x="3667429" y="843568"/>
                  </a:lnTo>
                  <a:cubicBezTo>
                    <a:pt x="3667429" y="851258"/>
                    <a:pt x="3661195" y="857492"/>
                    <a:pt x="3653505" y="857492"/>
                  </a:cubicBezTo>
                  <a:lnTo>
                    <a:pt x="13924" y="857492"/>
                  </a:lnTo>
                  <a:cubicBezTo>
                    <a:pt x="6234" y="857492"/>
                    <a:pt x="0" y="851258"/>
                    <a:pt x="0" y="843568"/>
                  </a:cubicBezTo>
                  <a:lnTo>
                    <a:pt x="0" y="13924"/>
                  </a:lnTo>
                  <a:cubicBezTo>
                    <a:pt x="0" y="6234"/>
                    <a:pt x="6234" y="0"/>
                    <a:pt x="1392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366742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7168" y="4423893"/>
            <a:ext cx="1201985" cy="79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6090" spc="-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80303" y="3778169"/>
            <a:ext cx="8339895" cy="1949976"/>
            <a:chOff x="0" y="0"/>
            <a:chExt cx="3667429" cy="857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67429" cy="857492"/>
            </a:xfrm>
            <a:custGeom>
              <a:avLst/>
              <a:gdLst/>
              <a:ahLst/>
              <a:cxnLst/>
              <a:rect r="r" b="b" t="t" l="l"/>
              <a:pathLst>
                <a:path h="857492" w="3667429">
                  <a:moveTo>
                    <a:pt x="13924" y="0"/>
                  </a:moveTo>
                  <a:lnTo>
                    <a:pt x="3653505" y="0"/>
                  </a:lnTo>
                  <a:cubicBezTo>
                    <a:pt x="3661195" y="0"/>
                    <a:pt x="3667429" y="6234"/>
                    <a:pt x="3667429" y="13924"/>
                  </a:cubicBezTo>
                  <a:lnTo>
                    <a:pt x="3667429" y="843568"/>
                  </a:lnTo>
                  <a:cubicBezTo>
                    <a:pt x="3667429" y="851258"/>
                    <a:pt x="3661195" y="857492"/>
                    <a:pt x="3653505" y="857492"/>
                  </a:cubicBezTo>
                  <a:lnTo>
                    <a:pt x="13924" y="857492"/>
                  </a:lnTo>
                  <a:cubicBezTo>
                    <a:pt x="6234" y="857492"/>
                    <a:pt x="0" y="851258"/>
                    <a:pt x="0" y="843568"/>
                  </a:cubicBezTo>
                  <a:lnTo>
                    <a:pt x="0" y="13924"/>
                  </a:lnTo>
                  <a:cubicBezTo>
                    <a:pt x="0" y="6234"/>
                    <a:pt x="6234" y="0"/>
                    <a:pt x="1392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366742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7802" y="6338259"/>
            <a:ext cx="8339895" cy="1949976"/>
            <a:chOff x="0" y="0"/>
            <a:chExt cx="3667429" cy="8574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7429" cy="857492"/>
            </a:xfrm>
            <a:custGeom>
              <a:avLst/>
              <a:gdLst/>
              <a:ahLst/>
              <a:cxnLst/>
              <a:rect r="r" b="b" t="t" l="l"/>
              <a:pathLst>
                <a:path h="857492" w="3667429">
                  <a:moveTo>
                    <a:pt x="13924" y="0"/>
                  </a:moveTo>
                  <a:lnTo>
                    <a:pt x="3653505" y="0"/>
                  </a:lnTo>
                  <a:cubicBezTo>
                    <a:pt x="3661195" y="0"/>
                    <a:pt x="3667429" y="6234"/>
                    <a:pt x="3667429" y="13924"/>
                  </a:cubicBezTo>
                  <a:lnTo>
                    <a:pt x="3667429" y="843568"/>
                  </a:lnTo>
                  <a:cubicBezTo>
                    <a:pt x="3667429" y="851258"/>
                    <a:pt x="3661195" y="857492"/>
                    <a:pt x="3653505" y="857492"/>
                  </a:cubicBezTo>
                  <a:lnTo>
                    <a:pt x="13924" y="857492"/>
                  </a:lnTo>
                  <a:cubicBezTo>
                    <a:pt x="6234" y="857492"/>
                    <a:pt x="0" y="851258"/>
                    <a:pt x="0" y="843568"/>
                  </a:cubicBezTo>
                  <a:lnTo>
                    <a:pt x="0" y="13924"/>
                  </a:lnTo>
                  <a:cubicBezTo>
                    <a:pt x="0" y="6234"/>
                    <a:pt x="6234" y="0"/>
                    <a:pt x="1392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366742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09670" y="4423893"/>
            <a:ext cx="1201985" cy="79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6090" spc="-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7168" y="7055040"/>
            <a:ext cx="1201985" cy="79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6090" spc="-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2566" y="4383392"/>
            <a:ext cx="7091272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70"/>
              </a:lnSpc>
              <a:spcBef>
                <a:spcPct val="0"/>
              </a:spcBef>
            </a:pPr>
            <a:r>
              <a:rPr lang="en-US" sz="4200" spc="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Fix Current Simulation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955512" y="-147392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-1298663" y="623378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6" y="0"/>
                </a:lnTo>
                <a:lnTo>
                  <a:pt x="2597326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2542999" y="548364"/>
            <a:ext cx="13202002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Approach 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Issues 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⟶ </a:t>
            </a:r>
            <a:r>
              <a:rPr lang="en-US" sz="4200" b="true">
                <a:solidFill>
                  <a:srgbClr val="C4C4C4"/>
                </a:solidFill>
                <a:latin typeface="DM Sans Bold"/>
                <a:ea typeface="DM Sans Bold"/>
                <a:cs typeface="DM Sans Bold"/>
                <a:sym typeface="DM Sans Bold"/>
              </a:rPr>
              <a:t>New Ideas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⟶ Solution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99154" y="6951854"/>
            <a:ext cx="643465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70"/>
              </a:lnSpc>
              <a:spcBef>
                <a:spcPct val="0"/>
              </a:spcBef>
            </a:pPr>
            <a:r>
              <a:rPr lang="en-US" sz="4200" spc="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Better Visualization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82837" y="4324972"/>
            <a:ext cx="643465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70"/>
              </a:lnSpc>
              <a:spcBef>
                <a:spcPct val="0"/>
              </a:spcBef>
            </a:pPr>
            <a:r>
              <a:rPr lang="en-US" sz="4200" spc="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Faster Solutions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80303" y="6409316"/>
            <a:ext cx="8339895" cy="1949976"/>
            <a:chOff x="0" y="0"/>
            <a:chExt cx="3667429" cy="8574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67429" cy="857492"/>
            </a:xfrm>
            <a:custGeom>
              <a:avLst/>
              <a:gdLst/>
              <a:ahLst/>
              <a:cxnLst/>
              <a:rect r="r" b="b" t="t" l="l"/>
              <a:pathLst>
                <a:path h="857492" w="3667429">
                  <a:moveTo>
                    <a:pt x="13924" y="0"/>
                  </a:moveTo>
                  <a:lnTo>
                    <a:pt x="3653505" y="0"/>
                  </a:lnTo>
                  <a:cubicBezTo>
                    <a:pt x="3661195" y="0"/>
                    <a:pt x="3667429" y="6234"/>
                    <a:pt x="3667429" y="13924"/>
                  </a:cubicBezTo>
                  <a:lnTo>
                    <a:pt x="3667429" y="843568"/>
                  </a:lnTo>
                  <a:cubicBezTo>
                    <a:pt x="3667429" y="851258"/>
                    <a:pt x="3661195" y="857492"/>
                    <a:pt x="3653505" y="857492"/>
                  </a:cubicBezTo>
                  <a:lnTo>
                    <a:pt x="13924" y="857492"/>
                  </a:lnTo>
                  <a:cubicBezTo>
                    <a:pt x="6234" y="857492"/>
                    <a:pt x="0" y="851258"/>
                    <a:pt x="0" y="843568"/>
                  </a:cubicBezTo>
                  <a:lnTo>
                    <a:pt x="0" y="13924"/>
                  </a:lnTo>
                  <a:cubicBezTo>
                    <a:pt x="0" y="6234"/>
                    <a:pt x="6234" y="0"/>
                    <a:pt x="1392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85725"/>
              <a:ext cx="366742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809670" y="6983983"/>
            <a:ext cx="1201985" cy="79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6090" spc="-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04.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11655" y="6938914"/>
            <a:ext cx="643465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70"/>
              </a:lnSpc>
              <a:spcBef>
                <a:spcPct val="0"/>
              </a:spcBef>
            </a:pPr>
            <a:r>
              <a:rPr lang="en-US" sz="4200" spc="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Finish Problem 4, 5, &amp; 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3635340" y="4083097"/>
            <a:ext cx="10910396" cy="17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b="true" sz="145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Questions?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71376" y="5761683"/>
            <a:ext cx="5638324" cy="29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~ Thank You ~</a:t>
            </a:r>
          </a:p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Clemson CECAS</a:t>
            </a:r>
          </a:p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YQuantum Organizers</a:t>
            </a:r>
          </a:p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BlueQubit Mentors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DAGkfRbxVm4</dc:identifier>
  <dcterms:modified xsi:type="dcterms:W3CDTF">2011-08-01T06:04:30Z</dcterms:modified>
  <cp:revision>1</cp:revision>
  <dc:title>How did we Ket Here?</dc:title>
</cp:coreProperties>
</file>