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olo Pro" charset="1" panose="020B0604020202020204"/>
      <p:regular r:id="rId14"/>
    </p:embeddedFont>
    <p:embeddedFont>
      <p:font typeface="VT323" charset="1" panose="00000509000000000000"/>
      <p:regular r:id="rId15"/>
    </p:embeddedFont>
    <p:embeddedFont>
      <p:font typeface="Cristik" charset="1" panose="02000503000000000000"/>
      <p:regular r:id="rId19"/>
    </p:embeddedFont>
    <p:embeddedFont>
      <p:font typeface="Retropix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take about goals 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52289" y="3369790"/>
            <a:ext cx="7756438" cy="962657"/>
            <a:chOff x="0" y="0"/>
            <a:chExt cx="10341917" cy="128354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41917" cy="1283543"/>
              <a:chOff x="0" y="0"/>
              <a:chExt cx="1837618" cy="22806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837618" cy="228068"/>
              </a:xfrm>
              <a:custGeom>
                <a:avLst/>
                <a:gdLst/>
                <a:ahLst/>
                <a:cxnLst/>
                <a:rect r="r" b="b" t="t" l="l"/>
                <a:pathLst>
                  <a:path h="228068" w="1837618">
                    <a:moveTo>
                      <a:pt x="0" y="0"/>
                    </a:moveTo>
                    <a:lnTo>
                      <a:pt x="1837618" y="0"/>
                    </a:lnTo>
                    <a:lnTo>
                      <a:pt x="1837618" y="228068"/>
                    </a:lnTo>
                    <a:lnTo>
                      <a:pt x="0" y="228068"/>
                    </a:lnTo>
                    <a:close/>
                  </a:path>
                </a:pathLst>
              </a:custGeom>
              <a:solidFill>
                <a:srgbClr val="EDE8E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837618" cy="2471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1099" y="148882"/>
              <a:ext cx="744928" cy="985778"/>
              <a:chOff x="0" y="0"/>
              <a:chExt cx="132364" cy="17515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CD392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05994" y="148882"/>
              <a:ext cx="744928" cy="985778"/>
              <a:chOff x="0" y="0"/>
              <a:chExt cx="132364" cy="1751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F69D1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885373" y="148882"/>
              <a:ext cx="744928" cy="985778"/>
              <a:chOff x="0" y="0"/>
              <a:chExt cx="132364" cy="17515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FFD44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769861" y="148882"/>
              <a:ext cx="744928" cy="985778"/>
              <a:chOff x="0" y="0"/>
              <a:chExt cx="132364" cy="17515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16DB9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654349" y="148882"/>
              <a:ext cx="744928" cy="985778"/>
              <a:chOff x="0" y="0"/>
              <a:chExt cx="132364" cy="17515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6AC9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549423" y="163296"/>
              <a:ext cx="744928" cy="985778"/>
              <a:chOff x="0" y="0"/>
              <a:chExt cx="132364" cy="1751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945ED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433911" y="163296"/>
              <a:ext cx="744928" cy="985778"/>
              <a:chOff x="0" y="0"/>
              <a:chExt cx="132364" cy="17515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E8117C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2777685" y="1001941"/>
            <a:ext cx="5599104" cy="485773"/>
            <a:chOff x="0" y="0"/>
            <a:chExt cx="1297892" cy="1126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7892" cy="112604"/>
            </a:xfrm>
            <a:custGeom>
              <a:avLst/>
              <a:gdLst/>
              <a:ahLst/>
              <a:cxnLst/>
              <a:rect r="r" b="b" t="t" l="l"/>
              <a:pathLst>
                <a:path h="112604" w="1297892">
                  <a:moveTo>
                    <a:pt x="0" y="0"/>
                  </a:moveTo>
                  <a:lnTo>
                    <a:pt x="1297892" y="0"/>
                  </a:lnTo>
                  <a:lnTo>
                    <a:pt x="1297892" y="112604"/>
                  </a:lnTo>
                  <a:lnTo>
                    <a:pt x="0" y="112604"/>
                  </a:lnTo>
                  <a:close/>
                </a:path>
              </a:pathLst>
            </a:custGeom>
            <a:solidFill>
              <a:srgbClr val="E8117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297892" cy="131654"/>
            </a:xfrm>
            <a:prstGeom prst="rect">
              <a:avLst/>
            </a:prstGeom>
          </p:spPr>
          <p:txBody>
            <a:bodyPr anchor="ctr" rtlCol="false" tIns="97400" lIns="97400" bIns="97400" rIns="974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7144" y="1698407"/>
            <a:ext cx="7399645" cy="469050"/>
            <a:chOff x="0" y="0"/>
            <a:chExt cx="1715264" cy="1087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15264" cy="108727"/>
            </a:xfrm>
            <a:custGeom>
              <a:avLst/>
              <a:gdLst/>
              <a:ahLst/>
              <a:cxnLst/>
              <a:rect r="r" b="b" t="t" l="l"/>
              <a:pathLst>
                <a:path h="108727" w="1715264">
                  <a:moveTo>
                    <a:pt x="0" y="0"/>
                  </a:moveTo>
                  <a:lnTo>
                    <a:pt x="1715264" y="0"/>
                  </a:lnTo>
                  <a:lnTo>
                    <a:pt x="1715264" y="108727"/>
                  </a:lnTo>
                  <a:lnTo>
                    <a:pt x="0" y="108727"/>
                  </a:lnTo>
                  <a:close/>
                </a:path>
              </a:pathLst>
            </a:custGeom>
            <a:solidFill>
              <a:srgbClr val="6AC9C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715264" cy="127777"/>
            </a:xfrm>
            <a:prstGeom prst="rect">
              <a:avLst/>
            </a:prstGeom>
          </p:spPr>
          <p:txBody>
            <a:bodyPr anchor="ctr" rtlCol="false" tIns="97400" lIns="97400" bIns="97400" rIns="974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96347" y="2378149"/>
            <a:ext cx="8780442" cy="485773"/>
            <a:chOff x="0" y="0"/>
            <a:chExt cx="2035338" cy="1126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5338" cy="112604"/>
            </a:xfrm>
            <a:custGeom>
              <a:avLst/>
              <a:gdLst/>
              <a:ahLst/>
              <a:cxnLst/>
              <a:rect r="r" b="b" t="t" l="l"/>
              <a:pathLst>
                <a:path h="112604" w="2035338">
                  <a:moveTo>
                    <a:pt x="0" y="0"/>
                  </a:moveTo>
                  <a:lnTo>
                    <a:pt x="2035338" y="0"/>
                  </a:lnTo>
                  <a:lnTo>
                    <a:pt x="2035338" y="112604"/>
                  </a:lnTo>
                  <a:lnTo>
                    <a:pt x="0" y="112604"/>
                  </a:lnTo>
                  <a:close/>
                </a:path>
              </a:pathLst>
            </a:custGeom>
            <a:solidFill>
              <a:srgbClr val="8377B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035338" cy="131654"/>
            </a:xfrm>
            <a:prstGeom prst="rect">
              <a:avLst/>
            </a:prstGeom>
          </p:spPr>
          <p:txBody>
            <a:bodyPr anchor="ctr" rtlCol="false" tIns="97400" lIns="97400" bIns="97400" rIns="974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71121" y="10813"/>
            <a:ext cx="11968352" cy="35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35"/>
              </a:lnSpc>
              <a:spcBef>
                <a:spcPct val="0"/>
              </a:spcBef>
            </a:pPr>
            <a:r>
              <a:rPr lang="en-US" sz="20453" spc="-1615">
                <a:solidFill>
                  <a:srgbClr val="FFFFFF"/>
                </a:solidFill>
                <a:latin typeface="Colo Pro"/>
                <a:ea typeface="Colo Pro"/>
                <a:cs typeface="Colo Pro"/>
                <a:sym typeface="Colo Pro"/>
              </a:rPr>
              <a:t>CUHACKIT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97717" y="2194824"/>
            <a:ext cx="2899862" cy="293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42"/>
              </a:lnSpc>
              <a:spcBef>
                <a:spcPct val="0"/>
              </a:spcBef>
            </a:pPr>
            <a:r>
              <a:rPr lang="en-US" sz="17101" spc="-1761">
                <a:solidFill>
                  <a:srgbClr val="FFFFFF"/>
                </a:solidFill>
                <a:latin typeface="Colo Pro"/>
                <a:ea typeface="Colo Pro"/>
                <a:cs typeface="Colo Pro"/>
                <a:sym typeface="Colo Pro"/>
              </a:rPr>
              <a:t>27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020661" y="5686300"/>
            <a:ext cx="10246677" cy="2690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19"/>
              </a:lnSpc>
            </a:pPr>
            <a:r>
              <a:rPr lang="en-US" sz="6381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LOCATION: Clemson University</a:t>
            </a:r>
          </a:p>
          <a:p>
            <a:pPr algn="l" marL="0" indent="0" lvl="0">
              <a:lnSpc>
                <a:spcPts val="7019"/>
              </a:lnSpc>
            </a:pPr>
            <a:r>
              <a:rPr lang="en-US" sz="6381" strike="noStrike" u="none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DATE: February 27th and 28th</a:t>
            </a:r>
          </a:p>
          <a:p>
            <a:pPr algn="l" marL="0" indent="0" lvl="0">
              <a:lnSpc>
                <a:spcPts val="7019"/>
              </a:lnSpc>
            </a:pPr>
            <a:r>
              <a:rPr lang="en-US" sz="6381" strike="noStrike" u="none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EMAIL: cuhackers@clemson.edu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08824" y="311593"/>
            <a:ext cx="1512340" cy="1512340"/>
          </a:xfrm>
          <a:custGeom>
            <a:avLst/>
            <a:gdLst/>
            <a:ahLst/>
            <a:cxnLst/>
            <a:rect r="r" b="b" t="t" l="l"/>
            <a:pathLst>
              <a:path h="1512340" w="1512340">
                <a:moveTo>
                  <a:pt x="0" y="0"/>
                </a:moveTo>
                <a:lnTo>
                  <a:pt x="1512340" y="0"/>
                </a:lnTo>
                <a:lnTo>
                  <a:pt x="1512340" y="1512339"/>
                </a:lnTo>
                <a:lnTo>
                  <a:pt x="0" y="1512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50537" y="3691842"/>
            <a:ext cx="305383" cy="295389"/>
          </a:xfrm>
          <a:custGeom>
            <a:avLst/>
            <a:gdLst/>
            <a:ahLst/>
            <a:cxnLst/>
            <a:rect r="r" b="b" t="t" l="l"/>
            <a:pathLst>
              <a:path h="295389" w="305383">
                <a:moveTo>
                  <a:pt x="0" y="0"/>
                </a:moveTo>
                <a:lnTo>
                  <a:pt x="305384" y="0"/>
                </a:lnTo>
                <a:lnTo>
                  <a:pt x="305384" y="295389"/>
                </a:lnTo>
                <a:lnTo>
                  <a:pt x="0" y="2953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8003791" y="3185309"/>
            <a:ext cx="5327112" cy="4839114"/>
            <a:chOff x="0" y="0"/>
            <a:chExt cx="7102816" cy="6452152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7102816" cy="6452152"/>
              <a:chOff x="0" y="0"/>
              <a:chExt cx="1456895" cy="132343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56895" cy="1323434"/>
              </a:xfrm>
              <a:custGeom>
                <a:avLst/>
                <a:gdLst/>
                <a:ahLst/>
                <a:cxnLst/>
                <a:rect r="r" b="b" t="t" l="l"/>
                <a:pathLst>
                  <a:path h="1323434" w="1456895">
                    <a:moveTo>
                      <a:pt x="0" y="0"/>
                    </a:moveTo>
                    <a:lnTo>
                      <a:pt x="1456895" y="0"/>
                    </a:lnTo>
                    <a:lnTo>
                      <a:pt x="1456895" y="1323434"/>
                    </a:lnTo>
                    <a:lnTo>
                      <a:pt x="0" y="1323434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56895" cy="13615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31240" y="209691"/>
              <a:ext cx="5257407" cy="538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70"/>
                </a:lnSpc>
                <a:spcBef>
                  <a:spcPct val="0"/>
                </a:spcBef>
              </a:pPr>
              <a:r>
                <a:rPr lang="en-US" sz="2407">
                  <a:solidFill>
                    <a:srgbClr val="FFFFFF"/>
                  </a:solidFill>
                  <a:latin typeface="VT323"/>
                  <a:ea typeface="VT323"/>
                  <a:cs typeface="VT323"/>
                  <a:sym typeface="VT323"/>
                </a:rPr>
                <a:t>img_02.png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6367122" y="285805"/>
              <a:ext cx="477734" cy="462099"/>
            </a:xfrm>
            <a:custGeom>
              <a:avLst/>
              <a:gdLst/>
              <a:ahLst/>
              <a:cxnLst/>
              <a:rect r="r" b="b" t="t" l="l"/>
              <a:pathLst>
                <a:path h="462099" w="477734">
                  <a:moveTo>
                    <a:pt x="0" y="0"/>
                  </a:moveTo>
                  <a:lnTo>
                    <a:pt x="477735" y="0"/>
                  </a:lnTo>
                  <a:lnTo>
                    <a:pt x="477735" y="462099"/>
                  </a:lnTo>
                  <a:lnTo>
                    <a:pt x="0" y="4620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39047" y="3542653"/>
            <a:ext cx="4332208" cy="3935349"/>
            <a:chOff x="0" y="0"/>
            <a:chExt cx="5776277" cy="524713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5776277" cy="5247133"/>
              <a:chOff x="0" y="0"/>
              <a:chExt cx="1456895" cy="132343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456895" cy="1323434"/>
              </a:xfrm>
              <a:custGeom>
                <a:avLst/>
                <a:gdLst/>
                <a:ahLst/>
                <a:cxnLst/>
                <a:rect r="r" b="b" t="t" l="l"/>
                <a:pathLst>
                  <a:path h="1323434" w="1456895">
                    <a:moveTo>
                      <a:pt x="0" y="0"/>
                    </a:moveTo>
                    <a:lnTo>
                      <a:pt x="1456895" y="0"/>
                    </a:lnTo>
                    <a:lnTo>
                      <a:pt x="1456895" y="1323434"/>
                    </a:lnTo>
                    <a:lnTo>
                      <a:pt x="0" y="1323434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456895" cy="136153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Freeform 17" id="17"/>
            <p:cNvSpPr/>
            <p:nvPr/>
          </p:nvSpPr>
          <p:spPr>
            <a:xfrm flipH="false" flipV="false" rot="0">
              <a:off x="264803" y="743257"/>
              <a:ext cx="5237524" cy="4248687"/>
            </a:xfrm>
            <a:custGeom>
              <a:avLst/>
              <a:gdLst/>
              <a:ahLst/>
              <a:cxnLst/>
              <a:rect r="r" b="b" t="t" l="l"/>
              <a:pathLst>
                <a:path h="4248687" w="5237524">
                  <a:moveTo>
                    <a:pt x="0" y="0"/>
                  </a:moveTo>
                  <a:lnTo>
                    <a:pt x="5237524" y="0"/>
                  </a:lnTo>
                  <a:lnTo>
                    <a:pt x="5237524" y="4248686"/>
                  </a:lnTo>
                  <a:lnTo>
                    <a:pt x="0" y="42486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950" t="0" r="-1095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 rot="0">
              <a:off x="264803" y="132650"/>
              <a:ext cx="4275521" cy="4483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41"/>
                </a:lnSpc>
                <a:spcBef>
                  <a:spcPct val="0"/>
                </a:spcBef>
              </a:pPr>
              <a:r>
                <a:rPr lang="en-US" sz="1957">
                  <a:solidFill>
                    <a:srgbClr val="FFFFFF"/>
                  </a:solidFill>
                  <a:latin typeface="VT323"/>
                  <a:ea typeface="VT323"/>
                  <a:cs typeface="VT323"/>
                  <a:sym typeface="VT323"/>
                </a:rPr>
                <a:t>img_01.png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819150" y="2217746"/>
            <a:ext cx="6975091" cy="7201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15"/>
              </a:lnSpc>
            </a:pPr>
            <a:r>
              <a:rPr lang="en-US" sz="3653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We are </a:t>
            </a:r>
            <a:r>
              <a:rPr lang="en-US" sz="3653" u="sng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South Carolina’s largest annual hackathon</a:t>
            </a:r>
            <a:r>
              <a:rPr lang="en-US" sz="3653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, led entirely by students at Clemson University!</a:t>
            </a:r>
          </a:p>
          <a:p>
            <a:pPr algn="l">
              <a:lnSpc>
                <a:spcPts val="4695"/>
              </a:lnSpc>
            </a:pPr>
          </a:p>
          <a:p>
            <a:pPr algn="l">
              <a:lnSpc>
                <a:spcPts val="4695"/>
              </a:lnSpc>
            </a:pPr>
            <a:r>
              <a:rPr lang="en-US" sz="3353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In this 24-hour challenge, teams will create and develop an innovation under tracks and supplemental power-ups.</a:t>
            </a:r>
          </a:p>
          <a:p>
            <a:pPr algn="l">
              <a:lnSpc>
                <a:spcPts val="4695"/>
              </a:lnSpc>
            </a:pPr>
          </a:p>
          <a:p>
            <a:pPr algn="l">
              <a:lnSpc>
                <a:spcPts val="4695"/>
              </a:lnSpc>
            </a:pPr>
            <a:r>
              <a:rPr lang="en-US" sz="3353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Our mission is to deliver the best participant experience while fostering innovation, collaboration, and growth.</a:t>
            </a:r>
          </a:p>
          <a:p>
            <a:pPr algn="l" marL="0" indent="0" lvl="0">
              <a:lnSpc>
                <a:spcPts val="4281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1832439" y="1505361"/>
            <a:ext cx="5150766" cy="941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NASA Space Apps Challenge in Clemson Opening Ceremony 2025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80566" y="8788588"/>
            <a:ext cx="2916961" cy="57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CUhackit 2023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8186342" y="3963340"/>
            <a:ext cx="4962011" cy="3666690"/>
          </a:xfrm>
          <a:custGeom>
            <a:avLst/>
            <a:gdLst/>
            <a:ahLst/>
            <a:cxnLst/>
            <a:rect r="r" b="b" t="t" l="l"/>
            <a:pathLst>
              <a:path h="3666690" w="4962011">
                <a:moveTo>
                  <a:pt x="0" y="0"/>
                </a:moveTo>
                <a:lnTo>
                  <a:pt x="4962011" y="0"/>
                </a:lnTo>
                <a:lnTo>
                  <a:pt x="4962011" y="3666689"/>
                </a:lnTo>
                <a:lnTo>
                  <a:pt x="0" y="3666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56" t="0" r="-5456" b="0"/>
            </a:stretch>
          </a:blipFill>
          <a:ln w="38100" cap="sq">
            <a:solidFill>
              <a:srgbClr val="FFFFFF"/>
            </a:solidFill>
            <a:prstDash val="solid"/>
            <a:miter/>
          </a:ln>
        </p:spPr>
      </p:sp>
      <p:grpSp>
        <p:nvGrpSpPr>
          <p:cNvPr name="Group 23" id="23"/>
          <p:cNvGrpSpPr/>
          <p:nvPr/>
        </p:nvGrpSpPr>
        <p:grpSpPr>
          <a:xfrm rot="0">
            <a:off x="10150207" y="2004472"/>
            <a:ext cx="1322871" cy="882856"/>
            <a:chOff x="0" y="0"/>
            <a:chExt cx="1763828" cy="1177141"/>
          </a:xfrm>
        </p:grpSpPr>
        <p:sp>
          <p:nvSpPr>
            <p:cNvPr name="AutoShape 24" id="24"/>
            <p:cNvSpPr/>
            <p:nvPr/>
          </p:nvSpPr>
          <p:spPr>
            <a:xfrm>
              <a:off x="50800" y="0"/>
              <a:ext cx="0" cy="1177141"/>
            </a:xfrm>
            <a:prstGeom prst="line">
              <a:avLst/>
            </a:prstGeom>
            <a:ln cap="flat" w="1016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5" id="25"/>
            <p:cNvSpPr/>
            <p:nvPr/>
          </p:nvSpPr>
          <p:spPr>
            <a:xfrm flipV="true">
              <a:off x="50800" y="50800"/>
              <a:ext cx="1713028" cy="0"/>
            </a:xfrm>
            <a:prstGeom prst="line">
              <a:avLst/>
            </a:prstGeom>
            <a:ln cap="flat" w="101600">
              <a:solidFill>
                <a:srgbClr val="FFFFFF"/>
              </a:solidFill>
              <a:prstDash val="solid"/>
              <a:headEnd type="none" len="sm" w="sm"/>
              <a:tailEnd type="oval" len="lg" w="lg"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847013" y="7780786"/>
            <a:ext cx="1322871" cy="1332598"/>
            <a:chOff x="0" y="0"/>
            <a:chExt cx="1763828" cy="1776797"/>
          </a:xfrm>
        </p:grpSpPr>
        <p:sp>
          <p:nvSpPr>
            <p:cNvPr name="AutoShape 27" id="27"/>
            <p:cNvSpPr/>
            <p:nvPr/>
          </p:nvSpPr>
          <p:spPr>
            <a:xfrm flipV="true">
              <a:off x="1713028" y="0"/>
              <a:ext cx="0" cy="1776797"/>
            </a:xfrm>
            <a:prstGeom prst="line">
              <a:avLst/>
            </a:prstGeom>
            <a:ln cap="flat" w="101600">
              <a:solidFill>
                <a:srgbClr val="FFFFFF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0" y="1725997"/>
              <a:ext cx="1713028" cy="0"/>
            </a:xfrm>
            <a:prstGeom prst="line">
              <a:avLst/>
            </a:prstGeom>
            <a:ln cap="flat" w="101600">
              <a:solidFill>
                <a:srgbClr val="FFFFFF"/>
              </a:solidFill>
              <a:prstDash val="solid"/>
              <a:headEnd type="none" len="sm" w="sm"/>
              <a:tailEnd type="oval" len="lg" w="lg"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028700" y="895350"/>
            <a:ext cx="99901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WHO ARE WE?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36448" y="3466599"/>
            <a:ext cx="5015104" cy="3827949"/>
            <a:chOff x="0" y="0"/>
            <a:chExt cx="6686805" cy="51039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6686805" cy="5103932"/>
              <a:chOff x="0" y="0"/>
              <a:chExt cx="1696595" cy="1294984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696595" cy="1294984"/>
              </a:xfrm>
              <a:custGeom>
                <a:avLst/>
                <a:gdLst/>
                <a:ahLst/>
                <a:cxnLst/>
                <a:rect r="r" b="b" t="t" l="l"/>
                <a:pathLst>
                  <a:path h="1294984" w="1696595">
                    <a:moveTo>
                      <a:pt x="0" y="0"/>
                    </a:moveTo>
                    <a:lnTo>
                      <a:pt x="1696595" y="0"/>
                    </a:lnTo>
                    <a:lnTo>
                      <a:pt x="1696595" y="1294984"/>
                    </a:lnTo>
                    <a:lnTo>
                      <a:pt x="0" y="1294984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696595" cy="1333084"/>
              </a:xfrm>
              <a:prstGeom prst="rect">
                <a:avLst/>
              </a:prstGeom>
            </p:spPr>
            <p:txBody>
              <a:bodyPr anchor="ctr" rtlCol="false" tIns="48471" lIns="48471" bIns="48471" rIns="48471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238360" y="853685"/>
              <a:ext cx="6210085" cy="3997743"/>
            </a:xfrm>
            <a:custGeom>
              <a:avLst/>
              <a:gdLst/>
              <a:ahLst/>
              <a:cxnLst/>
              <a:rect r="r" b="b" t="t" l="l"/>
              <a:pathLst>
                <a:path h="3997743" w="6210085">
                  <a:moveTo>
                    <a:pt x="0" y="0"/>
                  </a:moveTo>
                  <a:lnTo>
                    <a:pt x="6210085" y="0"/>
                  </a:lnTo>
                  <a:lnTo>
                    <a:pt x="6210085" y="3997742"/>
                  </a:lnTo>
                  <a:lnTo>
                    <a:pt x="0" y="3997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238360" y="148446"/>
              <a:ext cx="4250204" cy="4460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4"/>
                </a:lnSpc>
                <a:spcBef>
                  <a:spcPct val="0"/>
                </a:spcBef>
              </a:pPr>
              <a:r>
                <a:rPr lang="en-US" sz="1946">
                  <a:solidFill>
                    <a:srgbClr val="FFFFFF"/>
                  </a:solidFill>
                  <a:latin typeface="VT323"/>
                  <a:ea typeface="VT323"/>
                  <a:cs typeface="VT323"/>
                  <a:sym typeface="VT323"/>
                </a:rPr>
                <a:t>img_03.png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6034837" y="205596"/>
              <a:ext cx="438483" cy="424132"/>
            </a:xfrm>
            <a:custGeom>
              <a:avLst/>
              <a:gdLst/>
              <a:ahLst/>
              <a:cxnLst/>
              <a:rect r="r" b="b" t="t" l="l"/>
              <a:pathLst>
                <a:path h="424132" w="438483">
                  <a:moveTo>
                    <a:pt x="0" y="0"/>
                  </a:moveTo>
                  <a:lnTo>
                    <a:pt x="438483" y="0"/>
                  </a:lnTo>
                  <a:lnTo>
                    <a:pt x="438483" y="424133"/>
                  </a:lnTo>
                  <a:lnTo>
                    <a:pt x="0" y="424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6508824" y="311593"/>
            <a:ext cx="1512340" cy="1512340"/>
          </a:xfrm>
          <a:custGeom>
            <a:avLst/>
            <a:gdLst/>
            <a:ahLst/>
            <a:cxnLst/>
            <a:rect r="r" b="b" t="t" l="l"/>
            <a:pathLst>
              <a:path h="1512340" w="1512340">
                <a:moveTo>
                  <a:pt x="0" y="0"/>
                </a:moveTo>
                <a:lnTo>
                  <a:pt x="1512340" y="0"/>
                </a:lnTo>
                <a:lnTo>
                  <a:pt x="1512340" y="1512339"/>
                </a:lnTo>
                <a:lnTo>
                  <a:pt x="0" y="1512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2451445"/>
            <a:ext cx="5380727" cy="649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3"/>
              </a:lnSpc>
            </a:pPr>
            <a:r>
              <a:rPr lang="en-US" sz="4109" u="sng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Past student projects:</a:t>
            </a:r>
          </a:p>
          <a:p>
            <a:pPr algn="l" marL="887326" indent="-443663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 real-Time ASL learning platform</a:t>
            </a:r>
          </a:p>
          <a:p>
            <a:pPr algn="l" marL="887326" indent="-443663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AI-powered speech accessibility platform</a:t>
            </a:r>
          </a:p>
          <a:p>
            <a:pPr algn="l" marL="887326" indent="-443663" lvl="1">
              <a:lnSpc>
                <a:spcPts val="5753"/>
              </a:lnSpc>
              <a:spcBef>
                <a:spcPct val="0"/>
              </a:spcBef>
              <a:buFont typeface="Arial"/>
              <a:buChar char="•"/>
            </a:pP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Wearable assistive navigation device for the visually impaired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78573" y="2451445"/>
            <a:ext cx="5380727" cy="5772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3"/>
              </a:lnSpc>
            </a:pPr>
            <a:r>
              <a:rPr lang="en-US" sz="4109" u="sng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Last year’s st</a:t>
            </a:r>
            <a:r>
              <a:rPr lang="en-US" sz="4109" u="sng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atistics:</a:t>
            </a:r>
          </a:p>
          <a:p>
            <a:pPr algn="l" marL="887326" indent="-443663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285 participants</a:t>
            </a: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 at our most recent event</a:t>
            </a:r>
          </a:p>
          <a:p>
            <a:pPr algn="l" marL="887326" indent="-443663" lvl="1">
              <a:lnSpc>
                <a:spcPts val="5753"/>
              </a:lnSpc>
              <a:buFont typeface="Arial"/>
              <a:buChar char="•"/>
            </a:pP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25+ colleges and universities represented</a:t>
            </a:r>
          </a:p>
          <a:p>
            <a:pPr algn="l" marL="887326" indent="-443663" lvl="1">
              <a:lnSpc>
                <a:spcPts val="5753"/>
              </a:lnSpc>
              <a:spcBef>
                <a:spcPct val="0"/>
              </a:spcBef>
              <a:buFont typeface="Arial"/>
              <a:buChar char="•"/>
            </a:pPr>
            <a:r>
              <a:rPr lang="en-US" sz="410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50+ industry representatives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5350"/>
            <a:ext cx="99901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IMPACT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08824" y="311593"/>
            <a:ext cx="1512340" cy="1512340"/>
          </a:xfrm>
          <a:custGeom>
            <a:avLst/>
            <a:gdLst/>
            <a:ahLst/>
            <a:cxnLst/>
            <a:rect r="r" b="b" t="t" l="l"/>
            <a:pathLst>
              <a:path h="1512340" w="1512340">
                <a:moveTo>
                  <a:pt x="0" y="0"/>
                </a:moveTo>
                <a:lnTo>
                  <a:pt x="1512340" y="0"/>
                </a:lnTo>
                <a:lnTo>
                  <a:pt x="1512340" y="1512339"/>
                </a:lnTo>
                <a:lnTo>
                  <a:pt x="0" y="1512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4019" y="2460609"/>
            <a:ext cx="7735823" cy="815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Boost brand visibility on event materials, website, and signage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Showcase your company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Dedicated tabling opportunities and workshops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Distribute your swag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Recruit top technical talent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Mentor and e</a:t>
            </a: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ngage directly with students</a:t>
            </a:r>
          </a:p>
          <a:p>
            <a:pPr algn="l">
              <a:lnSpc>
                <a:spcPts val="5880"/>
              </a:lnSpc>
            </a:pPr>
          </a:p>
          <a:p>
            <a:pPr algn="l" marL="0" indent="0" lvl="0">
              <a:lnSpc>
                <a:spcPts val="5880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8530132" y="2981131"/>
            <a:ext cx="9067286" cy="4581110"/>
            <a:chOff x="0" y="0"/>
            <a:chExt cx="12089715" cy="6108147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2089715" cy="6108147"/>
              <a:chOff x="0" y="0"/>
              <a:chExt cx="2619442" cy="1323434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619442" cy="1323434"/>
              </a:xfrm>
              <a:custGeom>
                <a:avLst/>
                <a:gdLst/>
                <a:ahLst/>
                <a:cxnLst/>
                <a:rect r="r" b="b" t="t" l="l"/>
                <a:pathLst>
                  <a:path h="1323434" w="2619442">
                    <a:moveTo>
                      <a:pt x="0" y="0"/>
                    </a:moveTo>
                    <a:lnTo>
                      <a:pt x="2619442" y="0"/>
                    </a:lnTo>
                    <a:lnTo>
                      <a:pt x="2619442" y="1323434"/>
                    </a:lnTo>
                    <a:lnTo>
                      <a:pt x="0" y="1323434"/>
                    </a:lnTo>
                    <a:close/>
                  </a:path>
                </a:pathLst>
              </a:custGeom>
              <a:ln w="381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619442" cy="1361534"/>
              </a:xfrm>
              <a:prstGeom prst="rect">
                <a:avLst/>
              </a:prstGeom>
            </p:spPr>
            <p:txBody>
              <a:bodyPr anchor="ctr" rtlCol="false" tIns="49249" lIns="49249" bIns="49249" rIns="49249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11" id="11"/>
            <p:cNvSpPr/>
            <p:nvPr/>
          </p:nvSpPr>
          <p:spPr>
            <a:xfrm flipH="false" flipV="false" rot="0">
              <a:off x="11434364" y="190083"/>
              <a:ext cx="452263" cy="437462"/>
            </a:xfrm>
            <a:custGeom>
              <a:avLst/>
              <a:gdLst/>
              <a:ahLst/>
              <a:cxnLst/>
              <a:rect r="r" b="b" t="t" l="l"/>
              <a:pathLst>
                <a:path h="437462" w="452263">
                  <a:moveTo>
                    <a:pt x="0" y="0"/>
                  </a:moveTo>
                  <a:lnTo>
                    <a:pt x="452264" y="0"/>
                  </a:lnTo>
                  <a:lnTo>
                    <a:pt x="452264" y="437462"/>
                  </a:lnTo>
                  <a:lnTo>
                    <a:pt x="0" y="437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02297" y="818167"/>
              <a:ext cx="11058199" cy="4961100"/>
            </a:xfrm>
            <a:custGeom>
              <a:avLst/>
              <a:gdLst/>
              <a:ahLst/>
              <a:cxnLst/>
              <a:rect r="r" b="b" t="t" l="l"/>
              <a:pathLst>
                <a:path h="4961100" w="11058199">
                  <a:moveTo>
                    <a:pt x="0" y="0"/>
                  </a:moveTo>
                  <a:lnTo>
                    <a:pt x="11058199" y="0"/>
                  </a:lnTo>
                  <a:lnTo>
                    <a:pt x="11058199" y="4961100"/>
                  </a:lnTo>
                  <a:lnTo>
                    <a:pt x="0" y="4961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22720" r="0" b="-22720"/>
              </a:stretch>
            </a:blip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 rot="0">
              <a:off x="253920" y="124505"/>
              <a:ext cx="4977102" cy="503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90"/>
                </a:lnSpc>
                <a:spcBef>
                  <a:spcPct val="0"/>
                </a:spcBef>
              </a:pPr>
              <a:r>
                <a:rPr lang="en-US" sz="2279">
                  <a:solidFill>
                    <a:srgbClr val="FFFFFF"/>
                  </a:solidFill>
                  <a:latin typeface="VT323"/>
                  <a:ea typeface="VT323"/>
                  <a:cs typeface="VT323"/>
                  <a:sym typeface="VT323"/>
                </a:rPr>
                <a:t>img_04.png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605294" y="7773669"/>
            <a:ext cx="2916961" cy="573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CUhackit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895350"/>
            <a:ext cx="99901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WHY SPONSOR?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35372" y="2471737"/>
            <a:ext cx="81153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TRACKS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018028" y="2471737"/>
            <a:ext cx="81153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POWER-UPS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08824" y="311593"/>
            <a:ext cx="1512340" cy="1512340"/>
          </a:xfrm>
          <a:custGeom>
            <a:avLst/>
            <a:gdLst/>
            <a:ahLst/>
            <a:cxnLst/>
            <a:rect r="r" b="b" t="t" l="l"/>
            <a:pathLst>
              <a:path h="1512340" w="1512340">
                <a:moveTo>
                  <a:pt x="0" y="0"/>
                </a:moveTo>
                <a:lnTo>
                  <a:pt x="1512340" y="0"/>
                </a:lnTo>
                <a:lnTo>
                  <a:pt x="1512340" y="1512339"/>
                </a:lnTo>
                <a:lnTo>
                  <a:pt x="0" y="1512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8979" y="4215130"/>
            <a:ext cx="7268085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General themes or application areas that teams choose to shape their goal. 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Each team chooses 1.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Examples: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Healthcare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Education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Finance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99901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EVENT CHALLENGES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1355988" y="3434397"/>
            <a:ext cx="3439380" cy="445678"/>
            <a:chOff x="0" y="0"/>
            <a:chExt cx="4585840" cy="59423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19050"/>
              <a:ext cx="1162897" cy="61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7"/>
                </a:lnSpc>
                <a:spcBef>
                  <a:spcPct val="0"/>
                </a:spcBef>
              </a:pPr>
              <a:r>
                <a:rPr lang="en-US" sz="2963">
                  <a:solidFill>
                    <a:srgbClr val="FFBD59"/>
                  </a:solidFill>
                  <a:latin typeface="Cristik"/>
                  <a:ea typeface="Cristik"/>
                  <a:cs typeface="Cristik"/>
                  <a:sym typeface="Cristik"/>
                </a:rPr>
                <a:t>GOLD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320794" y="-19050"/>
              <a:ext cx="2265045" cy="61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7"/>
                </a:lnSpc>
                <a:spcBef>
                  <a:spcPct val="0"/>
                </a:spcBef>
              </a:pPr>
              <a:r>
                <a:rPr lang="en-US" sz="2963">
                  <a:solidFill>
                    <a:srgbClr val="99C5FF"/>
                  </a:solidFill>
                  <a:latin typeface="Cristik"/>
                  <a:ea typeface="Cristik"/>
                  <a:cs typeface="Cristik"/>
                  <a:sym typeface="Cristik"/>
                </a:rPr>
                <a:t>PLATINUM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594697" y="-19050"/>
              <a:ext cx="290618" cy="6132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97"/>
                </a:lnSpc>
                <a:spcBef>
                  <a:spcPct val="0"/>
                </a:spcBef>
              </a:pPr>
              <a:r>
                <a:rPr lang="en-US" sz="2963">
                  <a:solidFill>
                    <a:srgbClr val="FFFFFF"/>
                  </a:solidFill>
                  <a:latin typeface="Cristik"/>
                  <a:ea typeface="Cristik"/>
                  <a:cs typeface="Cristik"/>
                  <a:sym typeface="Cristik"/>
                </a:rPr>
                <a:t>+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33177" y="3415347"/>
            <a:ext cx="1719690" cy="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  <a:r>
              <a:rPr lang="en-US" sz="2963">
                <a:solidFill>
                  <a:srgbClr val="E8107A"/>
                </a:solidFill>
                <a:latin typeface="Cristik"/>
                <a:ea typeface="Cristik"/>
                <a:cs typeface="Cristik"/>
                <a:sym typeface="Cristik"/>
              </a:rPr>
              <a:t>CUHACKIT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62683" y="3415347"/>
            <a:ext cx="217964" cy="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9441635" y="4215130"/>
            <a:ext cx="7268085" cy="5043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Supplementary distinctions that shape the tech stack or features that teams use.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Each team chooses up to 2.</a:t>
            </a:r>
          </a:p>
          <a:p>
            <a:pPr algn="ctr">
              <a:lnSpc>
                <a:spcPts val="4479"/>
              </a:lnSpc>
            </a:pP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Examples: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Best Use of Amazon Web Services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Best Path to Market</a:t>
            </a:r>
          </a:p>
          <a:p>
            <a:pPr algn="ctr">
              <a:lnSpc>
                <a:spcPts val="4479"/>
              </a:lnSpc>
            </a:pPr>
            <a:r>
              <a:rPr lang="en-US" sz="3199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Best User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95350"/>
            <a:ext cx="99901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SPONSORSHIP TIERS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95247" y="5164955"/>
            <a:ext cx="1398270" cy="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  <a:r>
              <a:rPr lang="en-US" sz="2963">
                <a:solidFill>
                  <a:srgbClr val="7A2F00"/>
                </a:solidFill>
                <a:latin typeface="Cristik"/>
                <a:ea typeface="Cristik"/>
                <a:cs typeface="Cristik"/>
                <a:sym typeface="Cristik"/>
              </a:rPr>
              <a:t>BRONZE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4206" y="5164955"/>
            <a:ext cx="1218089" cy="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  <a:r>
              <a:rPr lang="en-US" sz="2963">
                <a:solidFill>
                  <a:srgbClr val="545454"/>
                </a:solidFill>
                <a:latin typeface="Cristik"/>
                <a:ea typeface="Cristik"/>
                <a:cs typeface="Cristik"/>
                <a:sym typeface="Cristik"/>
              </a:rPr>
              <a:t>SILVER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49577" y="5164955"/>
            <a:ext cx="872172" cy="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  <a:r>
              <a:rPr lang="en-US" sz="2963">
                <a:solidFill>
                  <a:srgbClr val="FFBD59"/>
                </a:solidFill>
                <a:latin typeface="Cristik"/>
                <a:ea typeface="Cristik"/>
                <a:cs typeface="Cristik"/>
                <a:sym typeface="Cristik"/>
              </a:rPr>
              <a:t>GOLD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744226" y="5164955"/>
            <a:ext cx="1698784" cy="46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7"/>
              </a:lnSpc>
              <a:spcBef>
                <a:spcPct val="0"/>
              </a:spcBef>
            </a:pPr>
            <a:r>
              <a:rPr lang="en-US" sz="2963">
                <a:solidFill>
                  <a:srgbClr val="99C5FF"/>
                </a:solidFill>
                <a:latin typeface="Cristik"/>
                <a:ea typeface="Cristik"/>
                <a:cs typeface="Cristik"/>
                <a:sym typeface="Cristik"/>
              </a:rPr>
              <a:t>PLATINUM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8237" y="5924900"/>
            <a:ext cx="3592292" cy="44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  <a:spcBef>
                <a:spcPct val="0"/>
              </a:spcBef>
            </a:pPr>
            <a:r>
              <a:rPr lang="en-US" sz="2668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$1,000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97104" y="5896790"/>
            <a:ext cx="3592292" cy="44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8"/>
              </a:lnSpc>
              <a:spcBef>
                <a:spcPct val="0"/>
              </a:spcBef>
            </a:pPr>
            <a:r>
              <a:rPr lang="en-US" sz="2668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$2,500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89517" y="5896790"/>
            <a:ext cx="3592292" cy="44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8"/>
              </a:lnSpc>
              <a:spcBef>
                <a:spcPct val="0"/>
              </a:spcBef>
            </a:pPr>
            <a:r>
              <a:rPr lang="en-US" sz="2668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$5,000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97472" y="5924900"/>
            <a:ext cx="3592292" cy="449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48"/>
              </a:lnSpc>
              <a:spcBef>
                <a:spcPct val="0"/>
              </a:spcBef>
            </a:pPr>
            <a:r>
              <a:rPr lang="en-US" sz="2668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$8,000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3935" y="6437177"/>
            <a:ext cx="4160895" cy="188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LOGO </a:t>
            </a:r>
            <a:r>
              <a:rPr lang="en-US" sz="2424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O</a:t>
            </a:r>
            <a:r>
              <a:rPr lang="en-US" sz="2424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N WEBSITE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LOGO ON SIGNAGE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PARTICIPANT LINKEDINS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TABLING OPPORTUNITIES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 strike="noStrike" u="none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DIRECT MENTORSHIP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12803" y="6437177"/>
            <a:ext cx="4160895" cy="1501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ALL BRONZE BENEFITS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LOGO ON EVENT T-SHIRTS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BIGGER LOGO IN BRANDING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PARTICIPANT RESUMES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05216" y="6437177"/>
            <a:ext cx="4160895" cy="1863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ALL SILVER BENEFITS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HOST A POWER-UP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HOST WORKSHOPS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NETWORKING EVENTS FOR SPONSORS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513170" y="6437177"/>
            <a:ext cx="4160895" cy="1886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TITLE SPONSOR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ALL GOLD BENEFITS</a:t>
            </a:r>
          </a:p>
          <a:p>
            <a:pPr algn="l" marL="523500" indent="-261750" lvl="1">
              <a:lnSpc>
                <a:spcPts val="2861"/>
              </a:lnSpc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LONGER WORKSHOPS</a:t>
            </a:r>
          </a:p>
          <a:p>
            <a:pPr algn="l" marL="523500" indent="-261750" lvl="1">
              <a:lnSpc>
                <a:spcPts val="2861"/>
              </a:lnSpc>
              <a:spcBef>
                <a:spcPct val="0"/>
              </a:spcBef>
              <a:buFont typeface="Arial"/>
              <a:buChar char="•"/>
            </a:pPr>
            <a:r>
              <a:rPr lang="en-US" sz="2424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PROMINENT BRAND PLACEMENT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734339" y="3398365"/>
            <a:ext cx="1718557" cy="1718557"/>
          </a:xfrm>
          <a:custGeom>
            <a:avLst/>
            <a:gdLst/>
            <a:ahLst/>
            <a:cxnLst/>
            <a:rect r="r" b="b" t="t" l="l"/>
            <a:pathLst>
              <a:path h="1718557" w="1718557">
                <a:moveTo>
                  <a:pt x="0" y="0"/>
                </a:moveTo>
                <a:lnTo>
                  <a:pt x="1718557" y="0"/>
                </a:lnTo>
                <a:lnTo>
                  <a:pt x="1718557" y="1718557"/>
                </a:lnTo>
                <a:lnTo>
                  <a:pt x="0" y="171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35104" y="3398365"/>
            <a:ext cx="1718557" cy="1718557"/>
          </a:xfrm>
          <a:custGeom>
            <a:avLst/>
            <a:gdLst/>
            <a:ahLst/>
            <a:cxnLst/>
            <a:rect r="r" b="b" t="t" l="l"/>
            <a:pathLst>
              <a:path h="1718557" w="1718557">
                <a:moveTo>
                  <a:pt x="0" y="0"/>
                </a:moveTo>
                <a:lnTo>
                  <a:pt x="1718557" y="0"/>
                </a:lnTo>
                <a:lnTo>
                  <a:pt x="1718557" y="1718557"/>
                </a:lnTo>
                <a:lnTo>
                  <a:pt x="0" y="17185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133972" y="3398365"/>
            <a:ext cx="1718557" cy="1718557"/>
          </a:xfrm>
          <a:custGeom>
            <a:avLst/>
            <a:gdLst/>
            <a:ahLst/>
            <a:cxnLst/>
            <a:rect r="r" b="b" t="t" l="l"/>
            <a:pathLst>
              <a:path h="1718557" w="1718557">
                <a:moveTo>
                  <a:pt x="0" y="0"/>
                </a:moveTo>
                <a:lnTo>
                  <a:pt x="1718557" y="0"/>
                </a:lnTo>
                <a:lnTo>
                  <a:pt x="1718557" y="1718557"/>
                </a:lnTo>
                <a:lnTo>
                  <a:pt x="0" y="17185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0526385" y="3398365"/>
            <a:ext cx="1718557" cy="1718557"/>
          </a:xfrm>
          <a:custGeom>
            <a:avLst/>
            <a:gdLst/>
            <a:ahLst/>
            <a:cxnLst/>
            <a:rect r="r" b="b" t="t" l="l"/>
            <a:pathLst>
              <a:path h="1718557" w="1718557">
                <a:moveTo>
                  <a:pt x="0" y="0"/>
                </a:moveTo>
                <a:lnTo>
                  <a:pt x="1718557" y="0"/>
                </a:lnTo>
                <a:lnTo>
                  <a:pt x="1718557" y="1718557"/>
                </a:lnTo>
                <a:lnTo>
                  <a:pt x="0" y="17185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508824" y="311593"/>
            <a:ext cx="1512340" cy="1512340"/>
          </a:xfrm>
          <a:custGeom>
            <a:avLst/>
            <a:gdLst/>
            <a:ahLst/>
            <a:cxnLst/>
            <a:rect r="r" b="b" t="t" l="l"/>
            <a:pathLst>
              <a:path h="1512340" w="1512340">
                <a:moveTo>
                  <a:pt x="0" y="0"/>
                </a:moveTo>
                <a:lnTo>
                  <a:pt x="1512340" y="0"/>
                </a:lnTo>
                <a:lnTo>
                  <a:pt x="1512340" y="1512339"/>
                </a:lnTo>
                <a:lnTo>
                  <a:pt x="0" y="151233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895350"/>
            <a:ext cx="999010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&gt;&gt; SPONSOR EXPECTATIONS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508824" y="311593"/>
            <a:ext cx="1512340" cy="1512340"/>
          </a:xfrm>
          <a:custGeom>
            <a:avLst/>
            <a:gdLst/>
            <a:ahLst/>
            <a:cxnLst/>
            <a:rect r="r" b="b" t="t" l="l"/>
            <a:pathLst>
              <a:path h="1512340" w="1512340">
                <a:moveTo>
                  <a:pt x="0" y="0"/>
                </a:moveTo>
                <a:lnTo>
                  <a:pt x="1512340" y="0"/>
                </a:lnTo>
                <a:lnTo>
                  <a:pt x="1512340" y="1512339"/>
                </a:lnTo>
                <a:lnTo>
                  <a:pt x="0" y="1512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208221"/>
            <a:ext cx="11675957" cy="7408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Donation through Clemson University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Event information</a:t>
            </a:r>
          </a:p>
          <a:p>
            <a:pPr algn="l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Logos + other branding</a:t>
            </a:r>
          </a:p>
          <a:p>
            <a:pPr algn="l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Power-up, workshop, prizes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T-shirt and branding approval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Your team members</a:t>
            </a:r>
          </a:p>
          <a:p>
            <a:pPr algn="l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Who is coming, contact info, shirt sizes</a:t>
            </a:r>
          </a:p>
          <a:p>
            <a:pPr algn="l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Speaker info for ceremonies</a:t>
            </a:r>
          </a:p>
          <a:p>
            <a:pPr algn="l" marL="906780" indent="-453390" lvl="1">
              <a:lnSpc>
                <a:spcPts val="5880"/>
              </a:lnSpc>
              <a:buFont typeface="Arial"/>
              <a:buChar char="•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Representatives join Discord</a:t>
            </a:r>
          </a:p>
          <a:p>
            <a:pPr algn="l" marL="1813560" indent="-604520" lvl="2">
              <a:lnSpc>
                <a:spcPts val="5880"/>
              </a:lnSpc>
              <a:buFont typeface="Arial"/>
              <a:buChar char="⚬"/>
            </a:pPr>
            <a:r>
              <a:rPr lang="en-US" sz="42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Signups for mini-events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884373" y="2208221"/>
            <a:ext cx="3545312" cy="666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80"/>
              </a:lnSpc>
            </a:pPr>
            <a:r>
              <a:rPr lang="en-US" sz="4200">
                <a:solidFill>
                  <a:srgbClr val="E8107A"/>
                </a:solidFill>
                <a:latin typeface="VT323"/>
                <a:ea typeface="VT323"/>
                <a:cs typeface="VT323"/>
                <a:sym typeface="VT323"/>
              </a:rPr>
              <a:t>December 3rd</a:t>
            </a:r>
          </a:p>
          <a:p>
            <a:pPr algn="r">
              <a:lnSpc>
                <a:spcPts val="5880"/>
              </a:lnSpc>
            </a:pPr>
            <a:r>
              <a:rPr lang="en-US" sz="4200">
                <a:solidFill>
                  <a:srgbClr val="E8107A"/>
                </a:solidFill>
                <a:latin typeface="VT323"/>
                <a:ea typeface="VT323"/>
                <a:cs typeface="VT323"/>
                <a:sym typeface="VT323"/>
              </a:rPr>
              <a:t>January 1st</a:t>
            </a:r>
          </a:p>
          <a:p>
            <a:pPr algn="r">
              <a:lnSpc>
                <a:spcPts val="5880"/>
              </a:lnSpc>
            </a:pPr>
          </a:p>
          <a:p>
            <a:pPr algn="r">
              <a:lnSpc>
                <a:spcPts val="5880"/>
              </a:lnSpc>
            </a:pPr>
          </a:p>
          <a:p>
            <a:pPr algn="r">
              <a:lnSpc>
                <a:spcPts val="5880"/>
              </a:lnSpc>
            </a:pPr>
            <a:r>
              <a:rPr lang="en-US" sz="4200">
                <a:solidFill>
                  <a:srgbClr val="E8107A"/>
                </a:solidFill>
                <a:latin typeface="VT323"/>
                <a:ea typeface="VT323"/>
                <a:cs typeface="VT323"/>
                <a:sym typeface="VT323"/>
              </a:rPr>
              <a:t>January 13th</a:t>
            </a:r>
          </a:p>
          <a:p>
            <a:pPr algn="r">
              <a:lnSpc>
                <a:spcPts val="5880"/>
              </a:lnSpc>
            </a:pPr>
            <a:r>
              <a:rPr lang="en-US" sz="4200">
                <a:solidFill>
                  <a:srgbClr val="E8107A"/>
                </a:solidFill>
                <a:latin typeface="VT323"/>
                <a:ea typeface="VT323"/>
                <a:cs typeface="VT323"/>
                <a:sym typeface="VT323"/>
              </a:rPr>
              <a:t>February 7th</a:t>
            </a:r>
          </a:p>
          <a:p>
            <a:pPr algn="r">
              <a:lnSpc>
                <a:spcPts val="5880"/>
              </a:lnSpc>
            </a:pPr>
          </a:p>
          <a:p>
            <a:pPr algn="r">
              <a:lnSpc>
                <a:spcPts val="5880"/>
              </a:lnSpc>
            </a:pPr>
          </a:p>
          <a:p>
            <a:pPr algn="r">
              <a:lnSpc>
                <a:spcPts val="5880"/>
              </a:lnSpc>
            </a:pPr>
            <a:r>
              <a:rPr lang="en-US" sz="4200">
                <a:solidFill>
                  <a:srgbClr val="E8107A"/>
                </a:solidFill>
                <a:latin typeface="VT323"/>
                <a:ea typeface="VT323"/>
                <a:cs typeface="VT323"/>
                <a:sym typeface="VT323"/>
              </a:rPr>
              <a:t>February 14st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D1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7535" y="280798"/>
            <a:ext cx="17773629" cy="9706103"/>
            <a:chOff x="0" y="0"/>
            <a:chExt cx="4681120" cy="25563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1120" cy="2556340"/>
            </a:xfrm>
            <a:custGeom>
              <a:avLst/>
              <a:gdLst/>
              <a:ahLst/>
              <a:cxnLst/>
              <a:rect r="r" b="b" t="t" l="l"/>
              <a:pathLst>
                <a:path h="2556340" w="4681120">
                  <a:moveTo>
                    <a:pt x="0" y="0"/>
                  </a:moveTo>
                  <a:lnTo>
                    <a:pt x="4681120" y="0"/>
                  </a:lnTo>
                  <a:lnTo>
                    <a:pt x="4681120" y="2556340"/>
                  </a:lnTo>
                  <a:lnTo>
                    <a:pt x="0" y="2556340"/>
                  </a:lnTo>
                  <a:close/>
                </a:path>
              </a:pathLst>
            </a:custGeom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1120" cy="2594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352289" y="3369790"/>
            <a:ext cx="7756438" cy="962657"/>
            <a:chOff x="0" y="0"/>
            <a:chExt cx="10341917" cy="1283543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0341917" cy="1283543"/>
              <a:chOff x="0" y="0"/>
              <a:chExt cx="1837618" cy="228068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837618" cy="228068"/>
              </a:xfrm>
              <a:custGeom>
                <a:avLst/>
                <a:gdLst/>
                <a:ahLst/>
                <a:cxnLst/>
                <a:rect r="r" b="b" t="t" l="l"/>
                <a:pathLst>
                  <a:path h="228068" w="1837618">
                    <a:moveTo>
                      <a:pt x="0" y="0"/>
                    </a:moveTo>
                    <a:lnTo>
                      <a:pt x="1837618" y="0"/>
                    </a:lnTo>
                    <a:lnTo>
                      <a:pt x="1837618" y="228068"/>
                    </a:lnTo>
                    <a:lnTo>
                      <a:pt x="0" y="228068"/>
                    </a:lnTo>
                    <a:close/>
                  </a:path>
                </a:pathLst>
              </a:custGeom>
              <a:solidFill>
                <a:srgbClr val="EDE8EF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19050"/>
                <a:ext cx="1837618" cy="24711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51099" y="148882"/>
              <a:ext cx="744928" cy="985778"/>
              <a:chOff x="0" y="0"/>
              <a:chExt cx="132364" cy="17515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CD3929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005994" y="148882"/>
              <a:ext cx="744928" cy="985778"/>
              <a:chOff x="0" y="0"/>
              <a:chExt cx="132364" cy="1751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F69D1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885373" y="148882"/>
              <a:ext cx="744928" cy="985778"/>
              <a:chOff x="0" y="0"/>
              <a:chExt cx="132364" cy="17515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FFD44B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769861" y="148882"/>
              <a:ext cx="744928" cy="985778"/>
              <a:chOff x="0" y="0"/>
              <a:chExt cx="132364" cy="175159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16DB9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654349" y="148882"/>
              <a:ext cx="744928" cy="985778"/>
              <a:chOff x="0" y="0"/>
              <a:chExt cx="132364" cy="17515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6AC9CD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4549423" y="163296"/>
              <a:ext cx="744928" cy="985778"/>
              <a:chOff x="0" y="0"/>
              <a:chExt cx="132364" cy="175159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945EDE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5433911" y="163296"/>
              <a:ext cx="744928" cy="985778"/>
              <a:chOff x="0" y="0"/>
              <a:chExt cx="132364" cy="175159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32364" cy="175159"/>
              </a:xfrm>
              <a:custGeom>
                <a:avLst/>
                <a:gdLst/>
                <a:ahLst/>
                <a:cxnLst/>
                <a:rect r="r" b="b" t="t" l="l"/>
                <a:pathLst>
                  <a:path h="175159" w="132364">
                    <a:moveTo>
                      <a:pt x="0" y="0"/>
                    </a:moveTo>
                    <a:lnTo>
                      <a:pt x="132364" y="0"/>
                    </a:lnTo>
                    <a:lnTo>
                      <a:pt x="132364" y="175159"/>
                    </a:lnTo>
                    <a:lnTo>
                      <a:pt x="0" y="175159"/>
                    </a:lnTo>
                    <a:close/>
                  </a:path>
                </a:pathLst>
              </a:custGeom>
              <a:solidFill>
                <a:srgbClr val="E8117C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9050"/>
                <a:ext cx="132364" cy="19420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680"/>
                  </a:lnSpc>
                </a:pPr>
              </a:p>
            </p:txBody>
          </p:sp>
        </p:grpSp>
      </p:grpSp>
      <p:grpSp>
        <p:nvGrpSpPr>
          <p:cNvPr name="Group 30" id="30"/>
          <p:cNvGrpSpPr/>
          <p:nvPr/>
        </p:nvGrpSpPr>
        <p:grpSpPr>
          <a:xfrm rot="0">
            <a:off x="12777685" y="1001941"/>
            <a:ext cx="5599104" cy="485773"/>
            <a:chOff x="0" y="0"/>
            <a:chExt cx="1297892" cy="11260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97892" cy="112604"/>
            </a:xfrm>
            <a:custGeom>
              <a:avLst/>
              <a:gdLst/>
              <a:ahLst/>
              <a:cxnLst/>
              <a:rect r="r" b="b" t="t" l="l"/>
              <a:pathLst>
                <a:path h="112604" w="1297892">
                  <a:moveTo>
                    <a:pt x="0" y="0"/>
                  </a:moveTo>
                  <a:lnTo>
                    <a:pt x="1297892" y="0"/>
                  </a:lnTo>
                  <a:lnTo>
                    <a:pt x="1297892" y="112604"/>
                  </a:lnTo>
                  <a:lnTo>
                    <a:pt x="0" y="112604"/>
                  </a:lnTo>
                  <a:close/>
                </a:path>
              </a:pathLst>
            </a:custGeom>
            <a:solidFill>
              <a:srgbClr val="E8117C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297892" cy="131654"/>
            </a:xfrm>
            <a:prstGeom prst="rect">
              <a:avLst/>
            </a:prstGeom>
          </p:spPr>
          <p:txBody>
            <a:bodyPr anchor="ctr" rtlCol="false" tIns="97400" lIns="97400" bIns="97400" rIns="974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977144" y="1698407"/>
            <a:ext cx="7399645" cy="469050"/>
            <a:chOff x="0" y="0"/>
            <a:chExt cx="1715264" cy="10872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15264" cy="108727"/>
            </a:xfrm>
            <a:custGeom>
              <a:avLst/>
              <a:gdLst/>
              <a:ahLst/>
              <a:cxnLst/>
              <a:rect r="r" b="b" t="t" l="l"/>
              <a:pathLst>
                <a:path h="108727" w="1715264">
                  <a:moveTo>
                    <a:pt x="0" y="0"/>
                  </a:moveTo>
                  <a:lnTo>
                    <a:pt x="1715264" y="0"/>
                  </a:lnTo>
                  <a:lnTo>
                    <a:pt x="1715264" y="108727"/>
                  </a:lnTo>
                  <a:lnTo>
                    <a:pt x="0" y="108727"/>
                  </a:lnTo>
                  <a:close/>
                </a:path>
              </a:pathLst>
            </a:custGeom>
            <a:solidFill>
              <a:srgbClr val="6AC9CD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715264" cy="127777"/>
            </a:xfrm>
            <a:prstGeom prst="rect">
              <a:avLst/>
            </a:prstGeom>
          </p:spPr>
          <p:txBody>
            <a:bodyPr anchor="ctr" rtlCol="false" tIns="97400" lIns="97400" bIns="97400" rIns="974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596347" y="2378149"/>
            <a:ext cx="8780442" cy="485773"/>
            <a:chOff x="0" y="0"/>
            <a:chExt cx="2035338" cy="11260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35338" cy="112604"/>
            </a:xfrm>
            <a:custGeom>
              <a:avLst/>
              <a:gdLst/>
              <a:ahLst/>
              <a:cxnLst/>
              <a:rect r="r" b="b" t="t" l="l"/>
              <a:pathLst>
                <a:path h="112604" w="2035338">
                  <a:moveTo>
                    <a:pt x="0" y="0"/>
                  </a:moveTo>
                  <a:lnTo>
                    <a:pt x="2035338" y="0"/>
                  </a:lnTo>
                  <a:lnTo>
                    <a:pt x="2035338" y="112604"/>
                  </a:lnTo>
                  <a:lnTo>
                    <a:pt x="0" y="112604"/>
                  </a:lnTo>
                  <a:close/>
                </a:path>
              </a:pathLst>
            </a:custGeom>
            <a:solidFill>
              <a:srgbClr val="8377B7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2035338" cy="131654"/>
            </a:xfrm>
            <a:prstGeom prst="rect">
              <a:avLst/>
            </a:prstGeom>
          </p:spPr>
          <p:txBody>
            <a:bodyPr anchor="ctr" rtlCol="false" tIns="97400" lIns="97400" bIns="97400" rIns="97400"/>
            <a:lstStyle/>
            <a:p>
              <a:pPr algn="ctr">
                <a:lnSpc>
                  <a:spcPts val="168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971121" y="10813"/>
            <a:ext cx="11968352" cy="351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635"/>
              </a:lnSpc>
              <a:spcBef>
                <a:spcPct val="0"/>
              </a:spcBef>
            </a:pPr>
            <a:r>
              <a:rPr lang="en-US" sz="20453" spc="-1615">
                <a:solidFill>
                  <a:srgbClr val="FFFFFF"/>
                </a:solidFill>
                <a:latin typeface="Colo Pro"/>
                <a:ea typeface="Colo Pro"/>
                <a:cs typeface="Colo Pro"/>
                <a:sym typeface="Colo Pro"/>
              </a:rPr>
              <a:t>CUHACKIT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97717" y="2194824"/>
            <a:ext cx="2899862" cy="2939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942"/>
              </a:lnSpc>
              <a:spcBef>
                <a:spcPct val="0"/>
              </a:spcBef>
            </a:pPr>
            <a:r>
              <a:rPr lang="en-US" sz="17101" spc="-1761">
                <a:solidFill>
                  <a:srgbClr val="FFFFFF"/>
                </a:solidFill>
                <a:latin typeface="Colo Pro"/>
                <a:ea typeface="Colo Pro"/>
                <a:cs typeface="Colo Pro"/>
                <a:sym typeface="Colo Pro"/>
              </a:rPr>
              <a:t>27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4378729" y="5037846"/>
            <a:ext cx="9530541" cy="179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4560"/>
              </a:lnSpc>
              <a:spcBef>
                <a:spcPct val="0"/>
              </a:spcBef>
            </a:pPr>
            <a:r>
              <a:rPr lang="en-US" sz="104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Let’s discuss!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190026" y="6716785"/>
            <a:ext cx="9530541" cy="91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421"/>
              </a:lnSpc>
              <a:spcBef>
                <a:spcPct val="0"/>
              </a:spcBef>
            </a:pPr>
            <a:r>
              <a:rPr lang="en-US" sz="5300">
                <a:solidFill>
                  <a:srgbClr val="FFFFFF"/>
                </a:solidFill>
                <a:latin typeface="VT323"/>
                <a:ea typeface="VT323"/>
                <a:cs typeface="VT323"/>
                <a:sym typeface="VT323"/>
              </a:rPr>
              <a:t>cuhackers@clemson.edu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DAHMNAqCWNc</dc:identifier>
  <dcterms:modified xsi:type="dcterms:W3CDTF">2011-08-01T06:04:30Z</dcterms:modified>
  <cp:revision>1</cp:revision>
  <dc:title>CUhackit 2027 Sponsor Pitch Deck</dc:title>
</cp:coreProperties>
</file>