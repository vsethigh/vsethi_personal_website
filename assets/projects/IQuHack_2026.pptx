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 u="sng">
                <a:solidFill>
                  <a:srgbClr val="6969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 u="sng">
                <a:solidFill>
                  <a:srgbClr val="6969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 u="sng">
                <a:solidFill>
                  <a:srgbClr val="6969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0601" y="1545634"/>
            <a:ext cx="1454785" cy="866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 u="sng">
                <a:solidFill>
                  <a:srgbClr val="6969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492" y="2685467"/>
            <a:ext cx="9291415" cy="351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257" y="3096108"/>
            <a:ext cx="1261228" cy="14697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8680" y="3032894"/>
            <a:ext cx="1545005" cy="15803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51239" y="3017092"/>
            <a:ext cx="1387351" cy="15645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7721" y="4929321"/>
            <a:ext cx="977452" cy="7585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38133" y="2226913"/>
            <a:ext cx="4020266" cy="450401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941" y="2258519"/>
            <a:ext cx="0" cy="4488815"/>
          </a:xfrm>
          <a:custGeom>
            <a:avLst/>
            <a:gdLst/>
            <a:ahLst/>
            <a:cxnLst/>
            <a:rect l="l" t="t" r="r" b="b"/>
            <a:pathLst>
              <a:path h="4488815">
                <a:moveTo>
                  <a:pt x="0" y="4488211"/>
                </a:moveTo>
                <a:lnTo>
                  <a:pt x="0" y="0"/>
                </a:lnTo>
              </a:path>
            </a:pathLst>
          </a:custGeom>
          <a:ln w="7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02201" y="2258519"/>
            <a:ext cx="4028440" cy="0"/>
          </a:xfrm>
          <a:custGeom>
            <a:avLst/>
            <a:gdLst/>
            <a:ahLst/>
            <a:cxnLst/>
            <a:rect l="l" t="t" r="r" b="b"/>
            <a:pathLst>
              <a:path w="4028440">
                <a:moveTo>
                  <a:pt x="0" y="0"/>
                </a:moveTo>
                <a:lnTo>
                  <a:pt x="4028049" y="0"/>
                </a:lnTo>
              </a:path>
            </a:pathLst>
          </a:custGeom>
          <a:ln w="15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02201" y="6707221"/>
            <a:ext cx="4044315" cy="0"/>
          </a:xfrm>
          <a:custGeom>
            <a:avLst/>
            <a:gdLst/>
            <a:ahLst/>
            <a:cxnLst/>
            <a:rect l="l" t="t" r="r" b="b"/>
            <a:pathLst>
              <a:path w="4044315">
                <a:moveTo>
                  <a:pt x="0" y="0"/>
                </a:moveTo>
                <a:lnTo>
                  <a:pt x="4043814" y="0"/>
                </a:lnTo>
              </a:path>
            </a:pathLst>
          </a:custGeom>
          <a:ln w="15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36247" y="995802"/>
            <a:ext cx="4981575" cy="1118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150" u="none" spc="-1739" dirty="0">
                <a:solidFill>
                  <a:srgbClr val="6B6495"/>
                </a:solidFill>
              </a:rPr>
              <a:t>MEET</a:t>
            </a:r>
            <a:r>
              <a:rPr sz="7150" u="none" spc="-570" dirty="0">
                <a:solidFill>
                  <a:srgbClr val="6B6495"/>
                </a:solidFill>
              </a:rPr>
              <a:t> </a:t>
            </a:r>
            <a:r>
              <a:rPr sz="7150" u="none" spc="-1625" dirty="0">
                <a:solidFill>
                  <a:srgbClr val="6B6495"/>
                </a:solidFill>
              </a:rPr>
              <a:t>THE</a:t>
            </a:r>
            <a:r>
              <a:rPr sz="7150" u="none" spc="-944" dirty="0">
                <a:solidFill>
                  <a:srgbClr val="6B6495"/>
                </a:solidFill>
              </a:rPr>
              <a:t> </a:t>
            </a:r>
            <a:r>
              <a:rPr sz="7150" u="none" spc="-1565" dirty="0">
                <a:solidFill>
                  <a:srgbClr val="6B6495"/>
                </a:solidFill>
              </a:rPr>
              <a:t>TEAM</a:t>
            </a:r>
            <a:endParaRPr sz="7150"/>
          </a:p>
        </p:txBody>
      </p:sp>
      <p:sp>
        <p:nvSpPr>
          <p:cNvPr id="11" name="object 11"/>
          <p:cNvSpPr txBox="1"/>
          <p:nvPr/>
        </p:nvSpPr>
        <p:spPr>
          <a:xfrm>
            <a:off x="222613" y="3841980"/>
            <a:ext cx="249554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200" spc="-760" dirty="0">
                <a:solidFill>
                  <a:srgbClr val="1C1A1C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620" y="4793486"/>
            <a:ext cx="93027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spc="-955" dirty="0">
                <a:solidFill>
                  <a:srgbClr val="38343D"/>
                </a:solidFill>
                <a:latin typeface="Times New Roman"/>
                <a:cs typeface="Times New Roman"/>
              </a:rPr>
              <a:t>ETHAN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8886" y="4793486"/>
            <a:ext cx="1403985" cy="96393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 marR="5080" indent="236854">
              <a:lnSpc>
                <a:spcPct val="78100"/>
              </a:lnSpc>
              <a:spcBef>
                <a:spcPts val="1015"/>
              </a:spcBef>
            </a:pPr>
            <a:r>
              <a:rPr sz="3450" spc="-905" dirty="0">
                <a:solidFill>
                  <a:srgbClr val="5B5460"/>
                </a:solidFill>
                <a:latin typeface="Times New Roman"/>
                <a:cs typeface="Times New Roman"/>
              </a:rPr>
              <a:t>FRANK</a:t>
            </a:r>
            <a:r>
              <a:rPr sz="3450" spc="860" dirty="0">
                <a:solidFill>
                  <a:srgbClr val="5B5460"/>
                </a:solidFill>
                <a:latin typeface="Times New Roman"/>
                <a:cs typeface="Times New Roman"/>
              </a:rPr>
              <a:t> </a:t>
            </a:r>
            <a:r>
              <a:rPr sz="3450" spc="-985" dirty="0">
                <a:solidFill>
                  <a:srgbClr val="5B5460"/>
                </a:solidFill>
                <a:latin typeface="Times New Roman"/>
                <a:cs typeface="Times New Roman"/>
              </a:rPr>
              <a:t>GONZALEZ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633" y="5204379"/>
            <a:ext cx="122174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spc="-965" dirty="0">
                <a:solidFill>
                  <a:srgbClr val="38343D"/>
                </a:solidFill>
                <a:latin typeface="Times New Roman"/>
                <a:cs typeface="Times New Roman"/>
              </a:rPr>
              <a:t>HERMAN</a:t>
            </a:r>
            <a:endParaRPr sz="3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0038"/>
            <a:ext cx="10058400" cy="15487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34557" y="2874859"/>
            <a:ext cx="0" cy="3295650"/>
          </a:xfrm>
          <a:custGeom>
            <a:avLst/>
            <a:gdLst/>
            <a:ahLst/>
            <a:cxnLst/>
            <a:rect l="l" t="t" r="r" b="b"/>
            <a:pathLst>
              <a:path h="3295650">
                <a:moveTo>
                  <a:pt x="0" y="3295041"/>
                </a:moveTo>
                <a:lnTo>
                  <a:pt x="0" y="0"/>
                </a:lnTo>
              </a:path>
            </a:pathLst>
          </a:custGeom>
          <a:ln w="236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1730" y="2859525"/>
            <a:ext cx="150558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u="none" spc="-795" dirty="0">
                <a:solidFill>
                  <a:srgbClr val="777293"/>
                </a:solidFill>
                <a:latin typeface="Times New Roman"/>
                <a:cs typeface="Times New Roman"/>
              </a:rPr>
              <a:t>GIVEN</a:t>
            </a:r>
            <a:r>
              <a:rPr sz="3000" b="1" u="none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3000" b="1" u="none" spc="-940" dirty="0">
                <a:solidFill>
                  <a:srgbClr val="777293"/>
                </a:solidFill>
                <a:latin typeface="Times New Roman"/>
                <a:cs typeface="Times New Roman"/>
              </a:rPr>
              <a:t>DATA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2359" y="3417524"/>
            <a:ext cx="3180715" cy="15684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52729" algn="l"/>
              </a:tabLst>
            </a:pPr>
            <a:r>
              <a:rPr sz="1400" spc="-355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Task</a:t>
            </a:r>
            <a:r>
              <a:rPr sz="1400" spc="21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ID</a:t>
            </a:r>
            <a:r>
              <a:rPr sz="1400" spc="-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777293"/>
                </a:solidFill>
                <a:latin typeface="Arial"/>
                <a:cs typeface="Arial"/>
              </a:rPr>
              <a:t>I</a:t>
            </a:r>
            <a:r>
              <a:rPr sz="1950" spc="-100" dirty="0">
                <a:solidFill>
                  <a:srgbClr val="777293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Correlating</a:t>
            </a:r>
            <a:r>
              <a:rPr sz="1400" spc="204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Circuit</a:t>
            </a:r>
            <a:r>
              <a:rPr sz="1400" spc="2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(.QASM)</a:t>
            </a:r>
            <a:endParaRPr sz="1400">
              <a:latin typeface="Times New Roman"/>
              <a:cs typeface="Times New Roman"/>
            </a:endParaRPr>
          </a:p>
          <a:p>
            <a:pPr marL="259079" marR="113664" indent="-247015">
              <a:lnSpc>
                <a:spcPct val="100600"/>
              </a:lnSpc>
              <a:spcBef>
                <a:spcPts val="260"/>
              </a:spcBef>
              <a:tabLst>
                <a:tab pos="263525" algn="l"/>
              </a:tabLst>
            </a:pPr>
            <a:r>
              <a:rPr sz="140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	</a:t>
            </a:r>
            <a:r>
              <a:rPr sz="1400" spc="50" dirty="0">
                <a:solidFill>
                  <a:srgbClr val="777293"/>
                </a:solidFill>
                <a:latin typeface="Times New Roman"/>
                <a:cs typeface="Times New Roman"/>
              </a:rPr>
              <a:t>Processor</a:t>
            </a:r>
            <a:r>
              <a:rPr sz="1400" spc="1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(CPU</a:t>
            </a:r>
            <a:r>
              <a:rPr sz="1400" spc="1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or</a:t>
            </a:r>
            <a:r>
              <a:rPr sz="1400" spc="31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GPU)</a:t>
            </a:r>
            <a:r>
              <a:rPr sz="1400" spc="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777293"/>
                </a:solidFill>
                <a:latin typeface="Arial"/>
                <a:cs typeface="Arial"/>
              </a:rPr>
              <a:t>I</a:t>
            </a:r>
            <a:r>
              <a:rPr sz="1950" spc="-100" dirty="0">
                <a:solidFill>
                  <a:srgbClr val="77729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Precision </a:t>
            </a:r>
            <a:r>
              <a:rPr sz="1400" spc="-20" dirty="0">
                <a:solidFill>
                  <a:srgbClr val="777293"/>
                </a:solidFill>
                <a:latin typeface="Times New Roman"/>
                <a:cs typeface="Times New Roman"/>
              </a:rPr>
              <a:t>(Single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or</a:t>
            </a:r>
            <a:r>
              <a:rPr sz="1400" spc="34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Double)</a:t>
            </a:r>
            <a:endParaRPr sz="14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384"/>
              </a:spcBef>
              <a:tabLst>
                <a:tab pos="252729" algn="l"/>
              </a:tabLst>
            </a:pPr>
            <a:r>
              <a:rPr sz="140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Threshold</a:t>
            </a:r>
            <a:r>
              <a:rPr sz="1400" spc="26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777293"/>
                </a:solidFill>
                <a:latin typeface="Arial"/>
                <a:cs typeface="Arial"/>
              </a:rPr>
              <a:t>I</a:t>
            </a:r>
            <a:r>
              <a:rPr sz="1950" spc="-5" dirty="0">
                <a:solidFill>
                  <a:srgbClr val="77729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Fidelity</a:t>
            </a:r>
            <a:endParaRPr sz="14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819"/>
              </a:spcBef>
              <a:tabLst>
                <a:tab pos="255270" algn="l"/>
              </a:tabLst>
            </a:pPr>
            <a:r>
              <a:rPr sz="140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Simulated</a:t>
            </a:r>
            <a:r>
              <a:rPr sz="1400" spc="2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Run-</a:t>
            </a:r>
            <a:r>
              <a:rPr sz="1400" spc="-20" dirty="0">
                <a:solidFill>
                  <a:srgbClr val="777293"/>
                </a:solidFill>
                <a:latin typeface="Times New Roman"/>
                <a:cs typeface="Times New Roman"/>
              </a:rPr>
              <a:t>Time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0242" y="4852292"/>
            <a:ext cx="1697989" cy="80518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  <a:tabLst>
                <a:tab pos="262890" algn="l"/>
              </a:tabLst>
            </a:pPr>
            <a:r>
              <a:rPr sz="140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Bitstring</a:t>
            </a:r>
            <a:r>
              <a:rPr sz="1400" spc="-3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777293"/>
                </a:solidFill>
                <a:latin typeface="Arial"/>
                <a:cs typeface="Arial"/>
              </a:rPr>
              <a:t>I</a:t>
            </a:r>
            <a:r>
              <a:rPr sz="1950" spc="-190" dirty="0">
                <a:solidFill>
                  <a:srgbClr val="777293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Family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  <a:tabLst>
                <a:tab pos="268605" algn="l"/>
              </a:tabLst>
            </a:pPr>
            <a:r>
              <a:rPr sz="140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Number</a:t>
            </a:r>
            <a:r>
              <a:rPr sz="1400" spc="2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of</a:t>
            </a:r>
            <a:r>
              <a:rPr sz="1400" spc="2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777293"/>
                </a:solidFill>
                <a:latin typeface="Times New Roman"/>
                <a:cs typeface="Times New Roman"/>
              </a:rPr>
              <a:t>Qubits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0213" y="2862817"/>
            <a:ext cx="109601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1" spc="-345" dirty="0">
                <a:solidFill>
                  <a:srgbClr val="777293"/>
                </a:solidFill>
                <a:latin typeface="Arial"/>
                <a:cs typeface="Arial"/>
              </a:rPr>
              <a:t>Wanted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9264" y="3447206"/>
            <a:ext cx="2679065" cy="13017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263525" algn="l"/>
              </a:tabLst>
            </a:pPr>
            <a:r>
              <a:rPr sz="140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</a:t>
            </a:r>
            <a:r>
              <a:rPr sz="1400" spc="-35" dirty="0">
                <a:solidFill>
                  <a:srgbClr val="777293"/>
                </a:solidFill>
                <a:latin typeface="Times New Roman"/>
                <a:cs typeface="Times New Roman"/>
              </a:rPr>
              <a:t>Minimum</a:t>
            </a:r>
            <a:r>
              <a:rPr sz="1400" spc="-4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Threshold</a:t>
            </a:r>
            <a:endParaRPr sz="1400">
              <a:latin typeface="Times New Roman"/>
              <a:cs typeface="Times New Roman"/>
            </a:endParaRPr>
          </a:p>
          <a:p>
            <a:pPr marL="404495">
              <a:lnSpc>
                <a:spcPct val="100000"/>
              </a:lnSpc>
              <a:spcBef>
                <a:spcPts val="620"/>
              </a:spcBef>
            </a:pPr>
            <a:r>
              <a:rPr sz="1650" spc="-335" dirty="0">
                <a:solidFill>
                  <a:srgbClr val="777293"/>
                </a:solidFill>
                <a:latin typeface="Courier New"/>
                <a:cs typeface="Courier New"/>
              </a:rPr>
              <a:t>[1,2,4,8,16,32,64,128,256]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 marL="78740">
              <a:lnSpc>
                <a:spcPct val="100000"/>
              </a:lnSpc>
              <a:spcBef>
                <a:spcPts val="1520"/>
              </a:spcBef>
              <a:tabLst>
                <a:tab pos="270510" algn="l"/>
              </a:tabLst>
            </a:pPr>
            <a:r>
              <a:rPr sz="140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Estimated</a:t>
            </a:r>
            <a:r>
              <a:rPr sz="1400" spc="2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Runtime</a:t>
            </a:r>
            <a:r>
              <a:rPr sz="1400" spc="2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per</a:t>
            </a:r>
            <a:r>
              <a:rPr sz="1400" spc="30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Circuit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4916" y="1010038"/>
            <a:ext cx="5013483" cy="56734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0440" y="1036847"/>
            <a:ext cx="2809240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200" b="1" u="none" spc="-1905" dirty="0">
                <a:solidFill>
                  <a:srgbClr val="706B8C"/>
                </a:solidFill>
                <a:latin typeface="Times New Roman"/>
                <a:cs typeface="Times New Roman"/>
              </a:rPr>
              <a:t>RUNTIME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140" y="4140052"/>
            <a:ext cx="3930015" cy="148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b="1" spc="-75" dirty="0">
                <a:solidFill>
                  <a:srgbClr val="706B8C"/>
                </a:solidFill>
                <a:latin typeface="Arial"/>
                <a:cs typeface="Arial"/>
              </a:rPr>
              <a:t>Insight</a:t>
            </a:r>
            <a:endParaRPr sz="2500">
              <a:latin typeface="Arial"/>
              <a:cs typeface="Arial"/>
            </a:endParaRPr>
          </a:p>
          <a:p>
            <a:pPr marL="201295" marR="5080" indent="10795">
              <a:lnSpc>
                <a:spcPct val="103699"/>
              </a:lnSpc>
              <a:spcBef>
                <a:spcPts val="1395"/>
              </a:spcBef>
            </a:pP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Research</a:t>
            </a:r>
            <a:r>
              <a:rPr sz="1400" spc="40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literature:</a:t>
            </a:r>
            <a:r>
              <a:rPr sz="1400" spc="9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predicting</a:t>
            </a:r>
            <a:r>
              <a:rPr sz="1400" spc="20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the</a:t>
            </a:r>
            <a:r>
              <a:rPr sz="1400" spc="140" dirty="0">
                <a:solidFill>
                  <a:srgbClr val="706B8C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runtime</a:t>
            </a:r>
            <a:r>
              <a:rPr sz="1400" spc="22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-35" dirty="0">
                <a:solidFill>
                  <a:srgbClr val="706B8C"/>
                </a:solidFill>
                <a:latin typeface="Times New Roman"/>
                <a:cs typeface="Times New Roman"/>
              </a:rPr>
              <a:t>of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circuits</a:t>
            </a:r>
            <a:r>
              <a:rPr sz="1400" spc="15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(in</a:t>
            </a:r>
            <a:r>
              <a:rPr sz="1400" spc="13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simulation</a:t>
            </a:r>
            <a:r>
              <a:rPr sz="1400" spc="27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and</a:t>
            </a:r>
            <a:r>
              <a:rPr sz="1400" spc="17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on</a:t>
            </a:r>
            <a:r>
              <a:rPr sz="1400" spc="28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hardware)</a:t>
            </a:r>
            <a:r>
              <a:rPr sz="1400" spc="22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can</a:t>
            </a:r>
            <a:r>
              <a:rPr sz="1400" spc="23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706B8C"/>
                </a:solidFill>
                <a:latin typeface="Times New Roman"/>
                <a:cs typeface="Times New Roman"/>
              </a:rPr>
              <a:t>be </a:t>
            </a:r>
            <a:r>
              <a:rPr sz="1400" spc="-10" dirty="0">
                <a:solidFill>
                  <a:srgbClr val="706B8C"/>
                </a:solidFill>
                <a:latin typeface="Times New Roman"/>
                <a:cs typeface="Times New Roman"/>
              </a:rPr>
              <a:t>difficult</a:t>
            </a:r>
            <a:r>
              <a:rPr sz="1400" spc="4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to</a:t>
            </a:r>
            <a:r>
              <a:rPr sz="1400" spc="36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do</a:t>
            </a:r>
            <a:r>
              <a:rPr sz="1400" spc="31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06B8C"/>
                </a:solidFill>
                <a:latin typeface="Times New Roman"/>
                <a:cs typeface="Times New Roman"/>
              </a:rPr>
              <a:t>using</a:t>
            </a:r>
            <a:r>
              <a:rPr sz="1400" spc="-5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any</a:t>
            </a:r>
            <a:r>
              <a:rPr sz="1400" spc="-3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500" i="1" dirty="0">
                <a:solidFill>
                  <a:srgbClr val="706B8C"/>
                </a:solidFill>
                <a:latin typeface="Times New Roman"/>
                <a:cs typeface="Times New Roman"/>
              </a:rPr>
              <a:t>individual</a:t>
            </a:r>
            <a:r>
              <a:rPr sz="1500" i="1" spc="-2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06B8C"/>
                </a:solidFill>
                <a:latin typeface="Times New Roman"/>
                <a:cs typeface="Times New Roman"/>
              </a:rPr>
              <a:t>feature;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combining</a:t>
            </a:r>
            <a:r>
              <a:rPr sz="1400" spc="5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706B8C"/>
                </a:solidFill>
                <a:latin typeface="Times New Roman"/>
                <a:cs typeface="Times New Roman"/>
              </a:rPr>
              <a:t>them</a:t>
            </a:r>
            <a:r>
              <a:rPr sz="1400" spc="19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might</a:t>
            </a:r>
            <a:r>
              <a:rPr sz="1400" spc="3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yield</a:t>
            </a:r>
            <a:r>
              <a:rPr sz="1400" spc="4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a</a:t>
            </a:r>
            <a:r>
              <a:rPr sz="1400" spc="21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85" dirty="0">
                <a:solidFill>
                  <a:srgbClr val="706B8C"/>
                </a:solidFill>
                <a:latin typeface="Times New Roman"/>
                <a:cs typeface="Times New Roman"/>
              </a:rPr>
              <a:t>better</a:t>
            </a:r>
            <a:r>
              <a:rPr sz="1400" spc="3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06B8C"/>
                </a:solidFill>
                <a:latin typeface="Times New Roman"/>
                <a:cs typeface="Times New Roman"/>
              </a:rPr>
              <a:t>correlation.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022" y="2393759"/>
            <a:ext cx="1631314" cy="767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b="1" spc="-290" dirty="0">
                <a:solidFill>
                  <a:srgbClr val="706B8C"/>
                </a:solidFill>
                <a:latin typeface="Arial"/>
                <a:cs typeface="Arial"/>
              </a:rPr>
              <a:t>Features</a:t>
            </a:r>
            <a:endParaRPr sz="2500">
              <a:latin typeface="Arial"/>
              <a:cs typeface="Arial"/>
            </a:endParaRPr>
          </a:p>
          <a:p>
            <a:pPr marL="205740">
              <a:lnSpc>
                <a:spcPct val="100000"/>
              </a:lnSpc>
              <a:spcBef>
                <a:spcPts val="1150"/>
              </a:spcBef>
            </a:pP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D</a:t>
            </a:r>
            <a:r>
              <a:rPr sz="1400" spc="4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Total</a:t>
            </a:r>
            <a:r>
              <a:rPr sz="1400" spc="12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gate</a:t>
            </a:r>
            <a:r>
              <a:rPr sz="1400" spc="7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706B8C"/>
                </a:solidFill>
                <a:latin typeface="Times New Roman"/>
                <a:cs typeface="Times New Roman"/>
              </a:rPr>
              <a:t>count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703" y="3223727"/>
            <a:ext cx="2326640" cy="61595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330"/>
              </a:spcBef>
            </a:pPr>
            <a:r>
              <a:rPr sz="1400" spc="-35" dirty="0">
                <a:solidFill>
                  <a:srgbClr val="706B8C"/>
                </a:solidFill>
                <a:latin typeface="Times New Roman"/>
                <a:cs typeface="Times New Roman"/>
              </a:rPr>
              <a:t>D</a:t>
            </a:r>
            <a:r>
              <a:rPr sz="1400" spc="17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Two-qubit</a:t>
            </a:r>
            <a:r>
              <a:rPr sz="1400" spc="25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706B8C"/>
                </a:solidFill>
                <a:latin typeface="Times New Roman"/>
                <a:cs typeface="Times New Roman"/>
              </a:rPr>
              <a:t>gate</a:t>
            </a:r>
            <a:r>
              <a:rPr sz="1400" spc="-4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706B8C"/>
                </a:solidFill>
                <a:latin typeface="Times New Roman"/>
                <a:cs typeface="Times New Roman"/>
              </a:rPr>
              <a:t>count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spc="130" dirty="0">
                <a:solidFill>
                  <a:srgbClr val="706B8C"/>
                </a:solidFill>
                <a:latin typeface="Arial"/>
                <a:cs typeface="Arial"/>
              </a:rPr>
              <a:t>a</a:t>
            </a:r>
            <a:r>
              <a:rPr sz="1950" spc="-290" dirty="0">
                <a:solidFill>
                  <a:srgbClr val="706B8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06B8C"/>
                </a:solidFill>
                <a:latin typeface="Times New Roman"/>
                <a:cs typeface="Times New Roman"/>
              </a:rPr>
              <a:t>Circuit</a:t>
            </a:r>
            <a:r>
              <a:rPr sz="1400" spc="12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706B8C"/>
                </a:solidFill>
                <a:latin typeface="Times New Roman"/>
                <a:cs typeface="Times New Roman"/>
              </a:rPr>
              <a:t>depth</a:t>
            </a:r>
            <a:r>
              <a:rPr sz="1400" spc="50" dirty="0">
                <a:solidFill>
                  <a:srgbClr val="706B8C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706B8C"/>
                </a:solidFill>
                <a:latin typeface="Arial"/>
                <a:cs typeface="Arial"/>
              </a:rPr>
              <a:t>I</a:t>
            </a:r>
            <a:r>
              <a:rPr sz="2000" spc="-245" dirty="0">
                <a:solidFill>
                  <a:srgbClr val="706B8C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706B8C"/>
                </a:solidFill>
                <a:latin typeface="Times New Roman"/>
                <a:cs typeface="Times New Roman"/>
              </a:rPr>
              <a:t>Qubit </a:t>
            </a:r>
            <a:r>
              <a:rPr sz="1400" spc="45" dirty="0">
                <a:solidFill>
                  <a:srgbClr val="706B8C"/>
                </a:solidFill>
                <a:latin typeface="Times New Roman"/>
                <a:cs typeface="Times New Roman"/>
              </a:rPr>
              <a:t>count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0877" y="3424283"/>
            <a:ext cx="120650" cy="384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ts val="605"/>
              </a:lnSpc>
              <a:spcBef>
                <a:spcPts val="100"/>
              </a:spcBef>
            </a:pPr>
            <a:r>
              <a:rPr sz="550" i="1" spc="-25" dirty="0">
                <a:solidFill>
                  <a:srgbClr val="979797"/>
                </a:solidFill>
                <a:latin typeface="Times New Roman"/>
                <a:cs typeface="Times New Roman"/>
              </a:rPr>
              <a:t>V')</a:t>
            </a:r>
            <a:endParaRPr sz="550">
              <a:latin typeface="Times New Roman"/>
              <a:cs typeface="Times New Roman"/>
            </a:endParaRPr>
          </a:p>
          <a:p>
            <a:pPr marL="31750">
              <a:lnSpc>
                <a:spcPts val="685"/>
              </a:lnSpc>
            </a:pPr>
            <a:r>
              <a:rPr sz="750" spc="55" dirty="0">
                <a:solidFill>
                  <a:srgbClr val="979797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  <a:p>
            <a:pPr>
              <a:lnSpc>
                <a:spcPts val="720"/>
              </a:lnSpc>
            </a:pPr>
            <a:r>
              <a:rPr sz="850" spc="45" dirty="0">
                <a:solidFill>
                  <a:srgbClr val="979797"/>
                </a:solidFill>
                <a:latin typeface="Times New Roman"/>
                <a:cs typeface="Times New Roman"/>
              </a:rPr>
              <a:t>0</a:t>
            </a:r>
            <a:endParaRPr sz="850">
              <a:latin typeface="Times New Roman"/>
              <a:cs typeface="Times New Roman"/>
            </a:endParaRPr>
          </a:p>
          <a:p>
            <a:pPr marL="31115">
              <a:lnSpc>
                <a:spcPts val="815"/>
              </a:lnSpc>
            </a:pPr>
            <a:r>
              <a:rPr sz="800" spc="60" dirty="0">
                <a:solidFill>
                  <a:srgbClr val="979797"/>
                </a:solidFill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8747" y="4119640"/>
            <a:ext cx="11557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i="1" spc="-25" dirty="0">
                <a:solidFill>
                  <a:srgbClr val="979797"/>
                </a:solidFill>
                <a:latin typeface="Times New Roman"/>
                <a:cs typeface="Times New Roman"/>
              </a:rPr>
              <a:t>V')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54062" y="3729147"/>
            <a:ext cx="15875" cy="111760"/>
          </a:xfrm>
          <a:custGeom>
            <a:avLst/>
            <a:gdLst/>
            <a:ahLst/>
            <a:cxnLst/>
            <a:rect l="l" t="t" r="r" b="b"/>
            <a:pathLst>
              <a:path w="15875" h="111760">
                <a:moveTo>
                  <a:pt x="15765" y="111396"/>
                </a:moveTo>
                <a:lnTo>
                  <a:pt x="0" y="111396"/>
                </a:lnTo>
                <a:lnTo>
                  <a:pt x="0" y="0"/>
                </a:lnTo>
                <a:lnTo>
                  <a:pt x="15765" y="0"/>
                </a:lnTo>
                <a:lnTo>
                  <a:pt x="15765" y="111396"/>
                </a:lnTo>
                <a:close/>
              </a:path>
            </a:pathLst>
          </a:custGeom>
          <a:solidFill>
            <a:srgbClr val="DFDD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75957" y="2565841"/>
            <a:ext cx="3536950" cy="283527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26060" marR="450850" indent="3175">
              <a:lnSpc>
                <a:spcPts val="1060"/>
              </a:lnSpc>
              <a:spcBef>
                <a:spcPts val="155"/>
              </a:spcBef>
            </a:pPr>
            <a:r>
              <a:rPr sz="900" spc="65" dirty="0">
                <a:solidFill>
                  <a:srgbClr val="363434"/>
                </a:solidFill>
                <a:latin typeface="Times New Roman"/>
                <a:cs typeface="Times New Roman"/>
              </a:rPr>
              <a:t>Unde</a:t>
            </a:r>
            <a:r>
              <a:rPr sz="900" spc="65" dirty="0">
                <a:solidFill>
                  <a:srgbClr val="1D1A1C"/>
                </a:solidFill>
                <a:latin typeface="Times New Roman"/>
                <a:cs typeface="Times New Roman"/>
              </a:rPr>
              <a:t>r</a:t>
            </a:r>
            <a:r>
              <a:rPr sz="900" spc="65" dirty="0">
                <a:solidFill>
                  <a:srgbClr val="363434"/>
                </a:solidFill>
                <a:latin typeface="Times New Roman"/>
                <a:cs typeface="Times New Roman"/>
              </a:rPr>
              <a:t>sta</a:t>
            </a:r>
            <a:r>
              <a:rPr sz="900" spc="65" dirty="0">
                <a:solidFill>
                  <a:srgbClr val="1D1A1C"/>
                </a:solidFill>
                <a:latin typeface="Times New Roman"/>
                <a:cs typeface="Times New Roman"/>
              </a:rPr>
              <a:t>n</a:t>
            </a:r>
            <a:r>
              <a:rPr sz="900" spc="65" dirty="0">
                <a:solidFill>
                  <a:srgbClr val="363434"/>
                </a:solidFill>
                <a:latin typeface="Times New Roman"/>
                <a:cs typeface="Times New Roman"/>
              </a:rPr>
              <a:t>ding</a:t>
            </a:r>
            <a:r>
              <a:rPr sz="900" spc="55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900" spc="65" dirty="0">
                <a:solidFill>
                  <a:srgbClr val="363434"/>
                </a:solidFill>
                <a:latin typeface="Times New Roman"/>
                <a:cs typeface="Times New Roman"/>
              </a:rPr>
              <a:t>and</a:t>
            </a:r>
            <a:r>
              <a:rPr sz="900" spc="140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363434"/>
                </a:solidFill>
                <a:latin typeface="Times New Roman"/>
                <a:cs typeface="Times New Roman"/>
              </a:rPr>
              <a:t>Estimatin</a:t>
            </a:r>
            <a:r>
              <a:rPr sz="900" spc="50" dirty="0">
                <a:solidFill>
                  <a:srgbClr val="5D5B5B"/>
                </a:solidFill>
                <a:latin typeface="Times New Roman"/>
                <a:cs typeface="Times New Roman"/>
              </a:rPr>
              <a:t>g</a:t>
            </a:r>
            <a:r>
              <a:rPr sz="900" spc="8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900" spc="50" dirty="0">
                <a:solidFill>
                  <a:srgbClr val="363434"/>
                </a:solidFill>
                <a:latin typeface="Times New Roman"/>
                <a:cs typeface="Times New Roman"/>
              </a:rPr>
              <a:t>t</a:t>
            </a:r>
            <a:r>
              <a:rPr sz="900" spc="50" dirty="0">
                <a:solidFill>
                  <a:srgbClr val="1D1A1C"/>
                </a:solidFill>
                <a:latin typeface="Times New Roman"/>
                <a:cs typeface="Times New Roman"/>
              </a:rPr>
              <a:t>h</a:t>
            </a:r>
            <a:r>
              <a:rPr sz="900" spc="50" dirty="0">
                <a:solidFill>
                  <a:srgbClr val="363434"/>
                </a:solidFill>
                <a:latin typeface="Times New Roman"/>
                <a:cs typeface="Times New Roman"/>
              </a:rPr>
              <a:t>e</a:t>
            </a:r>
            <a:r>
              <a:rPr sz="900" spc="125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900" spc="45" dirty="0">
                <a:solidFill>
                  <a:srgbClr val="363434"/>
                </a:solidFill>
                <a:latin typeface="Times New Roman"/>
                <a:cs typeface="Times New Roman"/>
              </a:rPr>
              <a:t>Exec</a:t>
            </a:r>
            <a:r>
              <a:rPr sz="900" spc="45" dirty="0">
                <a:solidFill>
                  <a:srgbClr val="1D1A1C"/>
                </a:solidFill>
                <a:latin typeface="Times New Roman"/>
                <a:cs typeface="Times New Roman"/>
              </a:rPr>
              <a:t>u</a:t>
            </a:r>
            <a:r>
              <a:rPr sz="900" spc="45" dirty="0">
                <a:solidFill>
                  <a:srgbClr val="363434"/>
                </a:solidFill>
                <a:latin typeface="Times New Roman"/>
                <a:cs typeface="Times New Roman"/>
              </a:rPr>
              <a:t>t</a:t>
            </a:r>
            <a:r>
              <a:rPr sz="900" spc="45" dirty="0">
                <a:solidFill>
                  <a:srgbClr val="1D1A1C"/>
                </a:solidFill>
                <a:latin typeface="Times New Roman"/>
                <a:cs typeface="Times New Roman"/>
              </a:rPr>
              <a:t>i</a:t>
            </a:r>
            <a:r>
              <a:rPr sz="900" spc="45" dirty="0">
                <a:solidFill>
                  <a:srgbClr val="363434"/>
                </a:solidFill>
                <a:latin typeface="Times New Roman"/>
                <a:cs typeface="Times New Roman"/>
              </a:rPr>
              <a:t>on</a:t>
            </a:r>
            <a:r>
              <a:rPr sz="900" spc="60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900" spc="55" dirty="0">
                <a:solidFill>
                  <a:srgbClr val="363434"/>
                </a:solidFill>
                <a:latin typeface="Times New Roman"/>
                <a:cs typeface="Times New Roman"/>
              </a:rPr>
              <a:t>T</a:t>
            </a:r>
            <a:r>
              <a:rPr sz="900" spc="55" dirty="0">
                <a:solidFill>
                  <a:srgbClr val="1D1A1C"/>
                </a:solidFill>
                <a:latin typeface="Times New Roman"/>
                <a:cs typeface="Times New Roman"/>
              </a:rPr>
              <a:t>i</a:t>
            </a:r>
            <a:r>
              <a:rPr sz="900" spc="55" dirty="0">
                <a:solidFill>
                  <a:srgbClr val="363434"/>
                </a:solidFill>
                <a:latin typeface="Times New Roman"/>
                <a:cs typeface="Times New Roman"/>
              </a:rPr>
              <a:t>me</a:t>
            </a:r>
            <a:r>
              <a:rPr sz="900" spc="45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363434"/>
                </a:solidFill>
                <a:latin typeface="Times New Roman"/>
                <a:cs typeface="Times New Roman"/>
              </a:rPr>
              <a:t>of</a:t>
            </a:r>
            <a:r>
              <a:rPr sz="900" spc="75" dirty="0">
                <a:solidFill>
                  <a:srgbClr val="363434"/>
                </a:solidFill>
                <a:latin typeface="Times New Roman"/>
                <a:cs typeface="Times New Roman"/>
              </a:rPr>
              <a:t> Quantum</a:t>
            </a:r>
            <a:r>
              <a:rPr sz="900" spc="110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900" spc="-10" dirty="0">
                <a:solidFill>
                  <a:srgbClr val="363434"/>
                </a:solidFill>
                <a:latin typeface="Times New Roman"/>
                <a:cs typeface="Times New Roman"/>
              </a:rPr>
              <a:t>Circuits</a:t>
            </a:r>
            <a:endParaRPr sz="900">
              <a:latin typeface="Times New Roman"/>
              <a:cs typeface="Times New Roman"/>
            </a:endParaRPr>
          </a:p>
          <a:p>
            <a:pPr marL="231140">
              <a:lnSpc>
                <a:spcPct val="100000"/>
              </a:lnSpc>
              <a:spcBef>
                <a:spcPts val="675"/>
              </a:spcBef>
            </a:pP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N</a:t>
            </a:r>
            <a:r>
              <a:rPr sz="600" dirty="0">
                <a:solidFill>
                  <a:srgbClr val="363434"/>
                </a:solidFill>
                <a:latin typeface="Times New Roman"/>
                <a:cs typeface="Times New Roman"/>
              </a:rPr>
              <a:t>I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NG</a:t>
            </a:r>
            <a:r>
              <a:rPr sz="600" spc="16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MA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,</a:t>
            </a:r>
            <a:r>
              <a:rPr sz="600" spc="4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Pulytc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duliquc 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Montr&amp;.</a:t>
            </a:r>
            <a:r>
              <a:rPr sz="600" spc="-35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l.</a:t>
            </a:r>
            <a:r>
              <a:rPr sz="600" spc="114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220" dirty="0">
                <a:solidFill>
                  <a:srgbClr val="5D5B5B"/>
                </a:solidFill>
                <a:latin typeface="Times New Roman"/>
                <a:cs typeface="Times New Roman"/>
              </a:rPr>
              <a:t>ada</a:t>
            </a:r>
            <a:endParaRPr sz="600">
              <a:latin typeface="Times New Roman"/>
              <a:cs typeface="Times New Roman"/>
            </a:endParaRPr>
          </a:p>
          <a:p>
            <a:pPr marL="229235">
              <a:lnSpc>
                <a:spcPct val="100000"/>
              </a:lnSpc>
              <a:spcBef>
                <a:spcPts val="105"/>
              </a:spcBef>
            </a:pPr>
            <a:r>
              <a:rPr sz="650" dirty="0">
                <a:solidFill>
                  <a:srgbClr val="5D5B5B"/>
                </a:solidFill>
                <a:latin typeface="Times New Roman"/>
                <a:cs typeface="Times New Roman"/>
              </a:rPr>
              <a:t>HENG</a:t>
            </a:r>
            <a:r>
              <a:rPr sz="650" spc="20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50" spc="-20" dirty="0">
                <a:solidFill>
                  <a:srgbClr val="706D6D"/>
                </a:solidFill>
                <a:latin typeface="Times New Roman"/>
                <a:cs typeface="Times New Roman"/>
              </a:rPr>
              <a:t>LI•</a:t>
            </a:r>
            <a:r>
              <a:rPr sz="650" spc="-20" dirty="0">
                <a:solidFill>
                  <a:srgbClr val="979797"/>
                </a:solidFill>
                <a:latin typeface="Times New Roman"/>
                <a:cs typeface="Times New Roman"/>
              </a:rPr>
              <a:t>,</a:t>
            </a:r>
            <a:r>
              <a:rPr sz="650" spc="50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7E7C7C"/>
                </a:solidFill>
                <a:latin typeface="Times New Roman"/>
                <a:cs typeface="Times New Roman"/>
              </a:rPr>
              <a:t>Po</a:t>
            </a:r>
            <a:r>
              <a:rPr sz="650" spc="-25" dirty="0">
                <a:solidFill>
                  <a:srgbClr val="5D5B5B"/>
                </a:solidFill>
                <a:latin typeface="Times New Roman"/>
                <a:cs typeface="Times New Roman"/>
              </a:rPr>
              <a:t>l</a:t>
            </a:r>
            <a:r>
              <a:rPr sz="650" spc="-25" dirty="0">
                <a:solidFill>
                  <a:srgbClr val="7E7C7C"/>
                </a:solidFill>
                <a:latin typeface="Times New Roman"/>
                <a:cs typeface="Times New Roman"/>
              </a:rPr>
              <a:t>ytcdmlql.tC</a:t>
            </a:r>
            <a:r>
              <a:rPr sz="650" spc="-25" dirty="0">
                <a:solidFill>
                  <a:srgbClr val="706D6D"/>
                </a:solidFill>
                <a:latin typeface="Times New Roman"/>
                <a:cs typeface="Times New Roman"/>
              </a:rPr>
              <a:t>Montttal.</a:t>
            </a:r>
            <a:r>
              <a:rPr sz="650" spc="-25" dirty="0">
                <a:solidFill>
                  <a:srgbClr val="7E7C7C"/>
                </a:solidFill>
                <a:latin typeface="Times New Roman"/>
                <a:cs typeface="Times New Roman"/>
              </a:rPr>
              <a:t>Can-0.</a:t>
            </a:r>
            <a:endParaRPr sz="650">
              <a:latin typeface="Times New Roman"/>
              <a:cs typeface="Times New Roman"/>
            </a:endParaRPr>
          </a:p>
          <a:p>
            <a:pPr marL="219710" marR="40640" indent="-635">
              <a:lnSpc>
                <a:spcPct val="99400"/>
              </a:lnSpc>
              <a:spcBef>
                <a:spcPts val="340"/>
              </a:spcBef>
            </a:pPr>
            <a:r>
              <a:rPr sz="650" spc="-50" dirty="0">
                <a:solidFill>
                  <a:srgbClr val="706D6D"/>
                </a:solidFill>
                <a:latin typeface="Times New Roman"/>
                <a:cs typeface="Times New Roman"/>
              </a:rPr>
              <a:t>O...e</a:t>
            </a:r>
            <a:r>
              <a:rPr sz="650" spc="-2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spc="-2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50" spc="-20" dirty="0">
                <a:solidFill>
                  <a:srgbClr val="7E7C7C"/>
                </a:solidFill>
                <a:latin typeface="Times New Roman"/>
                <a:cs typeface="Times New Roman"/>
              </a:rPr>
              <a:t>o</a:t>
            </a:r>
            <a:r>
              <a:rPr sz="650" spc="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5D5B5B"/>
                </a:solidFill>
                <a:latin typeface="Times New Roman"/>
                <a:cs typeface="Times New Roman"/>
              </a:rPr>
              <a:t>tb</a:t>
            </a:r>
            <a:r>
              <a:rPr sz="650" spc="-10" dirty="0">
                <a:solidFill>
                  <a:srgbClr val="7E7C7C"/>
                </a:solidFill>
                <a:latin typeface="Times New Roman"/>
                <a:cs typeface="Times New Roman"/>
              </a:rPr>
              <a:t>c</a:t>
            </a:r>
            <a:r>
              <a:rPr sz="650" spc="-9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scatti</a:t>
            </a:r>
            <a:r>
              <a:rPr sz="65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y</a:t>
            </a:r>
            <a:r>
              <a:rPr sz="650" spc="-5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5D5B5B"/>
                </a:solidFill>
                <a:latin typeface="Times New Roman"/>
                <a:cs typeface="Times New Roman"/>
              </a:rPr>
              <a:t>o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r</a:t>
            </a:r>
            <a:r>
              <a:rPr sz="650" dirty="0">
                <a:solidFill>
                  <a:srgbClr val="5D5B5B"/>
                </a:solidFill>
                <a:latin typeface="Times New Roman"/>
                <a:cs typeface="Times New Roman"/>
              </a:rPr>
              <a:t>qu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an</a:t>
            </a:r>
            <a:r>
              <a:rPr sz="650" dirty="0">
                <a:solidFill>
                  <a:srgbClr val="5D5B5B"/>
                </a:solidFill>
                <a:latin typeface="Times New Roman"/>
                <a:cs typeface="Times New Roman"/>
              </a:rPr>
              <a:t>tum</a:t>
            </a:r>
            <a:r>
              <a:rPr sz="650" spc="-3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compull</a:t>
            </a:r>
            <a:r>
              <a:rPr sz="650" spc="-30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g</a:t>
            </a:r>
            <a:r>
              <a:rPr sz="650" spc="-2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50" dirty="0">
                <a:solidFill>
                  <a:srgbClr val="7E7C7C"/>
                </a:solidFill>
                <a:latin typeface="Times New Roman"/>
                <a:cs typeface="Times New Roman"/>
              </a:rPr>
              <a:t>rtsources.</a:t>
            </a:r>
            <a:r>
              <a:rPr sz="650" spc="50" dirty="0">
                <a:solidFill>
                  <a:srgbClr val="706D6D"/>
                </a:solidFill>
                <a:latin typeface="Times New Roman"/>
                <a:cs typeface="Times New Roman"/>
              </a:rPr>
              <a:t>r</a:t>
            </a:r>
            <a:r>
              <a:rPr sz="650" spc="185" dirty="0">
                <a:solidFill>
                  <a:srgbClr val="706D6D"/>
                </a:solidFill>
                <a:latin typeface="Times New Roman"/>
                <a:cs typeface="Times New Roman"/>
              </a:rPr>
              <a:t>  </a:t>
            </a:r>
            <a:r>
              <a:rPr sz="650" spc="215" dirty="0">
                <a:solidFill>
                  <a:srgbClr val="706D6D"/>
                </a:solidFill>
                <a:latin typeface="Times New Roman"/>
                <a:cs typeface="Times New Roman"/>
              </a:rPr>
              <a:t>rsand</a:t>
            </a:r>
            <a:r>
              <a:rPr sz="650" spc="-8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spc="-60" dirty="0">
                <a:solidFill>
                  <a:srgbClr val="5D5B5B"/>
                </a:solidFill>
                <a:latin typeface="Times New Roman"/>
                <a:cs typeface="Times New Roman"/>
              </a:rPr>
              <a:t>dC'</a:t>
            </a:r>
            <a:r>
              <a:rPr sz="650" spc="-60" dirty="0">
                <a:solidFill>
                  <a:srgbClr val="7E7C7C"/>
                </a:solidFill>
                <a:latin typeface="Times New Roman"/>
                <a:cs typeface="Times New Roman"/>
              </a:rPr>
              <a:t>•c&amp;optrs</a:t>
            </a:r>
            <a:r>
              <a:rPr sz="650" spc="3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706D6D"/>
                </a:solidFill>
                <a:latin typeface="Times New Roman"/>
                <a:cs typeface="Times New Roman"/>
              </a:rPr>
              <a:t>ha"('</a:t>
            </a:r>
            <a:r>
              <a:rPr sz="650" spc="-2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spc="-65" dirty="0">
                <a:solidFill>
                  <a:srgbClr val="7E7C7C"/>
                </a:solidFill>
                <a:latin typeface="Times New Roman"/>
                <a:cs typeface="Times New Roman"/>
              </a:rPr>
              <a:t>very11:.inhcd</a:t>
            </a:r>
            <a:r>
              <a:rPr sz="650" spc="-2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00" spc="-10" dirty="0">
                <a:solidFill>
                  <a:srgbClr val="7E7C7C"/>
                </a:solidFill>
                <a:latin typeface="Times New Roman"/>
                <a:cs typeface="Times New Roman"/>
              </a:rPr>
              <a:t>aoct$S</a:t>
            </a:r>
            <a:r>
              <a:rPr sz="500" spc="50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lo</a:t>
            </a:r>
            <a:r>
              <a:rPr sz="550" spc="6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spc="60" dirty="0">
                <a:solidFill>
                  <a:srgbClr val="706D6D"/>
                </a:solidFill>
                <a:latin typeface="Times New Roman"/>
                <a:cs typeface="Times New Roman"/>
              </a:rPr>
              <a:t>R'</a:t>
            </a:r>
            <a:r>
              <a:rPr sz="550" spc="18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I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q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u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&lt;t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ntum</a:t>
            </a:r>
            <a:r>
              <a:rPr sz="550" spc="9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oompillcn.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Thc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rcfMc,</a:t>
            </a:r>
            <a:r>
              <a:rPr sz="550" spc="14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jud: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i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dou.</a:t>
            </a:r>
            <a:r>
              <a:rPr sz="550" spc="44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pla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nn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i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g</a:t>
            </a:r>
            <a:r>
              <a:rPr sz="550" spc="11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706D6D"/>
                </a:solidFill>
                <a:latin typeface="Arial"/>
                <a:cs typeface="Arial"/>
              </a:rPr>
              <a:t>nnd</a:t>
            </a:r>
            <a:r>
              <a:rPr sz="500" spc="55" dirty="0">
                <a:solidFill>
                  <a:srgbClr val="706D6D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ut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i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l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iu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ticm</a:t>
            </a:r>
            <a:r>
              <a:rPr sz="550" spc="5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ofq1Qn</a:t>
            </a:r>
            <a:r>
              <a:rPr sz="550" dirty="0">
                <a:solidFill>
                  <a:srgbClr val="363434"/>
                </a:solidFill>
                <a:latin typeface="Times New Roman"/>
                <a:cs typeface="Times New Roman"/>
              </a:rPr>
              <a:t>t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um</a:t>
            </a:r>
            <a:r>
              <a:rPr sz="550" spc="9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-30" dirty="0">
                <a:solidFill>
                  <a:srgbClr val="706D6D"/>
                </a:solidFill>
                <a:latin typeface="Times New Roman"/>
                <a:cs typeface="Times New Roman"/>
              </a:rPr>
              <a:t>onmputeo:</a:t>
            </a:r>
            <a:r>
              <a:rPr sz="550" spc="-30" dirty="0">
                <a:solidFill>
                  <a:srgbClr val="4D4949"/>
                </a:solidFill>
                <a:latin typeface="Times New Roman"/>
                <a:cs typeface="Times New Roman"/>
              </a:rPr>
              <a:t>r</a:t>
            </a:r>
            <a:r>
              <a:rPr sz="550" spc="215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n.intimc</a:t>
            </a:r>
            <a:r>
              <a:rPr sz="550" spc="-3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spc="-25" dirty="0">
                <a:solidFill>
                  <a:srgbClr val="7E7C7C"/>
                </a:solidFill>
                <a:latin typeface="Times New Roman"/>
                <a:cs typeface="Times New Roman"/>
              </a:rPr>
              <a:t>are</a:t>
            </a:r>
            <a:r>
              <a:rPr sz="550" spc="50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cssen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tia1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to</a:t>
            </a:r>
            <a:r>
              <a:rPr sz="600" spc="2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00" spc="-25" dirty="0">
                <a:solidFill>
                  <a:srgbClr val="7E7C7C"/>
                </a:solidFill>
                <a:latin typeface="Times New Roman"/>
                <a:cs typeface="Times New Roman"/>
              </a:rPr>
              <a:t>n1.11.1tt</a:t>
            </a:r>
            <a:r>
              <a:rPr sz="500" spc="-4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60" dirty="0">
                <a:solidFill>
                  <a:srgbClr val="7E7C7C"/>
                </a:solidFill>
                <a:latin typeface="Times New Roman"/>
                <a:cs typeface="Times New Roman"/>
              </a:rPr>
              <a:t>s</a:t>
            </a:r>
            <a:r>
              <a:rPr sz="600" spc="-60" dirty="0">
                <a:solidFill>
                  <a:srgbClr val="5D5B5B"/>
                </a:solidFill>
                <a:latin typeface="Times New Roman"/>
                <a:cs typeface="Times New Roman"/>
              </a:rPr>
              <a:t>111ooth</a:t>
            </a:r>
            <a:r>
              <a:rPr sz="600" spc="6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30" dirty="0">
                <a:solidFill>
                  <a:srgbClr val="706D6D"/>
                </a:solidFill>
                <a:latin typeface="Times New Roman"/>
                <a:cs typeface="Times New Roman"/>
              </a:rPr>
              <a:t>t)l'.«:ution</a:t>
            </a:r>
            <a:r>
              <a:rPr sz="600" spc="-5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and</a:t>
            </a:r>
            <a:r>
              <a:rPr sz="600" spc="14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to:in</a:t>
            </a:r>
            <a:r>
              <a:rPr sz="600" spc="-30" dirty="0">
                <a:solidFill>
                  <a:srgbClr val="5D5B5B"/>
                </a:solidFill>
                <a:latin typeface="Times New Roman"/>
                <a:cs typeface="Times New Roman"/>
              </a:rPr>
              <a:t>pl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cd0</a:t>
            </a:r>
            <a:r>
              <a:rPr sz="600" spc="-30" dirty="0">
                <a:solidFill>
                  <a:srgbClr val="5D5B5B"/>
                </a:solidFill>
                <a:latin typeface="Times New Roman"/>
                <a:cs typeface="Times New Roman"/>
              </a:rPr>
              <a:t>1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i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or</a:t>
            </a:r>
            <a:r>
              <a:rPr sz="600" spc="5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5D5B5B"/>
                </a:solidFill>
                <a:latin typeface="Times New Roman"/>
                <a:cs typeface="Times New Roman"/>
              </a:rPr>
              <a:t>pf\'Jj</a:t>
            </a:r>
            <a:r>
              <a:rPr sz="600" spc="-25" dirty="0">
                <a:solidFill>
                  <a:srgbClr val="7E7C7C"/>
                </a:solidFill>
                <a:latin typeface="Times New Roman"/>
                <a:cs typeface="Times New Roman"/>
              </a:rPr>
              <a:t>«U.</a:t>
            </a:r>
            <a:r>
              <a:rPr sz="600" spc="26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45" dirty="0">
                <a:solidFill>
                  <a:srgbClr val="706D6D"/>
                </a:solidFill>
                <a:latin typeface="Times New Roman"/>
                <a:cs typeface="Times New Roman"/>
              </a:rPr>
              <a:t>Ae&lt;un.tc-</a:t>
            </a:r>
            <a:r>
              <a:rPr sz="600" spc="-8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35" dirty="0">
                <a:solidFill>
                  <a:srgbClr val="7E7C7C"/>
                </a:solidFill>
                <a:latin typeface="Times New Roman"/>
                <a:cs typeface="Times New Roman"/>
              </a:rPr>
              <a:t>C11thnatkl.</a:t>
            </a:r>
            <a:r>
              <a:rPr sz="600" spc="-35" dirty="0">
                <a:solidFill>
                  <a:srgbClr val="5D5B5B"/>
                </a:solidFill>
                <a:latin typeface="Times New Roman"/>
                <a:cs typeface="Times New Roman"/>
              </a:rPr>
              <a:t>1</a:t>
            </a:r>
            <a:r>
              <a:rPr sz="650" spc="-35" dirty="0">
                <a:solidFill>
                  <a:srgbClr val="7E7C7C"/>
                </a:solidFill>
                <a:latin typeface="Times New Roman"/>
                <a:cs typeface="Times New Roman"/>
              </a:rPr>
              <a:t>of</a:t>
            </a:r>
            <a:r>
              <a:rPr sz="600" spc="-35" dirty="0">
                <a:solidFill>
                  <a:srgbClr val="7E7C7C"/>
                </a:solidFill>
                <a:latin typeface="Times New Roman"/>
                <a:cs typeface="Times New Roman"/>
              </a:rPr>
              <a:t>a</a:t>
            </a:r>
            <a:r>
              <a:rPr sz="600" spc="2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quatt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ttllll</a:t>
            </a:r>
            <a:r>
              <a:rPr sz="600" spc="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ti.rtuil's</a:t>
            </a:r>
            <a:endParaRPr sz="600">
              <a:latin typeface="Times New Roman"/>
              <a:cs typeface="Times New Roman"/>
            </a:endParaRPr>
          </a:p>
          <a:p>
            <a:pPr marL="219710" marR="43815" algn="just">
              <a:lnSpc>
                <a:spcPct val="94800"/>
              </a:lnSpc>
              <a:spcBef>
                <a:spcPts val="10"/>
              </a:spcBef>
            </a:pP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c:ireartion</a:t>
            </a:r>
            <a:r>
              <a:rPr sz="550" spc="-3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706D6D"/>
                </a:solidFill>
                <a:latin typeface="Times New Roman"/>
                <a:cs typeface="Times New Roman"/>
              </a:rPr>
              <a:t>timl:</a:t>
            </a:r>
            <a:r>
              <a:rPr sz="600" spc="-25" dirty="0">
                <a:solidFill>
                  <a:srgbClr val="7E7C7C"/>
                </a:solidFill>
                <a:latin typeface="Arial"/>
                <a:cs typeface="Arial"/>
              </a:rPr>
              <a:t>U</a:t>
            </a:r>
            <a:r>
              <a:rPr sz="600" spc="10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363434"/>
                </a:solidFill>
                <a:latin typeface="Times New Roman"/>
                <a:cs typeface="Times New Roman"/>
              </a:rPr>
              <a:t>l</a:t>
            </a:r>
            <a:r>
              <a:rPr sz="550" spc="-20" dirty="0">
                <a:solidFill>
                  <a:srgbClr val="706D6D"/>
                </a:solidFill>
                <a:latin typeface="Times New Roman"/>
                <a:cs typeface="Times New Roman"/>
              </a:rPr>
              <a:t>hu.s</a:t>
            </a:r>
            <a:r>
              <a:rPr sz="550" spc="3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484" dirty="0">
                <a:solidFill>
                  <a:srgbClr val="706D6D"/>
                </a:solidFill>
                <a:latin typeface="Times New Roman"/>
                <a:cs typeface="Times New Roman"/>
              </a:rPr>
              <a:t>n</a:t>
            </a:r>
            <a:r>
              <a:rPr sz="550" spc="27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190" dirty="0">
                <a:solidFill>
                  <a:srgbClr val="706D6D"/>
                </a:solidFill>
                <a:latin typeface="Times New Roman"/>
                <a:cs typeface="Times New Roman"/>
              </a:rPr>
              <a:t>ry</a:t>
            </a:r>
            <a:r>
              <a:rPr sz="550" spc="190" dirty="0">
                <a:solidFill>
                  <a:srgbClr val="4D4949"/>
                </a:solidFill>
                <a:latin typeface="Times New Roman"/>
                <a:cs typeface="Times New Roman"/>
              </a:rPr>
              <a:t>I</a:t>
            </a:r>
            <a:r>
              <a:rPr sz="550" spc="190" dirty="0">
                <a:solidFill>
                  <a:srgbClr val="7E7C7C"/>
                </a:solidFill>
                <a:latin typeface="Times New Roman"/>
                <a:cs typeface="Times New Roman"/>
              </a:rPr>
              <a:t>C)</a:t>
            </a:r>
            <a:r>
              <a:rPr sz="550" spc="190" dirty="0">
                <a:solidFill>
                  <a:srgbClr val="706D6D"/>
                </a:solidFill>
                <a:latin typeface="Times New Roman"/>
                <a:cs typeface="Times New Roman"/>
              </a:rPr>
              <a:t>p</a:t>
            </a:r>
            <a:r>
              <a:rPr sz="550" spc="190" dirty="0">
                <a:solidFill>
                  <a:srgbClr val="4D4949"/>
                </a:solidFill>
                <a:latin typeface="Times New Roman"/>
                <a:cs typeface="Times New Roman"/>
              </a:rPr>
              <a:t>r</a:t>
            </a:r>
            <a:r>
              <a:rPr sz="550" spc="204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550" spc="200" dirty="0">
                <a:solidFill>
                  <a:srgbClr val="706D6D"/>
                </a:solidFill>
                <a:latin typeface="Times New Roman"/>
                <a:cs typeface="Times New Roman"/>
              </a:rPr>
              <a:t>t</a:t>
            </a:r>
            <a:r>
              <a:rPr sz="550" spc="2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Un('xpcctcdly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cxc«&lt;ling</a:t>
            </a:r>
            <a:r>
              <a:rPr sz="550" spc="-3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00" dirty="0">
                <a:solidFill>
                  <a:srgbClr val="5D5B5B"/>
                </a:solidFill>
                <a:latin typeface="Arial"/>
                <a:cs typeface="Arial"/>
              </a:rPr>
              <a:t>t</a:t>
            </a:r>
            <a:r>
              <a:rPr sz="500" spc="245" dirty="0">
                <a:solidFill>
                  <a:srgbClr val="5D5B5B"/>
                </a:solidFill>
                <a:latin typeface="Arial"/>
                <a:cs typeface="Arial"/>
              </a:rPr>
              <a:t>  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nnt</a:t>
            </a:r>
            <a:r>
              <a:rPr sz="550" spc="-10" dirty="0">
                <a:solidFill>
                  <a:srgbClr val="7E7C7C"/>
                </a:solidFill>
                <a:latin typeface="Times New Roman"/>
                <a:cs typeface="Times New Roman"/>
              </a:rPr>
              <a:t>ic;ipn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tcd</a:t>
            </a:r>
            <a:r>
              <a:rPr sz="550" spc="4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nm</a:t>
            </a:r>
            <a:r>
              <a:rPr sz="550" spc="6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7E7C7C"/>
                </a:solidFill>
                <a:latin typeface="Times New Roman"/>
                <a:cs typeface="Times New Roman"/>
              </a:rPr>
              <a:t>ri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m</a:t>
            </a:r>
            <a:r>
              <a:rPr sz="550" spc="-10" dirty="0">
                <a:solidFill>
                  <a:srgbClr val="7E7C7C"/>
                </a:solidFill>
                <a:latin typeface="Times New Roman"/>
                <a:cs typeface="Times New Roman"/>
              </a:rPr>
              <a:t>e </a:t>
            </a:r>
            <a:r>
              <a:rPr sz="400" dirty="0">
                <a:solidFill>
                  <a:srgbClr val="7E7C7C"/>
                </a:solidFill>
                <a:latin typeface="Times New Roman"/>
                <a:cs typeface="Times New Roman"/>
              </a:rPr>
              <a:t>O¥</a:t>
            </a:r>
            <a:r>
              <a:rPr sz="400" spc="12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the</a:t>
            </a:r>
            <a:r>
              <a:rPr sz="550" spc="15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maximum</a:t>
            </a:r>
            <a:r>
              <a:rPr sz="550" spc="50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capacity</a:t>
            </a:r>
            <a:r>
              <a:rPr sz="600" spc="-3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06D6D"/>
                </a:solidFill>
                <a:latin typeface="Times New Roman"/>
                <a:cs typeface="Times New Roman"/>
              </a:rPr>
              <a:t>of</a:t>
            </a:r>
            <a:r>
              <a:rPr sz="600" dirty="0">
                <a:solidFill>
                  <a:srgbClr val="706D6D"/>
                </a:solidFill>
                <a:latin typeface="Arial"/>
                <a:cs typeface="Arial"/>
              </a:rPr>
              <a:t>llit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quantum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cot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upulcr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.s;</a:t>
            </a:r>
            <a:r>
              <a:rPr sz="500" dirty="0">
                <a:solidFill>
                  <a:srgbClr val="5D5B5B"/>
                </a:solidFill>
                <a:latin typeface="Times New Roman"/>
                <a:cs typeface="Times New Roman"/>
              </a:rPr>
              <a:t>it</a:t>
            </a:r>
            <a:r>
              <a:rPr sz="500" spc="13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also</a:t>
            </a:r>
            <a:r>
              <a:rPr sz="600" spc="-30" dirty="0">
                <a:solidFill>
                  <a:srgbClr val="706D6D"/>
                </a:solidFill>
                <a:latin typeface="Times New Roman"/>
                <a:cs typeface="Times New Roman"/>
              </a:rPr>
              <a:t>ldlowis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90" dirty="0">
                <a:solidFill>
                  <a:srgbClr val="5D5B5B"/>
                </a:solidFill>
                <a:latin typeface="Times New Roman"/>
                <a:cs typeface="Times New Roman"/>
              </a:rPr>
              <a:t>qu::1.111uin.</a:t>
            </a:r>
            <a:r>
              <a:rPr sz="600" spc="5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co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mputin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g</a:t>
            </a:r>
            <a:r>
              <a:rPr sz="600" spc="8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plalf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oniu</a:t>
            </a:r>
            <a:r>
              <a:rPr sz="600" spc="22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t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o</a:t>
            </a:r>
            <a:r>
              <a:rPr sz="600" spc="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50" dirty="0">
                <a:solidFill>
                  <a:srgbClr val="5D5B5B"/>
                </a:solidFill>
                <a:latin typeface="Times New Roman"/>
                <a:cs typeface="Times New Roman"/>
              </a:rPr>
              <a:t>ltUl1c</a:t>
            </a:r>
            <a:r>
              <a:rPr sz="600" spc="9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ptttiscty</a:t>
            </a:r>
            <a:r>
              <a:rPr sz="600" spc="-10" dirty="0">
                <a:solidFill>
                  <a:srgbClr val="4D4949"/>
                </a:solidFill>
                <a:latin typeface="Times New Roman"/>
                <a:cs typeface="Times New Roman"/>
              </a:rPr>
              <a:t>i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nlormtd</a:t>
            </a:r>
            <a:r>
              <a:rPr sz="600" spc="50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p«Will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io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nin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g</a:t>
            </a:r>
            <a:r>
              <a:rPr sz="550" spc="8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and</a:t>
            </a:r>
            <a:r>
              <a:rPr sz="550" spc="26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prioritiza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t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ion</a:t>
            </a:r>
            <a:r>
              <a:rPr sz="550" spc="204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of</a:t>
            </a:r>
            <a:r>
              <a:rPr sz="550" spc="5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quantmn</a:t>
            </a:r>
            <a:r>
              <a:rPr sz="550" spc="-2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com.puting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jot,,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.</a:t>
            </a:r>
            <a:r>
              <a:rPr sz="550" spc="11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363434"/>
                </a:solidFill>
                <a:latin typeface="Times New Roman"/>
                <a:cs typeface="Times New Roman"/>
              </a:rPr>
              <a:t>J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n</a:t>
            </a:r>
            <a:r>
              <a:rPr sz="550" spc="19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th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is</a:t>
            </a:r>
            <a:r>
              <a:rPr sz="550" spc="17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paper.</a:t>
            </a:r>
            <a:r>
              <a:rPr sz="550" spc="-2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400" dirty="0">
                <a:solidFill>
                  <a:srgbClr val="5D5B5B"/>
                </a:solidFill>
                <a:latin typeface="Times New Roman"/>
                <a:cs typeface="Times New Roman"/>
              </a:rPr>
              <a:t>"</a:t>
            </a:r>
            <a:r>
              <a:rPr sz="400" dirty="0">
                <a:solidFill>
                  <a:srgbClr val="7E7C7C"/>
                </a:solidFill>
                <a:latin typeface="Times New Roman"/>
                <a:cs typeface="Times New Roman"/>
              </a:rPr>
              <a:t>"C</a:t>
            </a:r>
            <a:r>
              <a:rPr sz="400" spc="-1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fi.n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t</a:t>
            </a:r>
            <a:r>
              <a:rPr sz="600" spc="55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J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t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udy</a:t>
            </a:r>
            <a:r>
              <a:rPr sz="550" spc="22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the</a:t>
            </a:r>
            <a:r>
              <a:rPr sz="600" spc="-20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chanictcfisticr</a:t>
            </a:r>
            <a:endParaRPr sz="550">
              <a:latin typeface="Times New Roman"/>
              <a:cs typeface="Times New Roman"/>
            </a:endParaRPr>
          </a:p>
          <a:p>
            <a:pPr marL="25400">
              <a:lnSpc>
                <a:spcPts val="755"/>
              </a:lnSpc>
            </a:pPr>
            <a:r>
              <a:rPr sz="1725" spc="97" baseline="-36231" dirty="0">
                <a:solidFill>
                  <a:srgbClr val="979797"/>
                </a:solidFill>
                <a:latin typeface="Arial"/>
                <a:cs typeface="Arial"/>
              </a:rPr>
              <a:t>&gt;</a:t>
            </a:r>
            <a:r>
              <a:rPr sz="1725" spc="179" baseline="-36231" dirty="0">
                <a:solidFill>
                  <a:srgbClr val="979797"/>
                </a:solidFill>
                <a:latin typeface="Arial"/>
                <a:cs typeface="Arial"/>
              </a:rPr>
              <a:t>  </a:t>
            </a:r>
            <a:r>
              <a:rPr sz="650" spc="-45" dirty="0">
                <a:solidFill>
                  <a:srgbClr val="706D6D"/>
                </a:solidFill>
                <a:latin typeface="Times New Roman"/>
                <a:cs typeface="Times New Roman"/>
              </a:rPr>
              <a:t>ofQIW'ltum</a:t>
            </a:r>
            <a:r>
              <a:rPr sz="650" spc="-7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clrtui.</a:t>
            </a:r>
            <a:r>
              <a:rPr sz="650" spc="-30" dirty="0">
                <a:solidFill>
                  <a:srgbClr val="5D5B5B"/>
                </a:solidFill>
                <a:latin typeface="Times New Roman"/>
                <a:cs typeface="Times New Roman"/>
              </a:rPr>
              <a:t>1</a:t>
            </a:r>
            <a:r>
              <a:rPr sz="650" spc="-30" dirty="0">
                <a:solidFill>
                  <a:srgbClr val="AEAEAE"/>
                </a:solidFill>
                <a:latin typeface="Times New Roman"/>
                <a:cs typeface="Times New Roman"/>
              </a:rPr>
              <a:t>.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s"run</a:t>
            </a:r>
            <a:r>
              <a:rPr sz="650" spc="-30" dirty="0">
                <a:solidFill>
                  <a:srgbClr val="5D5B5B"/>
                </a:solidFill>
                <a:latin typeface="Times New Roman"/>
                <a:cs typeface="Times New Roman"/>
              </a:rPr>
              <a:t>time</a:t>
            </a:r>
            <a:r>
              <a:rPr sz="650" spc="-30" dirty="0">
                <a:solidFill>
                  <a:srgbClr val="706D6D"/>
                </a:solidFill>
                <a:latin typeface="Times New Roman"/>
                <a:cs typeface="Times New Roman"/>
              </a:rPr>
              <a:t>on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slmulatOJjMd</a:t>
            </a:r>
            <a:r>
              <a:rPr sz="650" spc="-1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-20" dirty="0">
                <a:solidFill>
                  <a:srgbClr val="706D6D"/>
                </a:solidFill>
                <a:latin typeface="Times New Roman"/>
                <a:cs typeface="Times New Roman"/>
              </a:rPr>
              <a:t>real</a:t>
            </a:r>
            <a:r>
              <a:rPr sz="650" spc="-20" dirty="0">
                <a:solidFill>
                  <a:srgbClr val="5D5B5B"/>
                </a:solidFill>
                <a:latin typeface="Times New Roman"/>
                <a:cs typeface="Times New Roman"/>
              </a:rPr>
              <a:t>q</a:t>
            </a:r>
            <a:r>
              <a:rPr sz="650" spc="-20" dirty="0">
                <a:solidFill>
                  <a:srgbClr val="7E7C7C"/>
                </a:solidFill>
                <a:latin typeface="Times New Roman"/>
                <a:cs typeface="Times New Roman"/>
              </a:rPr>
              <a:t>uantum</a:t>
            </a:r>
            <a:r>
              <a:rPr sz="650" spc="-5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06D6D"/>
                </a:solidFill>
                <a:latin typeface="Times New Roman"/>
                <a:cs typeface="Times New Roman"/>
              </a:rPr>
              <a:t>computer</a:t>
            </a:r>
            <a:r>
              <a:rPr sz="650" dirty="0">
                <a:solidFill>
                  <a:srgbClr val="979797"/>
                </a:solidFill>
                <a:latin typeface="Times New Roman"/>
                <a:cs typeface="Times New Roman"/>
              </a:rPr>
              <a:t>s..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Tht:".</a:t>
            </a:r>
            <a:r>
              <a:rPr sz="600" spc="350" dirty="0">
                <a:solidFill>
                  <a:srgbClr val="706D6D"/>
                </a:solidFill>
                <a:latin typeface="Times New Roman"/>
                <a:cs typeface="Times New Roman"/>
              </a:rPr>
              <a:t>  </a:t>
            </a:r>
            <a:r>
              <a:rPr sz="650" spc="-30" dirty="0">
                <a:solidFill>
                  <a:srgbClr val="5D5B5B"/>
                </a:solidFill>
                <a:latin typeface="Times New Roman"/>
                <a:cs typeface="Times New Roman"/>
              </a:rPr>
              <a:t>i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ntr</a:t>
            </a:r>
            <a:r>
              <a:rPr sz="650" spc="-30" dirty="0">
                <a:solidFill>
                  <a:srgbClr val="5D5B5B"/>
                </a:solidFill>
                <a:latin typeface="Times New Roman"/>
                <a:cs typeface="Times New Roman"/>
              </a:rPr>
              <a:t>odu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ec</a:t>
            </a:r>
            <a:r>
              <a:rPr sz="650" spc="-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an</a:t>
            </a:r>
            <a:r>
              <a:rPr sz="650" spc="-4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50" dirty="0">
                <a:solidFill>
                  <a:srgbClr val="7E7C7C"/>
                </a:solidFill>
                <a:latin typeface="Times New Roman"/>
                <a:cs typeface="Times New Roman"/>
              </a:rPr>
              <a:t>ln</a:t>
            </a:r>
            <a:r>
              <a:rPr sz="650" spc="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40" dirty="0">
                <a:solidFill>
                  <a:srgbClr val="7E7C7C"/>
                </a:solidFill>
                <a:latin typeface="Times New Roman"/>
                <a:cs typeface="Times New Roman"/>
              </a:rPr>
              <a:t>·ative</a:t>
            </a:r>
            <a:endParaRPr sz="650">
              <a:latin typeface="Times New Roman"/>
              <a:cs typeface="Times New Roman"/>
            </a:endParaRPr>
          </a:p>
          <a:p>
            <a:pPr marL="219710" marR="35560" indent="1905">
              <a:lnSpc>
                <a:spcPts val="680"/>
              </a:lnSpc>
              <a:spcBef>
                <a:spcPts val="15"/>
              </a:spcBef>
            </a:pP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m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ethod</a:t>
            </a:r>
            <a:r>
              <a:rPr sz="600" spc="7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ha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550" spc="-2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e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mplop</a:t>
            </a:r>
            <a:r>
              <a:rPr sz="600" spc="34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45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600" spc="-45" dirty="0">
                <a:solidFill>
                  <a:srgbClr val="7E7C7C"/>
                </a:solidFill>
                <a:latin typeface="Times New Roman"/>
                <a:cs typeface="Times New Roman"/>
              </a:rPr>
              <a:t>1;tmph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35" dirty="0">
                <a:solidFill>
                  <a:srgbClr val="5D5B5B"/>
                </a:solidFill>
                <a:latin typeface="Times New Roman"/>
                <a:cs typeface="Times New Roman"/>
              </a:rPr>
              <a:t>tra:n.,</a:t>
            </a:r>
            <a:r>
              <a:rPr sz="600" spc="-35" dirty="0">
                <a:solidFill>
                  <a:srgbClr val="7E7C7C"/>
                </a:solidFill>
                <a:latin typeface="Times New Roman"/>
                <a:cs typeface="Times New Roman"/>
              </a:rPr>
              <a:t>fo</a:t>
            </a:r>
            <a:r>
              <a:rPr sz="600" spc="-35" dirty="0">
                <a:solidFill>
                  <a:srgbClr val="5D5B5B"/>
                </a:solidFill>
                <a:latin typeface="Times New Roman"/>
                <a:cs typeface="Times New Roman"/>
              </a:rPr>
              <a:t>tmc."l'</a:t>
            </a:r>
            <a:r>
              <a:rPr sz="600" spc="-35" dirty="0">
                <a:solidFill>
                  <a:srgbClr val="979797"/>
                </a:solidFill>
                <a:latin typeface="Times New Roman"/>
                <a:cs typeface="Times New Roman"/>
              </a:rPr>
              <a:t>·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boucd</a:t>
            </a:r>
            <a:r>
              <a:rPr sz="550" spc="-35" dirty="0">
                <a:solidFill>
                  <a:srgbClr val="706D6D"/>
                </a:solidFill>
                <a:latin typeface="Times New Roman"/>
                <a:cs typeface="Times New Roman"/>
              </a:rPr>
              <a:t>mode</a:t>
            </a:r>
            <a:r>
              <a:rPr sz="550" spc="-35" dirty="0">
                <a:solidFill>
                  <a:srgbClr val="4D4949"/>
                </a:solidFill>
                <a:latin typeface="Times New Roman"/>
                <a:cs typeface="Times New Roman"/>
              </a:rPr>
              <a:t>l</a:t>
            </a:r>
            <a:r>
              <a:rPr sz="550" spc="-35" dirty="0">
                <a:solidFill>
                  <a:srgbClr val="979797"/>
                </a:solidFill>
                <a:latin typeface="Times New Roman"/>
                <a:cs typeface="Times New Roman"/>
              </a:rPr>
              <a:t>,</a:t>
            </a:r>
            <a:r>
              <a:rPr sz="550" spc="35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uti!Wng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the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gru.ph</a:t>
            </a:r>
            <a:r>
              <a:rPr sz="600" spc="-3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i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nfarmation</a:t>
            </a:r>
            <a:r>
              <a:rPr sz="600" spc="-4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60" dirty="0">
                <a:solidFill>
                  <a:srgbClr val="7E7C7C"/>
                </a:solidFill>
                <a:latin typeface="Times New Roman"/>
                <a:cs typeface="Times New Roman"/>
              </a:rPr>
              <a:t>1</a:t>
            </a:r>
            <a:r>
              <a:rPr sz="600" spc="-60" dirty="0">
                <a:solidFill>
                  <a:srgbClr val="5D5B5B"/>
                </a:solidFill>
                <a:latin typeface="Times New Roman"/>
                <a:cs typeface="Times New Roman"/>
              </a:rPr>
              <a:t>m</a:t>
            </a:r>
            <a:r>
              <a:rPr sz="600" spc="-60" dirty="0">
                <a:solidFill>
                  <a:srgbClr val="7E7C7C"/>
                </a:solidFill>
                <a:latin typeface="Times New Roman"/>
                <a:cs typeface="Times New Roman"/>
              </a:rPr>
              <a:t>d</a:t>
            </a:r>
            <a:r>
              <a:rPr sz="600" spc="3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65" dirty="0">
                <a:solidFill>
                  <a:srgbClr val="7E7C7C"/>
                </a:solidFill>
                <a:latin typeface="Times New Roman"/>
                <a:cs typeface="Times New Roman"/>
              </a:rPr>
              <a:t>gjc&gt;bnl</a:t>
            </a:r>
            <a:r>
              <a:rPr sz="600" spc="-2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4D4949"/>
                </a:solidFill>
                <a:latin typeface="Times New Roman"/>
                <a:cs typeface="Times New Roman"/>
              </a:rPr>
              <a:t>in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formation</a:t>
            </a:r>
            <a:r>
              <a:rPr sz="600" spc="50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or</a:t>
            </a:r>
            <a:r>
              <a:rPr sz="600" spc="1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quantwn</a:t>
            </a:r>
            <a:r>
              <a:rPr sz="600" spc="-4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Arial"/>
                <a:cs typeface="Arial"/>
              </a:rPr>
              <a:t>drwl.l'l</a:t>
            </a:r>
            <a:r>
              <a:rPr sz="600" spc="-65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IO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tseinWc</a:t>
            </a:r>
            <a:r>
              <a:rPr sz="600" spc="-6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th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cit</a:t>
            </a:r>
            <a:r>
              <a:rPr sz="600" spc="3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exttulion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spc="-45" dirty="0">
                <a:solidFill>
                  <a:srgbClr val="7E7C7C"/>
                </a:solidFill>
                <a:latin typeface="Times New Roman"/>
                <a:cs typeface="Times New Roman"/>
              </a:rPr>
              <a:t>till'I('.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W</a:t>
            </a:r>
            <a:r>
              <a:rPr sz="600" spc="270" dirty="0">
                <a:solidFill>
                  <a:srgbClr val="706D6D"/>
                </a:solidFill>
                <a:latin typeface="Times New Roman"/>
                <a:cs typeface="Times New Roman"/>
              </a:rPr>
              <a:t>  </a:t>
            </a:r>
            <a:r>
              <a:rPr sz="650" spc="105" dirty="0">
                <a:solidFill>
                  <a:srgbClr val="7E7C7C"/>
                </a:solidFill>
                <a:latin typeface="Arial"/>
                <a:cs typeface="Arial"/>
              </a:rPr>
              <a:t>cd«I</a:t>
            </a:r>
            <a:r>
              <a:rPr sz="650" spc="105" dirty="0">
                <a:solidFill>
                  <a:srgbClr val="706D6D"/>
                </a:solidFill>
                <a:latin typeface="Arial"/>
                <a:cs typeface="Arial"/>
              </a:rPr>
              <a:t>•</a:t>
            </a:r>
            <a:r>
              <a:rPr sz="650" spc="5" dirty="0">
                <a:solidFill>
                  <a:srgbClr val="706D6D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btnchn1at</a:t>
            </a:r>
            <a:r>
              <a:rPr sz="600" spc="-10" dirty="0">
                <a:solidFill>
                  <a:srgbClr val="4D4949"/>
                </a:solidFill>
                <a:latin typeface="Times New Roman"/>
                <a:cs typeface="Times New Roman"/>
              </a:rPr>
              <a:t>k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datase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00" spc="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706D6D"/>
                </a:solidFill>
                <a:latin typeface="Times New Roman"/>
                <a:cs typeface="Times New Roman"/>
              </a:rPr>
              <a:t>co</a:t>
            </a:r>
            <a:r>
              <a:rPr sz="600" spc="-25" dirty="0">
                <a:solidFill>
                  <a:srgbClr val="4D4949"/>
                </a:solidFill>
                <a:latin typeface="Times New Roman"/>
                <a:cs typeface="Times New Roman"/>
              </a:rPr>
              <a:t>1</a:t>
            </a:r>
            <a:r>
              <a:rPr sz="600" spc="-25" dirty="0">
                <a:solidFill>
                  <a:srgbClr val="706D6D"/>
                </a:solidFill>
                <a:latin typeface="Times New Roman"/>
                <a:cs typeface="Times New Roman"/>
              </a:rPr>
              <a:t>nprising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i="1" dirty="0">
                <a:solidFill>
                  <a:srgbClr val="706D6D"/>
                </a:solidFill>
                <a:latin typeface="Times New Roman"/>
                <a:cs typeface="Times New Roman"/>
              </a:rPr>
              <a:t>ovct</a:t>
            </a:r>
            <a:r>
              <a:rPr sz="600" i="1" spc="1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l.S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I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O</a:t>
            </a:r>
            <a:endParaRPr sz="600">
              <a:latin typeface="Times New Roman"/>
              <a:cs typeface="Times New Roman"/>
            </a:endParaRPr>
          </a:p>
          <a:p>
            <a:pPr marL="215900" marR="30480" indent="3810">
              <a:lnSpc>
                <a:spcPct val="98000"/>
              </a:lnSpc>
              <a:spcBef>
                <a:spcPts val="30"/>
              </a:spcBef>
            </a:pPr>
            <a:r>
              <a:rPr sz="550" spc="60" dirty="0">
                <a:solidFill>
                  <a:srgbClr val="7E7C7C"/>
                </a:solidFill>
                <a:latin typeface="Times New Roman"/>
                <a:cs typeface="Times New Roman"/>
              </a:rPr>
              <a:t>q</a:t>
            </a:r>
            <a:r>
              <a:rPr sz="550" spc="7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spc="65" dirty="0">
                <a:solidFill>
                  <a:srgbClr val="5D5B5B"/>
                </a:solidFill>
                <a:latin typeface="Times New Roman"/>
                <a:cs typeface="Times New Roman"/>
              </a:rPr>
              <a:t>nh1m</a:t>
            </a:r>
            <a:r>
              <a:rPr sz="550" spc="1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ciraiits;,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i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550" dirty="0">
                <a:solidFill>
                  <a:srgbClr val="363434"/>
                </a:solidFill>
                <a:latin typeface="Times New Roman"/>
                <a:cs typeface="Times New Roman"/>
              </a:rPr>
              <a:t>i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lU.</a:t>
            </a:r>
            <a:r>
              <a:rPr sz="550" dirty="0">
                <a:solidFill>
                  <a:srgbClr val="363434"/>
                </a:solidFill>
                <a:latin typeface="Times New Roman"/>
                <a:cs typeface="Times New Roman"/>
              </a:rPr>
              <a:t>l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ty</a:t>
            </a:r>
            <a:r>
              <a:rPr sz="550" spc="4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706D6D"/>
                </a:solidFill>
                <a:latin typeface="Times New Roman"/>
                <a:cs typeface="Times New Roman"/>
              </a:rPr>
              <a:t>pmdict:ing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-40" dirty="0">
                <a:solidFill>
                  <a:srgbClr val="4D4949"/>
                </a:solidFill>
                <a:latin typeface="Times New Roman"/>
                <a:cs typeface="Times New Roman"/>
              </a:rPr>
              <a:t>t</a:t>
            </a:r>
            <a:r>
              <a:rPr sz="550" spc="-40" dirty="0">
                <a:solidFill>
                  <a:srgbClr val="706D6D"/>
                </a:solidFill>
                <a:latin typeface="Times New Roman"/>
                <a:cs typeface="Times New Roman"/>
              </a:rPr>
              <a:t>h&lt;:ir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execu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tion</a:t>
            </a:r>
            <a:r>
              <a:rPr sz="600" spc="2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20" dirty="0">
                <a:solidFill>
                  <a:srgbClr val="4D4949"/>
                </a:solidFill>
                <a:latin typeface="Times New Roman"/>
                <a:cs typeface="Times New Roman"/>
              </a:rPr>
              <a:t>ti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mes</a:t>
            </a:r>
            <a:r>
              <a:rPr sz="600" spc="-3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on</a:t>
            </a:r>
            <a:r>
              <a:rPr sz="600" spc="4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s.i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mu</a:t>
            </a:r>
            <a:r>
              <a:rPr sz="550" spc="6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an.</a:t>
            </a:r>
            <a:r>
              <a:rPr sz="550" spc="27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••hich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y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i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t'lded</a:t>
            </a:r>
            <a:r>
              <a:rPr sz="600" spc="-4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promising</a:t>
            </a:r>
            <a:r>
              <a:rPr sz="600" spc="-2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r</a:t>
            </a:r>
            <a:r>
              <a:rPr sz="550" spc="-10" dirty="0">
                <a:solidFill>
                  <a:srgbClr val="7E7C7C"/>
                </a:solidFill>
                <a:latin typeface="Times New Roman"/>
                <a:cs typeface="Times New Roman"/>
              </a:rPr>
              <a:t>«ilfl.5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wi</a:t>
            </a:r>
            <a:r>
              <a:rPr sz="550" spc="-10" dirty="0">
                <a:solidFill>
                  <a:srgbClr val="4D4949"/>
                </a:solidFill>
                <a:latin typeface="Times New Roman"/>
                <a:cs typeface="Times New Roman"/>
              </a:rPr>
              <a:t>th</a:t>
            </a:r>
            <a:r>
              <a:rPr sz="550" spc="500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450" dirty="0">
                <a:solidFill>
                  <a:srgbClr val="706D6D"/>
                </a:solidFill>
                <a:latin typeface="Times New Roman"/>
                <a:cs typeface="Times New Roman"/>
              </a:rPr>
              <a:t>11J1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R"5quared</a:t>
            </a:r>
            <a:r>
              <a:rPr sz="600" dirty="0">
                <a:solidFill>
                  <a:srgbClr val="706D6D"/>
                </a:solidFill>
                <a:latin typeface="Arial"/>
                <a:cs typeface="Arial"/>
              </a:rPr>
              <a:t>'</a:t>
            </a:r>
            <a:r>
              <a:rPr sz="600" dirty="0">
                <a:solidFill>
                  <a:srgbClr val="979797"/>
                </a:solidFill>
                <a:latin typeface="Arial"/>
                <a:cs typeface="Arial"/>
              </a:rPr>
              <a:t>'</a:t>
            </a:r>
            <a:r>
              <a:rPr sz="600" dirty="0">
                <a:solidFill>
                  <a:srgbClr val="706D6D"/>
                </a:solidFill>
                <a:latin typeface="Arial"/>
                <a:cs typeface="Arial"/>
              </a:rPr>
              <a:t>all.IC</a:t>
            </a:r>
            <a:r>
              <a:rPr sz="450" dirty="0">
                <a:solidFill>
                  <a:srgbClr val="7E7C7C"/>
                </a:solidFill>
                <a:latin typeface="Arial"/>
                <a:cs typeface="Arial"/>
              </a:rPr>
              <a:t>gi'Utet</a:t>
            </a:r>
            <a:r>
              <a:rPr sz="450" spc="-25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II.an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955.S</a:t>
            </a:r>
            <a:r>
              <a:rPr sz="600" spc="-20" dirty="0">
                <a:solidFill>
                  <a:srgbClr val="5D5B5B"/>
                </a:solidFill>
                <a:latin typeface="Times New Roman"/>
                <a:cs typeface="Times New Roman"/>
              </a:rPr>
              <a:t>ubsitq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m-</a:t>
            </a:r>
            <a:r>
              <a:rPr sz="600" spc="-50" dirty="0">
                <a:solidFill>
                  <a:srgbClr val="7E7C7C"/>
                </a:solidFill>
                <a:latin typeface="Times New Roman"/>
                <a:cs typeface="Times New Roman"/>
              </a:rPr>
              <a:t>:n</a:t>
            </a:r>
            <a:r>
              <a:rPr sz="600" spc="-50" dirty="0">
                <a:solidFill>
                  <a:srgbClr val="4D4949"/>
                </a:solidFill>
                <a:latin typeface="Times New Roman"/>
                <a:cs typeface="Times New Roman"/>
              </a:rPr>
              <a:t>ll</a:t>
            </a:r>
            <a:r>
              <a:rPr sz="600" spc="-50" dirty="0">
                <a:solidFill>
                  <a:srgbClr val="7E7C7C"/>
                </a:solidFill>
                <a:latin typeface="Times New Roman"/>
                <a:cs typeface="Times New Roman"/>
              </a:rPr>
              <a:t>•</a:t>
            </a:r>
            <a:r>
              <a:rPr sz="600" spc="-50" dirty="0">
                <a:solidFill>
                  <a:srgbClr val="706D6D"/>
                </a:solidFill>
                <a:latin typeface="Times New Roman"/>
                <a:cs typeface="Times New Roman"/>
              </a:rPr>
              <a:t>y</a:t>
            </a:r>
            <a:r>
              <a:rPr sz="600" spc="26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5D5B5B"/>
                </a:solidFill>
                <a:latin typeface="Times New Roman"/>
                <a:cs typeface="Times New Roman"/>
              </a:rPr>
              <a:t>.,.,,,,.</a:t>
            </a:r>
            <a:r>
              <a:rPr sz="600" spc="-25" dirty="0">
                <a:solidFill>
                  <a:srgbClr val="7E7C7C"/>
                </a:solidFill>
                <a:latin typeface="Times New Roman"/>
                <a:cs typeface="Times New Roman"/>
              </a:rPr>
              <a:t>a</a:t>
            </a:r>
            <a:r>
              <a:rPr sz="600" spc="-25" dirty="0">
                <a:solidFill>
                  <a:srgbClr val="5D5B5B"/>
                </a:solidFill>
                <a:latin typeface="Times New Roman"/>
                <a:cs typeface="Times New Roman"/>
              </a:rPr>
              <a:t>pp</a:t>
            </a:r>
            <a:r>
              <a:rPr sz="600" spc="-25" dirty="0">
                <a:solidFill>
                  <a:srgbClr val="7E7C7C"/>
                </a:solidFill>
                <a:latin typeface="Times New Roman"/>
                <a:cs typeface="Times New Roman"/>
              </a:rPr>
              <a:t>lkd</a:t>
            </a:r>
            <a:r>
              <a:rPr sz="600" spc="7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adh't'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lear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ing</a:t>
            </a:r>
            <a:r>
              <a:rPr sz="600" spc="22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o</a:t>
            </a:r>
            <a:r>
              <a:rPr sz="600" spc="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sc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l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tt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t</a:t>
            </a:r>
            <a:r>
              <a:rPr sz="600" spc="75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340</a:t>
            </a:r>
            <a:r>
              <a:rPr sz="550" spc="-10" dirty="0">
                <a:solidFill>
                  <a:srgbClr val="706D6D"/>
                </a:solidFill>
                <a:latin typeface="Arial"/>
                <a:cs typeface="Arial"/>
              </a:rPr>
              <a:t>circui1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.sa.111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p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ks</a:t>
            </a:r>
            <a:r>
              <a:rPr sz="600" spc="50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with</a:t>
            </a:r>
            <a:r>
              <a:rPr sz="550" spc="-5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a</a:t>
            </a:r>
            <a:r>
              <a:rPr sz="550" spc="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confidence</a:t>
            </a:r>
            <a:r>
              <a:rPr sz="550" spc="8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k\-</a:t>
            </a:r>
            <a:r>
              <a:rPr sz="550" spc="55" dirty="0">
                <a:solidFill>
                  <a:srgbClr val="7E7C7C"/>
                </a:solidFill>
                <a:latin typeface="Times New Roman"/>
                <a:cs typeface="Times New Roman"/>
              </a:rPr>
              <a:t>d</a:t>
            </a:r>
            <a:r>
              <a:rPr sz="500" i="1" spc="55" dirty="0">
                <a:solidFill>
                  <a:srgbClr val="7E7C7C"/>
                </a:solidFill>
                <a:latin typeface="Arial"/>
                <a:cs typeface="Arial"/>
              </a:rPr>
              <a:t>o</a:t>
            </a:r>
            <a:r>
              <a:rPr sz="500" i="1" spc="55" dirty="0">
                <a:solidFill>
                  <a:srgbClr val="5D5B5B"/>
                </a:solidFill>
                <a:latin typeface="Arial"/>
                <a:cs typeface="Arial"/>
              </a:rPr>
              <a:t>(</a:t>
            </a:r>
            <a:r>
              <a:rPr sz="500" i="1" spc="50" dirty="0">
                <a:solidFill>
                  <a:srgbClr val="5D5B5B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9S</a:t>
            </a:r>
            <a:r>
              <a:rPr sz="550" dirty="0">
                <a:solidFill>
                  <a:srgbClr val="979797"/>
                </a:solidFill>
                <a:latin typeface="Times New Roman"/>
                <a:cs typeface="Times New Roman"/>
              </a:rPr>
              <a:t>$</a:t>
            </a:r>
            <a:r>
              <a:rPr sz="550" spc="180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l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o</a:t>
            </a:r>
            <a:r>
              <a:rPr sz="550" spc="2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b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uild</a:t>
            </a:r>
            <a:r>
              <a:rPr sz="550" spc="10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and</a:t>
            </a:r>
            <a:r>
              <a:rPr sz="550" spc="10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evalulllc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our</a:t>
            </a:r>
            <a:r>
              <a:rPr sz="550" spc="15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a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pprl»Ch</a:t>
            </a:r>
            <a:r>
              <a:rPr sz="600" spc="-5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00" i="1" dirty="0">
                <a:solidFill>
                  <a:srgbClr val="706D6D"/>
                </a:solidFill>
                <a:latin typeface="Arial"/>
                <a:cs typeface="Arial"/>
              </a:rPr>
              <a:t>(Of</a:t>
            </a:r>
            <a:r>
              <a:rPr sz="500" i="1" spc="65" dirty="0">
                <a:solidFill>
                  <a:srgbClr val="706D6D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the</a:t>
            </a:r>
            <a:r>
              <a:rPr sz="550" spc="12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eti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)ll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lion</a:t>
            </a:r>
            <a:r>
              <a:rPr sz="550" spc="7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00" i="1" dirty="0">
                <a:solidFill>
                  <a:srgbClr val="706D6D"/>
                </a:solidFill>
                <a:latin typeface="Arial"/>
                <a:cs typeface="Arial"/>
              </a:rPr>
              <a:t>o(</a:t>
            </a:r>
            <a:r>
              <a:rPr sz="500" i="1" spc="50" dirty="0">
                <a:solidFill>
                  <a:srgbClr val="706D6D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dnm.it</a:t>
            </a:r>
            <a:r>
              <a:rPr sz="550" spc="-4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cxt-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cu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ti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on</a:t>
            </a:r>
            <a:r>
              <a:rPr sz="550" spc="10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tiillCS</a:t>
            </a:r>
            <a:r>
              <a:rPr sz="550" spc="50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on</a:t>
            </a:r>
            <a:r>
              <a:rPr sz="600" spc="5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35" dirty="0">
                <a:solidFill>
                  <a:srgbClr val="7E7C7C"/>
                </a:solidFill>
                <a:latin typeface="Times New Roman"/>
                <a:cs typeface="Times New Roman"/>
              </a:rPr>
              <a:t>qmu\t\1m</a:t>
            </a:r>
            <a:r>
              <a:rPr sz="600" spc="-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(Ofl)P'JICf</a:t>
            </a:r>
            <a:r>
              <a:rPr sz="600" spc="-30" dirty="0">
                <a:solidFill>
                  <a:srgbClr val="979797"/>
                </a:solidFill>
                <a:latin typeface="Times New Roman"/>
                <a:cs typeface="Times New Roman"/>
              </a:rPr>
              <a:t>$.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.chicYing</a:t>
            </a:r>
            <a:r>
              <a:rPr sz="600" spc="-9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811</a:t>
            </a:r>
            <a:r>
              <a:rPr sz="600" spc="-20" dirty="0">
                <a:solidFill>
                  <a:srgbClr val="5D5B5B"/>
                </a:solidFill>
                <a:latin typeface="Times New Roman"/>
                <a:cs typeface="Times New Roman"/>
              </a:rPr>
              <a:t>av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crag</a:t>
            </a:r>
            <a:r>
              <a:rPr sz="600" spc="3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229" dirty="0">
                <a:solidFill>
                  <a:srgbClr val="4D4949"/>
                </a:solidFill>
                <a:latin typeface="Times New Roman"/>
                <a:cs typeface="Times New Roman"/>
              </a:rPr>
              <a:t>R</a:t>
            </a:r>
            <a:r>
              <a:rPr sz="600" spc="229" dirty="0">
                <a:solidFill>
                  <a:srgbClr val="AEAEAE"/>
                </a:solidFill>
                <a:latin typeface="Times New Roman"/>
                <a:cs typeface="Times New Roman"/>
              </a:rPr>
              <a:t>·</a:t>
            </a:r>
            <a:r>
              <a:rPr sz="600" spc="170" dirty="0">
                <a:solidFill>
                  <a:srgbClr val="AEAEAE"/>
                </a:solidFill>
                <a:latin typeface="Times New Roman"/>
                <a:cs typeface="Times New Roman"/>
              </a:rPr>
              <a:t> </a:t>
            </a:r>
            <a:r>
              <a:rPr sz="600" spc="215" dirty="0">
                <a:solidFill>
                  <a:srgbClr val="7E7C7C"/>
                </a:solidFill>
                <a:latin typeface="Times New Roman"/>
                <a:cs typeface="Times New Roman"/>
              </a:rPr>
              <a:t>cd</a:t>
            </a:r>
            <a:r>
              <a:rPr sz="600" spc="1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80" dirty="0">
                <a:solidFill>
                  <a:srgbClr val="706D6D"/>
                </a:solidFill>
                <a:latin typeface="Times New Roman"/>
                <a:cs typeface="Times New Roman"/>
              </a:rPr>
              <a:t>V'&amp;lue</a:t>
            </a:r>
            <a:r>
              <a:rPr sz="600" spc="-80" dirty="0">
                <a:solidFill>
                  <a:srgbClr val="7E7C7C"/>
                </a:solidFill>
                <a:latin typeface="Times New Roman"/>
                <a:cs typeface="Times New Roman"/>
              </a:rPr>
              <a:t>ie:1u..&lt;tcding</a:t>
            </a:r>
            <a:r>
              <a:rPr sz="600" spc="-9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00" i="1" spc="-10" dirty="0">
                <a:solidFill>
                  <a:srgbClr val="7E7C7C"/>
                </a:solidFill>
                <a:latin typeface="Arial"/>
                <a:cs typeface="Arial"/>
              </a:rPr>
              <a:t>90$.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Ourapproach</a:t>
            </a:r>
            <a:r>
              <a:rPr sz="350" spc="-10" dirty="0">
                <a:solidFill>
                  <a:srgbClr val="7E7C7C"/>
                </a:solidFill>
                <a:latin typeface="Arial"/>
                <a:cs typeface="Arial"/>
              </a:rPr>
              <a:t>('&amp;I)</a:t>
            </a:r>
            <a:r>
              <a:rPr sz="600" spc="-10" dirty="0">
                <a:solidFill>
                  <a:srgbClr val="7E7C7C"/>
                </a:solidFill>
                <a:latin typeface="Arial"/>
                <a:cs typeface="Arial"/>
              </a:rPr>
              <a:t>bt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in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q;n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c:4</a:t>
            </a:r>
            <a:r>
              <a:rPr sz="600" spc="500" dirty="0">
                <a:solidFill>
                  <a:srgbClr val="7E7C7C"/>
                </a:solidFill>
                <a:latin typeface="Times New Roman"/>
                <a:cs typeface="Times New Roman"/>
              </a:rPr>
              <a:t>  </a:t>
            </a:r>
            <a:r>
              <a:rPr sz="600" spc="-50" dirty="0">
                <a:solidFill>
                  <a:srgbClr val="5D5B5B"/>
                </a:solidFill>
                <a:latin typeface="Times New Roman"/>
                <a:cs typeface="Times New Roman"/>
              </a:rPr>
              <a:t>intoqu1111tum</a:t>
            </a:r>
            <a:r>
              <a:rPr sz="600" spc="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oomputiu£</a:t>
            </a:r>
            <a:r>
              <a:rPr sz="550" spc="-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70" dirty="0">
                <a:solidFill>
                  <a:srgbClr val="706D6D"/>
                </a:solidFill>
                <a:latin typeface="Times New Roman"/>
                <a:cs typeface="Times New Roman"/>
              </a:rPr>
              <a:t>pl11t(ormJ1</a:t>
            </a:r>
            <a:r>
              <a:rPr sz="600" spc="-5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to</a:t>
            </a:r>
            <a:r>
              <a:rPr sz="600" spc="27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provide</a:t>
            </a:r>
            <a:r>
              <a:rPr sz="600" spc="-4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an</a:t>
            </a:r>
            <a:r>
              <a:rPr sz="600" spc="3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acauatc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e.'llimlltioa </a:t>
            </a:r>
            <a:r>
              <a:rPr sz="600" i="1" dirty="0">
                <a:solidFill>
                  <a:srgbClr val="7E7C7C"/>
                </a:solidFill>
                <a:latin typeface="Arial"/>
                <a:cs typeface="Arial"/>
              </a:rPr>
              <a:t>ol</a:t>
            </a:r>
            <a:r>
              <a:rPr sz="600" i="1" spc="150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quantum</a:t>
            </a:r>
            <a:r>
              <a:rPr sz="600" spc="-4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acc:utioo</a:t>
            </a:r>
            <a:r>
              <a:rPr sz="550" spc="8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20" dirty="0">
                <a:solidFill>
                  <a:srgbClr val="5D5B5B"/>
                </a:solidFill>
                <a:latin typeface="Times New Roman"/>
                <a:cs typeface="Times New Roman"/>
              </a:rPr>
              <a:t>tim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e</a:t>
            </a:r>
            <a:r>
              <a:rPr sz="600" spc="9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and</a:t>
            </a:r>
            <a:r>
              <a:rPr sz="600" spc="-10" dirty="0">
                <a:solidFill>
                  <a:srgbClr val="706D6D"/>
                </a:solidFill>
                <a:latin typeface="Arial"/>
                <a:cs typeface="Arial"/>
              </a:rPr>
              <a:t>be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u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sed</a:t>
            </a:r>
            <a:r>
              <a:rPr sz="600" spc="500" dirty="0">
                <a:solidFill>
                  <a:srgbClr val="7E7C7C"/>
                </a:solidFill>
                <a:latin typeface="Times New Roman"/>
                <a:cs typeface="Times New Roman"/>
              </a:rPr>
              <a:t>  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u</a:t>
            </a:r>
            <a:r>
              <a:rPr sz="650" spc="19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a</a:t>
            </a:r>
            <a:r>
              <a:rPr sz="650" spc="5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-20" dirty="0">
                <a:solidFill>
                  <a:srgbClr val="706D6D"/>
                </a:solidFill>
                <a:latin typeface="Times New Roman"/>
                <a:cs typeface="Times New Roman"/>
              </a:rPr>
              <a:t>rcfertnce</a:t>
            </a:r>
            <a:r>
              <a:rPr sz="650" spc="-8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for.,.-</a:t>
            </a:r>
            <a:r>
              <a:rPr sz="650" spc="-45" dirty="0">
                <a:solidFill>
                  <a:srgbClr val="7E7C7C"/>
                </a:solidFill>
                <a:latin typeface="Times New Roman"/>
                <a:cs typeface="Times New Roman"/>
              </a:rPr>
              <a:t>lori</a:t>
            </a:r>
            <a:r>
              <a:rPr sz="650" spc="-45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50" spc="-45" dirty="0">
                <a:solidFill>
                  <a:srgbClr val="7E7C7C"/>
                </a:solidFill>
                <a:latin typeface="Times New Roman"/>
                <a:cs typeface="Times New Roman"/>
              </a:rPr>
              <a:t>bJng</a:t>
            </a:r>
            <a:r>
              <a:rPr sz="650" spc="-45" dirty="0">
                <a:solidFill>
                  <a:srgbClr val="706D6D"/>
                </a:solidFill>
                <a:latin typeface="Times New Roman"/>
                <a:cs typeface="Times New Roman"/>
              </a:rPr>
              <a:t>quanrUfl'I</a:t>
            </a:r>
            <a:r>
              <a:rPr sz="650" spc="-7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dirty="0">
                <a:solidFill>
                  <a:srgbClr val="7E7C7C"/>
                </a:solidFill>
                <a:latin typeface="Times New Roman"/>
                <a:cs typeface="Times New Roman"/>
              </a:rPr>
              <a:t>exttu</a:t>
            </a:r>
            <a:r>
              <a:rPr sz="650" dirty="0">
                <a:solidFill>
                  <a:srgbClr val="5D5B5B"/>
                </a:solidFill>
                <a:latin typeface="Times New Roman"/>
                <a:cs typeface="Times New Roman"/>
              </a:rPr>
              <a:t>tlon</a:t>
            </a:r>
            <a:r>
              <a:rPr sz="650" spc="5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job9.</a:t>
            </a:r>
            <a:r>
              <a:rPr sz="550" spc="-30" dirty="0">
                <a:solidFill>
                  <a:srgbClr val="7E7C7C"/>
                </a:solidFill>
                <a:latin typeface="Arial"/>
                <a:cs typeface="Arial"/>
              </a:rPr>
              <a:t>ln</a:t>
            </a:r>
            <a:r>
              <a:rPr sz="550" spc="185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650" spc="-40" dirty="0">
                <a:solidFill>
                  <a:srgbClr val="706D6D"/>
                </a:solidFill>
                <a:latin typeface="Times New Roman"/>
                <a:cs typeface="Times New Roman"/>
              </a:rPr>
              <a:t>addlriofl</a:t>
            </a:r>
            <a:r>
              <a:rPr sz="650" spc="-40" dirty="0">
                <a:solidFill>
                  <a:srgbClr val="979797"/>
                </a:solidFill>
                <a:latin typeface="Times New Roman"/>
                <a:cs typeface="Times New Roman"/>
              </a:rPr>
              <a:t>,</a:t>
            </a:r>
            <a:r>
              <a:rPr sz="650" spc="5" dirty="0">
                <a:solidFill>
                  <a:srgbClr val="979797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7E7C7C"/>
                </a:solidFill>
                <a:latin typeface="Times New Roman"/>
                <a:cs typeface="Times New Roman"/>
              </a:rPr>
              <a:t>our</a:t>
            </a:r>
            <a:r>
              <a:rPr sz="650" spc="-10" dirty="0">
                <a:solidFill>
                  <a:srgbClr val="706D6D"/>
                </a:solidFill>
                <a:latin typeface="Times New Roman"/>
                <a:cs typeface="Times New Roman"/>
              </a:rPr>
              <a:t>flndl:nv</a:t>
            </a:r>
            <a:r>
              <a:rPr sz="650" spc="-3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spc="-55" dirty="0">
                <a:solidFill>
                  <a:srgbClr val="5D5B5B"/>
                </a:solidFill>
                <a:latin typeface="Times New Roman"/>
                <a:cs typeface="Times New Roman"/>
              </a:rPr>
              <a:t>pro</a:t>
            </a:r>
            <a:r>
              <a:rPr sz="650" spc="-55" dirty="0">
                <a:solidFill>
                  <a:srgbClr val="7E7C7C"/>
                </a:solidFill>
                <a:latin typeface="Times New Roman"/>
                <a:cs typeface="Times New Roman"/>
              </a:rPr>
              <a:t>videlns$gJt1$</a:t>
            </a:r>
            <a:r>
              <a:rPr sz="650" spc="-8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7E7C7C"/>
                </a:solidFill>
                <a:latin typeface="Times New Roman"/>
                <a:cs typeface="Times New Roman"/>
              </a:rPr>
              <a:t>for</a:t>
            </a:r>
            <a:r>
              <a:rPr sz="550" spc="-10" dirty="0">
                <a:solidFill>
                  <a:srgbClr val="706D6D"/>
                </a:solidFill>
                <a:latin typeface="Arial"/>
                <a:cs typeface="Arial"/>
              </a:rPr>
              <a:t>qulltltun1</a:t>
            </a:r>
            <a:r>
              <a:rPr sz="550" spc="500" dirty="0">
                <a:solidFill>
                  <a:srgbClr val="706D6D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pm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g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ram</a:t>
            </a:r>
            <a:r>
              <a:rPr sz="550" spc="5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dc\-clorc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rs</a:t>
            </a:r>
            <a:r>
              <a:rPr sz="550" spc="204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t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o</a:t>
            </a:r>
            <a:r>
              <a:rPr sz="600" spc="3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opi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m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ixc</a:t>
            </a:r>
            <a:r>
              <a:rPr sz="600" spc="-6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their</a:t>
            </a:r>
            <a:r>
              <a:rPr sz="600" spc="-4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circu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i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t</a:t>
            </a:r>
            <a:r>
              <a:rPr sz="600" spc="48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(nr</a:t>
            </a:r>
            <a:r>
              <a:rPr sz="600" spc="-4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reduced</a:t>
            </a:r>
            <a:r>
              <a:rPr sz="600" spc="-4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c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x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«i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rtion</a:t>
            </a:r>
            <a:r>
              <a:rPr sz="600" spc="5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time.</a:t>
            </a:r>
            <a:endParaRPr sz="600">
              <a:latin typeface="Times New Roman"/>
              <a:cs typeface="Times New Roman"/>
            </a:endParaRPr>
          </a:p>
          <a:p>
            <a:pPr marL="219710" marR="67945" indent="-635">
              <a:lnSpc>
                <a:spcPct val="100000"/>
              </a:lnSpc>
              <a:spcBef>
                <a:spcPts val="225"/>
              </a:spcBef>
            </a:pPr>
            <a:r>
              <a:rPr sz="650" spc="-25" dirty="0">
                <a:solidFill>
                  <a:srgbClr val="7E7C7C"/>
                </a:solidFill>
                <a:latin typeface="Times New Roman"/>
                <a:cs typeface="Times New Roman"/>
              </a:rPr>
              <a:t>CCSCoactpcs:</a:t>
            </a:r>
            <a:r>
              <a:rPr sz="650" spc="-6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363434"/>
                </a:solidFill>
                <a:latin typeface="Times New Roman"/>
                <a:cs typeface="Times New Roman"/>
              </a:rPr>
              <a:t>•</a:t>
            </a:r>
            <a:r>
              <a:rPr sz="650" spc="-70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So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flw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aTe</a:t>
            </a:r>
            <a:r>
              <a:rPr sz="600" spc="10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an</a:t>
            </a:r>
            <a:r>
              <a:rPr sz="550" dirty="0">
                <a:solidFill>
                  <a:srgbClr val="4D4949"/>
                </a:solidFill>
                <a:latin typeface="Times New Roman"/>
                <a:cs typeface="Times New Roman"/>
              </a:rPr>
              <a:t>d</a:t>
            </a:r>
            <a:r>
              <a:rPr sz="550" spc="114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650" spc="-10" dirty="0">
                <a:solidFill>
                  <a:srgbClr val="5D5B5B"/>
                </a:solidFill>
                <a:latin typeface="Times New Roman"/>
                <a:cs typeface="Times New Roman"/>
              </a:rPr>
              <a:t>Us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e1i.gi11ec-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ring: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-</a:t>
            </a:r>
            <a:r>
              <a:rPr sz="550" spc="180" dirty="0">
                <a:solidFill>
                  <a:srgbClr val="706D6D"/>
                </a:solidFill>
                <a:latin typeface="Times New Roman"/>
                <a:cs typeface="Times New Roman"/>
              </a:rPr>
              <a:t>  </a:t>
            </a:r>
            <a:r>
              <a:rPr sz="650" dirty="0">
                <a:solidFill>
                  <a:srgbClr val="5D5B5B"/>
                </a:solidFill>
                <a:latin typeface="Times New Roman"/>
                <a:cs typeface="Times New Roman"/>
              </a:rPr>
              <a:t>Software</a:t>
            </a:r>
            <a:r>
              <a:rPr sz="650" spc="1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363434"/>
                </a:solidFill>
                <a:latin typeface="Times New Roman"/>
                <a:cs typeface="Times New Roman"/>
              </a:rPr>
              <a:t>p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c-rfon11a11te:</a:t>
            </a:r>
            <a:r>
              <a:rPr sz="550" spc="1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363434"/>
                </a:solidFill>
                <a:latin typeface="Times New Roman"/>
                <a:cs typeface="Times New Roman"/>
              </a:rPr>
              <a:t>•</a:t>
            </a:r>
            <a:r>
              <a:rPr sz="550" spc="85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550" spc="50" dirty="0">
                <a:solidFill>
                  <a:srgbClr val="4D4949"/>
                </a:solidFill>
                <a:latin typeface="Times New Roman"/>
                <a:cs typeface="Times New Roman"/>
              </a:rPr>
              <a:t>H</a:t>
            </a:r>
            <a:r>
              <a:rPr sz="550" spc="50" dirty="0">
                <a:solidFill>
                  <a:srgbClr val="706D6D"/>
                </a:solidFill>
                <a:latin typeface="Times New Roman"/>
                <a:cs typeface="Times New Roman"/>
              </a:rPr>
              <a:t>ar</a:t>
            </a:r>
            <a:r>
              <a:rPr sz="550" spc="50" dirty="0">
                <a:solidFill>
                  <a:srgbClr val="363434"/>
                </a:solidFill>
                <a:latin typeface="Times New Roman"/>
                <a:cs typeface="Times New Roman"/>
              </a:rPr>
              <a:t>d</a:t>
            </a:r>
            <a:r>
              <a:rPr sz="550" spc="50" dirty="0">
                <a:solidFill>
                  <a:srgbClr val="5D5B5B"/>
                </a:solidFill>
                <a:latin typeface="Times New Roman"/>
                <a:cs typeface="Times New Roman"/>
              </a:rPr>
              <a:t>ware</a:t>
            </a:r>
            <a:r>
              <a:rPr sz="550" spc="13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-</a:t>
            </a:r>
            <a:r>
              <a:rPr sz="550" spc="40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spc="45" dirty="0">
                <a:solidFill>
                  <a:srgbClr val="5D5B5B"/>
                </a:solidFill>
                <a:latin typeface="Times New Roman"/>
                <a:cs typeface="Times New Roman"/>
              </a:rPr>
              <a:t>Qua</a:t>
            </a:r>
            <a:r>
              <a:rPr sz="550" spc="45" dirty="0">
                <a:solidFill>
                  <a:srgbClr val="363434"/>
                </a:solidFill>
                <a:latin typeface="Times New Roman"/>
                <a:cs typeface="Times New Roman"/>
              </a:rPr>
              <a:t>nt</a:t>
            </a:r>
            <a:r>
              <a:rPr sz="550" spc="45" dirty="0">
                <a:solidFill>
                  <a:srgbClr val="5D5B5B"/>
                </a:solidFill>
                <a:latin typeface="Times New Roman"/>
                <a:cs typeface="Times New Roman"/>
              </a:rPr>
              <a:t>um</a:t>
            </a:r>
            <a:r>
              <a:rPr sz="550" spc="50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706D6D"/>
                </a:solidFill>
                <a:latin typeface="Times New Roman"/>
                <a:cs typeface="Times New Roman"/>
              </a:rPr>
              <a:t>cc:</a:t>
            </a:r>
            <a:r>
              <a:rPr sz="550" spc="-10" dirty="0">
                <a:solidFill>
                  <a:srgbClr val="363434"/>
                </a:solidFill>
                <a:latin typeface="Times New Roman"/>
                <a:cs typeface="Times New Roman"/>
              </a:rPr>
              <a:t>u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nputat</a:t>
            </a:r>
            <a:r>
              <a:rPr sz="550" spc="-10" dirty="0">
                <a:solidFill>
                  <a:srgbClr val="363434"/>
                </a:solidFill>
                <a:latin typeface="Times New Roman"/>
                <a:cs typeface="Times New Roman"/>
              </a:rPr>
              <a:t>i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C)</a:t>
            </a:r>
            <a:r>
              <a:rPr sz="550" spc="-10" dirty="0">
                <a:solidFill>
                  <a:srgbClr val="363434"/>
                </a:solidFill>
                <a:latin typeface="Times New Roman"/>
                <a:cs typeface="Times New Roman"/>
              </a:rPr>
              <a:t>n</a:t>
            </a:r>
            <a:r>
              <a:rPr sz="550" spc="-10" dirty="0">
                <a:solidFill>
                  <a:srgbClr val="AEAEAE"/>
                </a:solidFill>
                <a:latin typeface="Times New Roman"/>
                <a:cs typeface="Times New Roman"/>
              </a:rPr>
              <a:t>.</a:t>
            </a:r>
            <a:endParaRPr sz="550">
              <a:latin typeface="Times New Roman"/>
              <a:cs typeface="Times New Roman"/>
            </a:endParaRPr>
          </a:p>
          <a:p>
            <a:pPr marL="220979" marR="48260" indent="635">
              <a:lnSpc>
                <a:spcPts val="680"/>
              </a:lnSpc>
              <a:spcBef>
                <a:spcPts val="345"/>
              </a:spcBef>
            </a:pPr>
            <a:r>
              <a:rPr sz="600" spc="-20" dirty="0">
                <a:solidFill>
                  <a:srgbClr val="706D6D"/>
                </a:solidFill>
                <a:latin typeface="Times New Roman"/>
                <a:cs typeface="Times New Roman"/>
              </a:rPr>
              <a:t>Additional</a:t>
            </a:r>
            <a:r>
              <a:rPr sz="600" spc="-6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i="1" spc="-40" dirty="0">
                <a:solidFill>
                  <a:srgbClr val="5D5B5B"/>
                </a:solidFill>
                <a:latin typeface="Arial"/>
                <a:cs typeface="Arial"/>
              </a:rPr>
              <a:t>Ke</a:t>
            </a:r>
            <a:r>
              <a:rPr sz="600" i="1" spc="-40" dirty="0">
                <a:solidFill>
                  <a:srgbClr val="7E7C7C"/>
                </a:solidFill>
                <a:latin typeface="Arial"/>
                <a:cs typeface="Arial"/>
              </a:rPr>
              <a:t>y</a:t>
            </a:r>
            <a:r>
              <a:rPr sz="600" i="1" spc="5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5D5B5B"/>
                </a:solidFill>
                <a:latin typeface="Times New Roman"/>
                <a:cs typeface="Times New Roman"/>
              </a:rPr>
              <a:t>W</a:t>
            </a:r>
            <a:r>
              <a:rPr sz="600" spc="-25" dirty="0">
                <a:solidFill>
                  <a:srgbClr val="7E7C7C"/>
                </a:solidFill>
                <a:latin typeface="Times New Roman"/>
                <a:cs typeface="Times New Roman"/>
              </a:rPr>
              <a:t>ords</a:t>
            </a:r>
            <a:r>
              <a:rPr sz="600" spc="-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and</a:t>
            </a:r>
            <a:r>
              <a:rPr sz="600" spc="1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45" dirty="0">
                <a:solidFill>
                  <a:srgbClr val="4D4949"/>
                </a:solidFill>
                <a:latin typeface="Times New Roman"/>
                <a:cs typeface="Times New Roman"/>
              </a:rPr>
              <a:t>Ph</a:t>
            </a:r>
            <a:r>
              <a:rPr sz="600" spc="-45" dirty="0">
                <a:solidFill>
                  <a:srgbClr val="7E7C7C"/>
                </a:solidFill>
                <a:latin typeface="Times New Roman"/>
                <a:cs typeface="Times New Roman"/>
              </a:rPr>
              <a:t>1WC$</a:t>
            </a:r>
            <a:r>
              <a:rPr sz="600" spc="45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spc="50" dirty="0">
                <a:solidFill>
                  <a:srgbClr val="706D6D"/>
                </a:solidFill>
                <a:latin typeface="Times New Roman"/>
                <a:cs typeface="Times New Roman"/>
              </a:rPr>
              <a:t>ntum</a:t>
            </a:r>
            <a:r>
              <a:rPr sz="600" spc="50" dirty="0">
                <a:solidFill>
                  <a:srgbClr val="7E7C7C"/>
                </a:solidFill>
                <a:latin typeface="Times New Roman"/>
                <a:cs typeface="Times New Roman"/>
              </a:rPr>
              <a:t>Computing.</a:t>
            </a:r>
            <a:r>
              <a:rPr sz="600" spc="50" dirty="0">
                <a:solidFill>
                  <a:srgbClr val="706D6D"/>
                </a:solidFill>
                <a:latin typeface="Times New Roman"/>
                <a:cs typeface="Times New Roman"/>
              </a:rPr>
              <a:t>Q-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.wit-</a:t>
            </a:r>
            <a:r>
              <a:rPr sz="600" spc="-40" dirty="0">
                <a:solidFill>
                  <a:srgbClr val="706D6D"/>
                </a:solidFill>
                <a:latin typeface="Times New Roman"/>
                <a:cs typeface="Times New Roman"/>
              </a:rPr>
              <a:t>.im</a:t>
            </a:r>
            <a:r>
              <a:rPr sz="600" spc="-5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7E7C7C"/>
                </a:solidFill>
                <a:latin typeface="Times New Roman"/>
                <a:cs typeface="Times New Roman"/>
              </a:rPr>
              <a:t>Cil'Qlits.</a:t>
            </a:r>
            <a:r>
              <a:rPr sz="600" spc="-25" dirty="0">
                <a:solidFill>
                  <a:srgbClr val="7E7C7C"/>
                </a:solidFill>
                <a:latin typeface="Times New Roman"/>
                <a:cs typeface="Times New Roman"/>
              </a:rPr>
              <a:t>Quantum</a:t>
            </a:r>
            <a:r>
              <a:rPr sz="600" spc="-4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Computer$.Qua11t\lm</a:t>
            </a:r>
            <a:r>
              <a:rPr sz="600" spc="50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35" dirty="0">
                <a:solidFill>
                  <a:srgbClr val="7E7C7C"/>
                </a:solidFill>
                <a:latin typeface="Times New Roman"/>
                <a:cs typeface="Times New Roman"/>
              </a:rPr>
              <a:t>Exccu</a:t>
            </a:r>
            <a:r>
              <a:rPr sz="600" spc="-35" dirty="0">
                <a:solidFill>
                  <a:srgbClr val="5D5B5B"/>
                </a:solidFill>
                <a:latin typeface="Times New Roman"/>
                <a:cs typeface="Times New Roman"/>
              </a:rPr>
              <a:t>tM&gt;c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T</a:t>
            </a:r>
            <a:r>
              <a:rPr sz="600" spc="-35" dirty="0">
                <a:solidFill>
                  <a:srgbClr val="5D5B5B"/>
                </a:solidFill>
                <a:latin typeface="Times New Roman"/>
                <a:cs typeface="Times New Roman"/>
              </a:rPr>
              <a:t>i</a:t>
            </a:r>
            <a:r>
              <a:rPr sz="600" spc="-35" dirty="0">
                <a:solidFill>
                  <a:srgbClr val="706D6D"/>
                </a:solidFill>
                <a:latin typeface="Times New Roman"/>
                <a:cs typeface="Times New Roman"/>
              </a:rPr>
              <a:t>ime,Gn1ph</a:t>
            </a:r>
            <a:r>
              <a:rPr sz="600" spc="4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4D4949"/>
                </a:solidFill>
                <a:latin typeface="Times New Roman"/>
                <a:cs typeface="Times New Roman"/>
              </a:rPr>
              <a:t>'rr</a:t>
            </a:r>
            <a:r>
              <a:rPr sz="600" spc="-10" dirty="0">
                <a:solidFill>
                  <a:srgbClr val="979797"/>
                </a:solidFill>
                <a:latin typeface="Times New Roman"/>
                <a:cs typeface="Times New Roman"/>
              </a:rPr>
              <a:t>·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.uuformcr</a:t>
            </a:r>
            <a:endParaRPr sz="600">
              <a:latin typeface="Times New Roman"/>
              <a:cs typeface="Times New Roman"/>
            </a:endParaRPr>
          </a:p>
          <a:p>
            <a:pPr marL="221615">
              <a:lnSpc>
                <a:spcPct val="100000"/>
              </a:lnSpc>
              <a:spcBef>
                <a:spcPts val="315"/>
              </a:spcBef>
            </a:pP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ACM</a:t>
            </a:r>
            <a:r>
              <a:rPr sz="550" spc="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363434"/>
                </a:solidFill>
                <a:latin typeface="Times New Roman"/>
                <a:cs typeface="Times New Roman"/>
              </a:rPr>
              <a:t>R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c(cno:</a:t>
            </a:r>
            <a:r>
              <a:rPr sz="550" dirty="0">
                <a:solidFill>
                  <a:srgbClr val="363434"/>
                </a:solidFill>
                <a:latin typeface="Times New Roman"/>
                <a:cs typeface="Times New Roman"/>
              </a:rPr>
              <a:t>n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«</a:t>
            </a:r>
            <a:r>
              <a:rPr sz="550" spc="39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For</a:t>
            </a:r>
            <a:r>
              <a:rPr sz="550" spc="-10" dirty="0">
                <a:solidFill>
                  <a:srgbClr val="363434"/>
                </a:solidFill>
                <a:latin typeface="Times New Roman"/>
                <a:cs typeface="Times New Roman"/>
              </a:rPr>
              <a:t>m</a:t>
            </a:r>
            <a:r>
              <a:rPr sz="550" spc="-10" dirty="0">
                <a:solidFill>
                  <a:srgbClr val="5D5B5B"/>
                </a:solidFill>
                <a:latin typeface="Times New Roman"/>
                <a:cs typeface="Times New Roman"/>
              </a:rPr>
              <a:t>.al</a:t>
            </a:r>
            <a:r>
              <a:rPr sz="550" spc="-10" dirty="0">
                <a:solidFill>
                  <a:srgbClr val="363434"/>
                </a:solidFill>
                <a:latin typeface="Times New Roman"/>
                <a:cs typeface="Times New Roman"/>
              </a:rPr>
              <a:t>:</a:t>
            </a:r>
            <a:endParaRPr sz="550">
              <a:latin typeface="Times New Roman"/>
              <a:cs typeface="Times New Roman"/>
            </a:endParaRPr>
          </a:p>
          <a:p>
            <a:pPr marL="223520">
              <a:lnSpc>
                <a:spcPts val="675"/>
              </a:lnSpc>
              <a:spcBef>
                <a:spcPts val="35"/>
              </a:spcBef>
            </a:pP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N</a:t>
            </a:r>
            <a:r>
              <a:rPr sz="600" dirty="0">
                <a:solidFill>
                  <a:srgbClr val="4D4949"/>
                </a:solidFill>
                <a:latin typeface="Times New Roman"/>
                <a:cs typeface="Times New Roman"/>
              </a:rPr>
              <a:t>in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g</a:t>
            </a:r>
            <a:r>
              <a:rPr sz="600" spc="9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M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;a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nnd</a:t>
            </a:r>
            <a:r>
              <a:rPr sz="600" spc="-6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4D4949"/>
                </a:solidFill>
                <a:latin typeface="Times New Roman"/>
                <a:cs typeface="Times New Roman"/>
              </a:rPr>
              <a:t>H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e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n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g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E7C7C"/>
                </a:solidFill>
                <a:latin typeface="Arial"/>
                <a:cs typeface="Arial"/>
              </a:rPr>
              <a:t>Li.</a:t>
            </a:r>
            <a:r>
              <a:rPr sz="550" spc="95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202S.</a:t>
            </a:r>
            <a:r>
              <a:rPr sz="600" spc="-20" dirty="0">
                <a:solidFill>
                  <a:srgbClr val="706D6D"/>
                </a:solidFill>
                <a:latin typeface="Times New Roman"/>
                <a:cs typeface="Times New Roman"/>
              </a:rPr>
              <a:t>Undc-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:ntnnding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nnd</a:t>
            </a:r>
            <a:r>
              <a:rPr sz="600" spc="1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06D6D"/>
                </a:solidFill>
                <a:latin typeface="Times New Roman"/>
                <a:cs typeface="Times New Roman"/>
              </a:rPr>
              <a:t>Estima</a:t>
            </a:r>
            <a:r>
              <a:rPr sz="600" spc="-10" dirty="0">
                <a:solidFill>
                  <a:srgbClr val="4D4949"/>
                </a:solidFill>
                <a:latin typeface="Times New Roman"/>
                <a:cs typeface="Times New Roman"/>
              </a:rPr>
              <a:t>ti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ng</a:t>
            </a:r>
            <a:r>
              <a:rPr sz="600" spc="35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363434"/>
                </a:solidFill>
                <a:latin typeface="Times New Roman"/>
                <a:cs typeface="Times New Roman"/>
              </a:rPr>
              <a:t>l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hc</a:t>
            </a:r>
            <a:r>
              <a:rPr sz="600" spc="8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20" dirty="0">
                <a:solidFill>
                  <a:srgbClr val="706D6D"/>
                </a:solidFill>
                <a:latin typeface="Times New Roman"/>
                <a:cs typeface="Times New Roman"/>
              </a:rPr>
              <a:t>E</a:t>
            </a:r>
            <a:r>
              <a:rPr sz="600" spc="-20" dirty="0">
                <a:solidFill>
                  <a:srgbClr val="4D4949"/>
                </a:solidFill>
                <a:latin typeface="Times New Roman"/>
                <a:cs typeface="Times New Roman"/>
              </a:rPr>
              <a:t>x</a:t>
            </a:r>
            <a:r>
              <a:rPr sz="600" spc="-20" dirty="0">
                <a:solidFill>
                  <a:srgbClr val="7E7C7C"/>
                </a:solidFill>
                <a:latin typeface="Times New Roman"/>
                <a:cs typeface="Times New Roman"/>
              </a:rPr>
              <a:t>ecu</a:t>
            </a:r>
            <a:r>
              <a:rPr sz="600" spc="-20" dirty="0">
                <a:solidFill>
                  <a:srgbClr val="4D4949"/>
                </a:solidFill>
                <a:latin typeface="Times New Roman"/>
                <a:cs typeface="Times New Roman"/>
              </a:rPr>
              <a:t>ti</a:t>
            </a:r>
            <a:r>
              <a:rPr sz="600" spc="-20" dirty="0">
                <a:solidFill>
                  <a:srgbClr val="706D6D"/>
                </a:solidFill>
                <a:latin typeface="Times New Roman"/>
                <a:cs typeface="Times New Roman"/>
              </a:rPr>
              <a:t>on</a:t>
            </a:r>
            <a:r>
              <a:rPr sz="600" spc="1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Ttme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of</a:t>
            </a:r>
            <a:r>
              <a:rPr sz="600" spc="-5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Quantum</a:t>
            </a:r>
            <a:r>
              <a:rPr sz="600" spc="-55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06D6D"/>
                </a:solidFill>
                <a:latin typeface="Times New Roman"/>
                <a:cs typeface="Times New Roman"/>
              </a:rPr>
              <a:t>Cira</a:t>
            </a:r>
            <a:r>
              <a:rPr sz="600" dirty="0">
                <a:solidFill>
                  <a:srgbClr val="36343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E7C7C"/>
                </a:solidFill>
                <a:latin typeface="Times New Roman"/>
                <a:cs typeface="Times New Roman"/>
              </a:rPr>
              <a:t>its.</a:t>
            </a:r>
            <a:r>
              <a:rPr sz="600" spc="2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i="1" spc="-25" dirty="0">
                <a:solidFill>
                  <a:srgbClr val="706D6D"/>
                </a:solidFill>
                <a:latin typeface="Times New Roman"/>
                <a:cs typeface="Times New Roman"/>
              </a:rPr>
              <a:t>ACM</a:t>
            </a:r>
            <a:endParaRPr sz="600">
              <a:latin typeface="Times New Roman"/>
              <a:cs typeface="Times New Roman"/>
            </a:endParaRPr>
          </a:p>
          <a:p>
            <a:pPr marL="227965">
              <a:lnSpc>
                <a:spcPts val="735"/>
              </a:lnSpc>
            </a:pPr>
            <a:r>
              <a:rPr sz="600" spc="-50" dirty="0">
                <a:solidFill>
                  <a:srgbClr val="7E7C7C"/>
                </a:solidFill>
                <a:latin typeface="Times New Roman"/>
                <a:cs typeface="Times New Roman"/>
              </a:rPr>
              <a:t>Thms.</a:t>
            </a:r>
            <a:r>
              <a:rPr sz="650" spc="-50" dirty="0">
                <a:solidFill>
                  <a:srgbClr val="7E7C7C"/>
                </a:solidFill>
                <a:latin typeface="Times New Roman"/>
                <a:cs typeface="Times New Roman"/>
              </a:rPr>
              <a:t>S-</a:t>
            </a:r>
            <a:r>
              <a:rPr sz="650" spc="-114" dirty="0">
                <a:solidFill>
                  <a:srgbClr val="7E7C7C"/>
                </a:solidFill>
                <a:latin typeface="Times New Roman"/>
                <a:cs typeface="Times New Roman"/>
              </a:rPr>
              <a:t>O{lw.</a:t>
            </a:r>
            <a:r>
              <a:rPr sz="650" spc="-30" dirty="0">
                <a:solidFill>
                  <a:srgbClr val="7E7C7C"/>
                </a:solidFill>
                <a:latin typeface="Times New Roman"/>
                <a:cs typeface="Times New Roman"/>
              </a:rPr>
              <a:t> </a:t>
            </a:r>
            <a:r>
              <a:rPr sz="600" i="1" spc="-114" dirty="0">
                <a:solidFill>
                  <a:srgbClr val="7E7C7C"/>
                </a:solidFill>
                <a:latin typeface="Arial"/>
                <a:cs typeface="Arial"/>
              </a:rPr>
              <a:t>£11&amp;-</a:t>
            </a:r>
            <a:r>
              <a:rPr sz="600" i="1" spc="5" dirty="0">
                <a:solidFill>
                  <a:srgbClr val="7E7C7C"/>
                </a:solidFill>
                <a:latin typeface="Arial"/>
                <a:cs typeface="Arial"/>
              </a:rPr>
              <a:t> </a:t>
            </a:r>
            <a:r>
              <a:rPr sz="650" i="1" spc="-90" dirty="0">
                <a:solidFill>
                  <a:srgbClr val="706D6D"/>
                </a:solidFill>
                <a:latin typeface="Times New Roman"/>
                <a:cs typeface="Times New Roman"/>
              </a:rPr>
              <a:t>M</a:t>
            </a:r>
            <a:r>
              <a:rPr sz="650" i="1" spc="9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650" i="1" spc="-55" dirty="0">
                <a:solidFill>
                  <a:srgbClr val="706D6D"/>
                </a:solidFill>
                <a:latin typeface="Times New Roman"/>
                <a:cs typeface="Times New Roman"/>
              </a:rPr>
              <a:t>1hodoL </a:t>
            </a:r>
            <a:r>
              <a:rPr sz="650" dirty="0">
                <a:solidFill>
                  <a:srgbClr val="4D4949"/>
                </a:solidFill>
                <a:latin typeface="Times New Roman"/>
                <a:cs typeface="Times New Roman"/>
              </a:rPr>
              <a:t>.</a:t>
            </a:r>
            <a:r>
              <a:rPr sz="650" spc="295" dirty="0">
                <a:solidFill>
                  <a:srgbClr val="4D4949"/>
                </a:solidFill>
                <a:latin typeface="Times New Roman"/>
                <a:cs typeface="Times New Roman"/>
              </a:rPr>
              <a:t> 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(Nov</a:t>
            </a:r>
            <a:r>
              <a:rPr sz="600" spc="-30" dirty="0">
                <a:solidFill>
                  <a:srgbClr val="5D5B5B"/>
                </a:solidFill>
                <a:latin typeface="Times New Roman"/>
                <a:cs typeface="Times New Roman"/>
              </a:rPr>
              <a:t>t</a:t>
            </a:r>
            <a:r>
              <a:rPr sz="600" spc="-30" dirty="0">
                <a:solidFill>
                  <a:srgbClr val="7E7C7C"/>
                </a:solidFill>
                <a:latin typeface="Times New Roman"/>
                <a:cs typeface="Times New Roman"/>
              </a:rPr>
              <a:t>mbc-</a:t>
            </a:r>
            <a:r>
              <a:rPr sz="600" dirty="0">
                <a:solidFill>
                  <a:srgbClr val="5D5B5B"/>
                </a:solidFill>
                <a:latin typeface="Times New Roman"/>
                <a:cs typeface="Times New Roman"/>
              </a:rPr>
              <a:t>r</a:t>
            </a:r>
            <a:r>
              <a:rPr sz="600" spc="150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7E7C7C"/>
                </a:solidFill>
                <a:latin typeface="Times New Roman"/>
                <a:cs typeface="Times New Roman"/>
              </a:rPr>
              <a:t>202:5).</a:t>
            </a:r>
            <a:r>
              <a:rPr sz="550" spc="-25" dirty="0">
                <a:solidFill>
                  <a:srgbClr val="706D6D"/>
                </a:solidFill>
                <a:latin typeface="Times New Roman"/>
                <a:cs typeface="Times New Roman"/>
              </a:rPr>
              <a:t>3'4</a:t>
            </a:r>
            <a:r>
              <a:rPr sz="550" spc="-40" dirty="0">
                <a:solidFill>
                  <a:srgbClr val="706D6D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706D6D"/>
                </a:solidFill>
                <a:latin typeface="Times New Roman"/>
                <a:cs typeface="Times New Roman"/>
              </a:rPr>
              <a:t>pages.https</a:t>
            </a:r>
            <a:r>
              <a:rPr sz="550" dirty="0">
                <a:solidFill>
                  <a:srgbClr val="979797"/>
                </a:solidFill>
                <a:latin typeface="Times New Roman"/>
                <a:cs typeface="Times New Roman"/>
              </a:rPr>
              <a:t>i/</a:t>
            </a:r>
            <a:r>
              <a:rPr sz="550" dirty="0">
                <a:solidFill>
                  <a:srgbClr val="7E7C7C"/>
                </a:solidFill>
                <a:latin typeface="Times New Roman"/>
                <a:cs typeface="Times New Roman"/>
              </a:rPr>
              <a:t>doli.org/</a:t>
            </a:r>
            <a:r>
              <a:rPr sz="550" dirty="0">
                <a:solidFill>
                  <a:srgbClr val="5D5B5B"/>
                </a:solidFill>
                <a:latin typeface="Times New Roman"/>
                <a:cs typeface="Times New Roman"/>
              </a:rPr>
              <a:t>IO.l</a:t>
            </a:r>
            <a:r>
              <a:rPr sz="550" spc="5" dirty="0">
                <a:solidFill>
                  <a:srgbClr val="5D5B5B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l45ftuuu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uU</a:t>
            </a:r>
            <a:r>
              <a:rPr sz="600" spc="-10" dirty="0">
                <a:solidFill>
                  <a:srgbClr val="7E7C7C"/>
                </a:solidFill>
                <a:latin typeface="Times New Roman"/>
                <a:cs typeface="Times New Roman"/>
              </a:rPr>
              <a:t>Ul.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nnnnnttn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2946" y="5456577"/>
            <a:ext cx="60769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363434"/>
                </a:solidFill>
                <a:latin typeface="Times New Roman"/>
                <a:cs typeface="Times New Roman"/>
              </a:rPr>
              <a:t>1</a:t>
            </a:r>
            <a:r>
              <a:rPr sz="600" spc="465" dirty="0">
                <a:solidFill>
                  <a:srgbClr val="363434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363434"/>
                </a:solidFill>
                <a:latin typeface="Times New Roman"/>
                <a:cs typeface="Times New Roman"/>
              </a:rPr>
              <a:t>lntTod</a:t>
            </a:r>
            <a:r>
              <a:rPr sz="600" spc="-10" dirty="0">
                <a:solidFill>
                  <a:srgbClr val="1D1A1C"/>
                </a:solidFill>
                <a:latin typeface="Times New Roman"/>
                <a:cs typeface="Times New Roman"/>
              </a:rPr>
              <a:t>u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c</a:t>
            </a:r>
            <a:r>
              <a:rPr sz="600" spc="-10" dirty="0">
                <a:solidFill>
                  <a:srgbClr val="363434"/>
                </a:solidFill>
                <a:latin typeface="Times New Roman"/>
                <a:cs typeface="Times New Roman"/>
              </a:rPr>
              <a:t>i</a:t>
            </a:r>
            <a:r>
              <a:rPr sz="600" spc="-10" dirty="0">
                <a:solidFill>
                  <a:srgbClr val="1D1A1C"/>
                </a:solidFill>
                <a:latin typeface="Times New Roman"/>
                <a:cs typeface="Times New Roman"/>
              </a:rPr>
              <a:t>i</a:t>
            </a:r>
            <a:r>
              <a:rPr sz="600" spc="-10" dirty="0">
                <a:solidFill>
                  <a:srgbClr val="5D5B5B"/>
                </a:solidFill>
                <a:latin typeface="Times New Roman"/>
                <a:cs typeface="Times New Roman"/>
              </a:rPr>
              <a:t>o</a:t>
            </a:r>
            <a:r>
              <a:rPr sz="600" spc="-10" dirty="0">
                <a:solidFill>
                  <a:srgbClr val="1D1A1C"/>
                </a:solidFill>
                <a:latin typeface="Times New Roman"/>
                <a:cs typeface="Times New Roman"/>
              </a:rPr>
              <a:t>n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50" y="1010038"/>
            <a:ext cx="5029249" cy="57208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8127" y="1084697"/>
            <a:ext cx="2657475" cy="1049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700" b="1" u="none" spc="-1730" dirty="0">
                <a:solidFill>
                  <a:srgbClr val="777293"/>
                </a:solidFill>
                <a:latin typeface="Times New Roman"/>
                <a:cs typeface="Times New Roman"/>
              </a:rPr>
              <a:t>RUNTIME</a:t>
            </a:r>
            <a:endParaRPr sz="6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200" y="2204116"/>
            <a:ext cx="108267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b="1" spc="-290" dirty="0">
                <a:solidFill>
                  <a:srgbClr val="777293"/>
                </a:solidFill>
                <a:latin typeface="Arial"/>
                <a:cs typeface="Arial"/>
              </a:rPr>
              <a:t>Features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492" y="2685467"/>
            <a:ext cx="4401185" cy="351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00"/>
              </a:spcBef>
              <a:tabLst>
                <a:tab pos="472440" algn="l"/>
              </a:tabLst>
            </a:pPr>
            <a:r>
              <a:rPr sz="145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	</a:t>
            </a:r>
            <a:r>
              <a:rPr sz="1450" spc="-40" dirty="0">
                <a:solidFill>
                  <a:srgbClr val="777293"/>
                </a:solidFill>
                <a:latin typeface="Times New Roman"/>
                <a:cs typeface="Times New Roman"/>
              </a:rPr>
              <a:t>Maximum</a:t>
            </a:r>
            <a:r>
              <a:rPr sz="1450" spc="10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qubit</a:t>
            </a:r>
            <a:r>
              <a:rPr sz="1450" spc="-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degree</a:t>
            </a:r>
            <a:endParaRPr sz="1450">
              <a:latin typeface="Times New Roman"/>
              <a:cs typeface="Times New Roman"/>
            </a:endParaRPr>
          </a:p>
          <a:p>
            <a:pPr marL="609600">
              <a:lnSpc>
                <a:spcPct val="100000"/>
              </a:lnSpc>
              <a:spcBef>
                <a:spcPts val="5"/>
              </a:spcBef>
            </a:pP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(local</a:t>
            </a:r>
            <a:r>
              <a:rPr sz="1450" spc="7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interaction</a:t>
            </a:r>
            <a:r>
              <a:rPr sz="1450" spc="28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bottlenecks)</a:t>
            </a:r>
            <a:endParaRPr sz="145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  <a:spcBef>
                <a:spcPts val="65"/>
              </a:spcBef>
              <a:tabLst>
                <a:tab pos="472440" algn="l"/>
              </a:tabLst>
            </a:pPr>
            <a:r>
              <a:rPr sz="145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	Degree</a:t>
            </a:r>
            <a:r>
              <a:rPr sz="1450" spc="14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variance</a:t>
            </a:r>
            <a:r>
              <a:rPr sz="1450" spc="13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across</a:t>
            </a:r>
            <a:r>
              <a:rPr sz="1450" spc="16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qubits</a:t>
            </a:r>
            <a:endParaRPr sz="145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  <a:spcBef>
                <a:spcPts val="65"/>
              </a:spcBef>
              <a:tabLst>
                <a:tab pos="461645" algn="l"/>
              </a:tabLst>
            </a:pPr>
            <a:r>
              <a:rPr sz="145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	</a:t>
            </a:r>
            <a:r>
              <a:rPr sz="1450" spc="-30" dirty="0">
                <a:solidFill>
                  <a:srgbClr val="777293"/>
                </a:solidFill>
                <a:latin typeface="Times New Roman"/>
                <a:cs typeface="Times New Roman"/>
              </a:rPr>
              <a:t>Two-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qubit</a:t>
            </a:r>
            <a:r>
              <a:rPr sz="1450" spc="9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gate</a:t>
            </a:r>
            <a:r>
              <a:rPr sz="1450" spc="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density</a:t>
            </a:r>
            <a:endParaRPr sz="145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  <a:tabLst>
                <a:tab pos="471805" algn="l"/>
              </a:tabLst>
            </a:pPr>
            <a:r>
              <a:rPr sz="1450" spc="-50" dirty="0">
                <a:solidFill>
                  <a:srgbClr val="777293"/>
                </a:solidFill>
                <a:latin typeface="Times New Roman"/>
                <a:cs typeface="Times New Roman"/>
              </a:rPr>
              <a:t>0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	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Entanglement</a:t>
            </a:r>
            <a:r>
              <a:rPr sz="1450" spc="10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volume</a:t>
            </a:r>
            <a:r>
              <a:rPr sz="1450" spc="7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metrics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b="1" spc="-75" dirty="0">
                <a:solidFill>
                  <a:srgbClr val="777293"/>
                </a:solidFill>
                <a:latin typeface="Arial"/>
                <a:cs typeface="Arial"/>
              </a:rPr>
              <a:t>Insight</a:t>
            </a:r>
            <a:endParaRPr sz="2500">
              <a:latin typeface="Arial"/>
              <a:cs typeface="Arial"/>
            </a:endParaRPr>
          </a:p>
          <a:p>
            <a:pPr marL="229235" marR="5080" indent="5715">
              <a:lnSpc>
                <a:spcPct val="103699"/>
              </a:lnSpc>
              <a:spcBef>
                <a:spcPts val="665"/>
              </a:spcBef>
            </a:pPr>
            <a:r>
              <a:rPr sz="1450" spc="-25" dirty="0">
                <a:solidFill>
                  <a:srgbClr val="777293"/>
                </a:solidFill>
                <a:latin typeface="Times New Roman"/>
                <a:cs typeface="Times New Roman"/>
              </a:rPr>
              <a:t>Local</a:t>
            </a:r>
            <a:r>
              <a:rPr sz="1450" spc="3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bottleneck</a:t>
            </a:r>
            <a:r>
              <a:rPr sz="1450" spc="8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features</a:t>
            </a:r>
            <a:r>
              <a:rPr sz="1450" spc="8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show</a:t>
            </a:r>
            <a:r>
              <a:rPr sz="1450" spc="18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consistent</a:t>
            </a:r>
            <a:r>
              <a:rPr sz="1450" spc="29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correlation, </a:t>
            </a:r>
            <a:r>
              <a:rPr sz="1450" spc="55" dirty="0">
                <a:solidFill>
                  <a:srgbClr val="777293"/>
                </a:solidFill>
                <a:latin typeface="Times New Roman"/>
                <a:cs typeface="Times New Roman"/>
              </a:rPr>
              <a:t>these</a:t>
            </a:r>
            <a:r>
              <a:rPr sz="1450" spc="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include</a:t>
            </a:r>
            <a:r>
              <a:rPr sz="1450" spc="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777293"/>
                </a:solidFill>
                <a:latin typeface="Arial"/>
                <a:cs typeface="Arial"/>
              </a:rPr>
              <a:t>max_degree.</a:t>
            </a:r>
            <a:r>
              <a:rPr sz="1300" b="1" spc="-10" dirty="0">
                <a:solidFill>
                  <a:srgbClr val="77729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Circuits</a:t>
            </a:r>
            <a:r>
              <a:rPr sz="1450" spc="6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with</a:t>
            </a:r>
            <a:r>
              <a:rPr sz="1450" spc="8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one</a:t>
            </a:r>
            <a:r>
              <a:rPr sz="1450" spc="29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heavily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loaded</a:t>
            </a:r>
            <a:r>
              <a:rPr sz="1450" spc="1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qubit</a:t>
            </a:r>
            <a:r>
              <a:rPr sz="1450" spc="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tend</a:t>
            </a:r>
            <a:r>
              <a:rPr sz="1450" spc="8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to</a:t>
            </a:r>
            <a:r>
              <a:rPr sz="1450" spc="3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run</a:t>
            </a:r>
            <a:r>
              <a:rPr sz="1450" spc="6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slower,</a:t>
            </a:r>
            <a:r>
              <a:rPr sz="1450" spc="-6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even</a:t>
            </a:r>
            <a:r>
              <a:rPr sz="1450" spc="114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at</a:t>
            </a:r>
            <a:r>
              <a:rPr sz="1450" spc="16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777293"/>
                </a:solidFill>
                <a:latin typeface="Times New Roman"/>
                <a:cs typeface="Times New Roman"/>
              </a:rPr>
              <a:t>similar</a:t>
            </a:r>
            <a:r>
              <a:rPr sz="1450" spc="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sizes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229870" marR="171450" indent="12700">
              <a:lnSpc>
                <a:spcPct val="103699"/>
              </a:lnSpc>
            </a:pPr>
            <a:r>
              <a:rPr sz="1450" spc="-30" dirty="0">
                <a:solidFill>
                  <a:srgbClr val="777293"/>
                </a:solidFill>
                <a:latin typeface="Times New Roman"/>
                <a:cs typeface="Times New Roman"/>
              </a:rPr>
              <a:t>Local</a:t>
            </a:r>
            <a:r>
              <a:rPr sz="1450" spc="9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entanglement</a:t>
            </a:r>
            <a:r>
              <a:rPr sz="1450" spc="14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bottlenecks</a:t>
            </a:r>
            <a:r>
              <a:rPr sz="1450" spc="1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limit</a:t>
            </a:r>
            <a:r>
              <a:rPr sz="1450" spc="5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777293"/>
                </a:solidFill>
                <a:latin typeface="Times New Roman"/>
                <a:cs typeface="Times New Roman"/>
              </a:rPr>
              <a:t>parallelism</a:t>
            </a:r>
            <a:r>
              <a:rPr sz="1450" spc="1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777293"/>
                </a:solidFill>
                <a:latin typeface="Times New Roman"/>
                <a:cs typeface="Times New Roman"/>
              </a:rPr>
              <a:t>and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increase</a:t>
            </a:r>
            <a:r>
              <a:rPr sz="1450" spc="18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intermediate</a:t>
            </a:r>
            <a:r>
              <a:rPr sz="1450" spc="17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60" dirty="0">
                <a:solidFill>
                  <a:srgbClr val="777293"/>
                </a:solidFill>
                <a:latin typeface="Times New Roman"/>
                <a:cs typeface="Times New Roman"/>
              </a:rPr>
              <a:t>tensor</a:t>
            </a:r>
            <a:r>
              <a:rPr sz="1450" spc="1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sizes,</a:t>
            </a:r>
            <a:r>
              <a:rPr sz="1450" spc="-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increasing simulation</a:t>
            </a:r>
            <a:r>
              <a:rPr sz="1450" spc="7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60" dirty="0">
                <a:solidFill>
                  <a:srgbClr val="777293"/>
                </a:solidFill>
                <a:latin typeface="Times New Roman"/>
                <a:cs typeface="Times New Roman"/>
              </a:rPr>
              <a:t>cost</a:t>
            </a:r>
            <a:r>
              <a:rPr sz="1450" spc="6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regardless</a:t>
            </a:r>
            <a:r>
              <a:rPr sz="1450" spc="1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of</a:t>
            </a:r>
            <a:r>
              <a:rPr sz="1450" spc="-2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global</a:t>
            </a:r>
            <a:r>
              <a:rPr sz="1450" spc="7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circuit</a:t>
            </a:r>
            <a:r>
              <a:rPr sz="1450" spc="-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size.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0038"/>
            <a:ext cx="5707380" cy="5689600"/>
            <a:chOff x="0" y="1010038"/>
            <a:chExt cx="5707380" cy="568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10038"/>
              <a:ext cx="5707061" cy="56892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3318" y="4407804"/>
              <a:ext cx="0" cy="885190"/>
            </a:xfrm>
            <a:custGeom>
              <a:avLst/>
              <a:gdLst/>
              <a:ahLst/>
              <a:cxnLst/>
              <a:rect l="l" t="t" r="r" b="b"/>
              <a:pathLst>
                <a:path h="885189">
                  <a:moveTo>
                    <a:pt x="0" y="884998"/>
                  </a:moveTo>
                  <a:lnTo>
                    <a:pt x="0" y="0"/>
                  </a:lnTo>
                </a:path>
              </a:pathLst>
            </a:custGeom>
            <a:ln w="7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56509" y="4570480"/>
            <a:ext cx="175641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4645" algn="l"/>
                <a:tab pos="800100" algn="l"/>
                <a:tab pos="1517015" algn="l"/>
              </a:tabLst>
            </a:pPr>
            <a:r>
              <a:rPr sz="2400" baseline="1736" dirty="0">
                <a:solidFill>
                  <a:srgbClr val="701156"/>
                </a:solidFill>
                <a:latin typeface="Times New Roman"/>
                <a:cs typeface="Times New Roman"/>
              </a:rPr>
              <a:t>•</a:t>
            </a:r>
            <a:r>
              <a:rPr sz="2400" spc="-247" baseline="1736" dirty="0">
                <a:solidFill>
                  <a:srgbClr val="701156"/>
                </a:solidFill>
                <a:latin typeface="Times New Roman"/>
                <a:cs typeface="Times New Roman"/>
              </a:rPr>
              <a:t> </a:t>
            </a:r>
            <a:r>
              <a:rPr sz="2400" spc="-75" baseline="1736" dirty="0">
                <a:solidFill>
                  <a:srgbClr val="701156"/>
                </a:solidFill>
                <a:latin typeface="Times New Roman"/>
                <a:cs typeface="Times New Roman"/>
              </a:rPr>
              <a:t>•</a:t>
            </a:r>
            <a:r>
              <a:rPr sz="2400" baseline="1736" dirty="0">
                <a:solidFill>
                  <a:srgbClr val="701156"/>
                </a:solidFill>
                <a:latin typeface="Times New Roman"/>
                <a:cs typeface="Times New Roman"/>
              </a:rPr>
              <a:t>	</a:t>
            </a:r>
            <a:r>
              <a:rPr sz="2550" spc="75" baseline="1633" dirty="0">
                <a:solidFill>
                  <a:srgbClr val="701156"/>
                </a:solidFill>
                <a:latin typeface="Times New Roman"/>
                <a:cs typeface="Times New Roman"/>
              </a:rPr>
              <a:t>••</a:t>
            </a:r>
            <a:r>
              <a:rPr sz="2550" spc="97" baseline="1633" dirty="0">
                <a:solidFill>
                  <a:srgbClr val="701156"/>
                </a:solidFill>
                <a:latin typeface="Times New Roman"/>
                <a:cs typeface="Times New Roman"/>
              </a:rPr>
              <a:t> </a:t>
            </a:r>
            <a:r>
              <a:rPr sz="2550" spc="-75" baseline="1633" dirty="0">
                <a:solidFill>
                  <a:srgbClr val="701156"/>
                </a:solidFill>
                <a:latin typeface="Times New Roman"/>
                <a:cs typeface="Times New Roman"/>
              </a:rPr>
              <a:t>•</a:t>
            </a:r>
            <a:r>
              <a:rPr sz="2550" baseline="1633" dirty="0">
                <a:solidFill>
                  <a:srgbClr val="701156"/>
                </a:solidFill>
                <a:latin typeface="Times New Roman"/>
                <a:cs typeface="Times New Roman"/>
              </a:rPr>
              <a:t>	•</a:t>
            </a:r>
            <a:r>
              <a:rPr sz="2550" spc="405" baseline="1633" dirty="0">
                <a:solidFill>
                  <a:srgbClr val="701156"/>
                </a:solidFill>
                <a:latin typeface="Times New Roman"/>
                <a:cs typeface="Times New Roman"/>
              </a:rPr>
              <a:t> </a:t>
            </a:r>
            <a:r>
              <a:rPr sz="2700" spc="-37" baseline="1543" dirty="0">
                <a:solidFill>
                  <a:srgbClr val="701156"/>
                </a:solidFill>
                <a:latin typeface="Arial"/>
                <a:cs typeface="Arial"/>
              </a:rPr>
              <a:t>••</a:t>
            </a:r>
            <a:r>
              <a:rPr sz="2700" baseline="1543" dirty="0">
                <a:solidFill>
                  <a:srgbClr val="701156"/>
                </a:solidFill>
                <a:latin typeface="Arial"/>
                <a:cs typeface="Arial"/>
              </a:rPr>
              <a:t>	</a:t>
            </a:r>
            <a:r>
              <a:rPr sz="1800" spc="-25" dirty="0">
                <a:solidFill>
                  <a:srgbClr val="701156"/>
                </a:solidFill>
                <a:latin typeface="Arial"/>
                <a:cs typeface="Arial"/>
              </a:rPr>
              <a:t>•</a:t>
            </a:r>
            <a:r>
              <a:rPr sz="1850" spc="-25" dirty="0">
                <a:solidFill>
                  <a:srgbClr val="701156"/>
                </a:solidFill>
                <a:latin typeface="Courier New"/>
                <a:cs typeface="Courier New"/>
              </a:rPr>
              <a:t>•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8063" y="4949766"/>
            <a:ext cx="482854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1035" algn="l"/>
                <a:tab pos="919480" algn="l"/>
                <a:tab pos="1565910" algn="l"/>
                <a:tab pos="1804035" algn="l"/>
                <a:tab pos="2322830" algn="l"/>
                <a:tab pos="3128010" algn="l"/>
                <a:tab pos="3439795" algn="l"/>
                <a:tab pos="4452620" algn="l"/>
              </a:tabLst>
            </a:pPr>
            <a:r>
              <a:rPr sz="1200" baseline="24305" dirty="0">
                <a:solidFill>
                  <a:srgbClr val="808082"/>
                </a:solidFill>
                <a:latin typeface="Times New Roman"/>
                <a:cs typeface="Times New Roman"/>
              </a:rPr>
              <a:t>l</a:t>
            </a:r>
            <a:r>
              <a:rPr sz="1200" baseline="24305" dirty="0">
                <a:solidFill>
                  <a:srgbClr val="9E9E9E"/>
                </a:solidFill>
                <a:latin typeface="Times New Roman"/>
                <a:cs typeface="Times New Roman"/>
              </a:rPr>
              <a:t>o' </a:t>
            </a:r>
            <a:r>
              <a:rPr sz="2250" u="heavy" baseline="1851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50" u="heavy" spc="-75" baseline="1851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•</a:t>
            </a:r>
            <a:r>
              <a:rPr sz="2250" u="heavy" baseline="1851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550" u="heavy" baseline="163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•</a:t>
            </a:r>
            <a:r>
              <a:rPr sz="2550" u="heavy" spc="-322" baseline="163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u="heavy" spc="-37" baseline="163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••</a:t>
            </a:r>
            <a:r>
              <a:rPr sz="2550" u="heavy" baseline="163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heavy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•	</a:t>
            </a:r>
            <a:r>
              <a:rPr sz="1850" u="heavy" spc="35" dirty="0">
                <a:solidFill>
                  <a:srgbClr val="701156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•</a:t>
            </a:r>
            <a:r>
              <a:rPr sz="1850" u="heavy" dirty="0">
                <a:solidFill>
                  <a:srgbClr val="701156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	</a:t>
            </a:r>
            <a:r>
              <a:rPr sz="1800" u="heavy" spc="-50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•</a:t>
            </a:r>
            <a:r>
              <a:rPr sz="1800" u="heavy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800" spc="-105" dirty="0">
                <a:solidFill>
                  <a:srgbClr val="7E2856"/>
                </a:solidFill>
                <a:latin typeface="Arial"/>
                <a:cs typeface="Arial"/>
              </a:rPr>
              <a:t> </a:t>
            </a:r>
            <a:r>
              <a:rPr sz="2550" u="heavy" baseline="163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•	</a:t>
            </a:r>
            <a:r>
              <a:rPr sz="2550" u="heavy" spc="-75" baseline="163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•</a:t>
            </a:r>
            <a:r>
              <a:rPr sz="2550" u="heavy" baseline="163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50" u="heavy" baseline="370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•</a:t>
            </a:r>
            <a:r>
              <a:rPr sz="2250" u="heavy" spc="-89" baseline="370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50" u="heavy" spc="-75" baseline="3703" dirty="0">
                <a:solidFill>
                  <a:srgbClr val="7E2856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•</a:t>
            </a:r>
            <a:endParaRPr sz="2250" baseline="3703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194" y="5052049"/>
            <a:ext cx="18669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50" dirty="0">
                <a:solidFill>
                  <a:srgbClr val="6E6E6E"/>
                </a:solidFill>
                <a:latin typeface="Arial"/>
                <a:cs typeface="Arial"/>
              </a:rPr>
              <a:t>,</a:t>
            </a:r>
            <a:r>
              <a:rPr sz="2350" spc="-150" dirty="0">
                <a:solidFill>
                  <a:srgbClr val="808082"/>
                </a:solidFill>
                <a:latin typeface="Arial"/>
                <a:cs typeface="Arial"/>
              </a:rPr>
              <a:t>.</a:t>
            </a:r>
            <a:r>
              <a:rPr sz="2350" spc="-150" dirty="0">
                <a:solidFill>
                  <a:srgbClr val="9E9E9E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922" y="5271543"/>
            <a:ext cx="10668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6E6E6E"/>
                </a:solidFill>
                <a:latin typeface="Times New Roman"/>
                <a:cs typeface="Times New Roman"/>
              </a:rPr>
              <a:t>lo'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2347" y="5905604"/>
            <a:ext cx="3886835" cy="469265"/>
          </a:xfrm>
          <a:prstGeom prst="rect">
            <a:avLst/>
          </a:prstGeom>
          <a:solidFill>
            <a:srgbClr val="6D6493"/>
          </a:solidFill>
        </p:spPr>
        <p:txBody>
          <a:bodyPr vert="horz" wrap="square" lIns="0" tIns="1905" rIns="0" bIns="0" rtlCol="0">
            <a:spAutoFit/>
          </a:bodyPr>
          <a:lstStyle/>
          <a:p>
            <a:pPr marL="11430" indent="-12065">
              <a:lnSpc>
                <a:spcPts val="1800"/>
              </a:lnSpc>
              <a:spcBef>
                <a:spcPts val="15"/>
              </a:spcBef>
            </a:pP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The</a:t>
            </a:r>
            <a:r>
              <a:rPr sz="1400" spc="120" dirty="0">
                <a:solidFill>
                  <a:srgbClr val="D1CDE4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higher</a:t>
            </a:r>
            <a:r>
              <a:rPr sz="1400" spc="13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line</a:t>
            </a:r>
            <a:r>
              <a:rPr sz="1400" spc="-35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can</a:t>
            </a:r>
            <a:r>
              <a:rPr sz="1400" spc="185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D1CDE4"/>
                </a:solidFill>
                <a:latin typeface="Times New Roman"/>
                <a:cs typeface="Times New Roman"/>
              </a:rPr>
              <a:t>be</a:t>
            </a:r>
            <a:r>
              <a:rPr sz="1400" spc="7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partially</a:t>
            </a:r>
            <a:r>
              <a:rPr sz="1400" spc="3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explained</a:t>
            </a:r>
            <a:r>
              <a:rPr sz="1400" spc="8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for</a:t>
            </a:r>
            <a:r>
              <a:rPr sz="1400" spc="225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D1CDE4"/>
                </a:solidFill>
                <a:latin typeface="Times New Roman"/>
                <a:cs typeface="Times New Roman"/>
              </a:rPr>
              <a:t>more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runs</a:t>
            </a:r>
            <a:r>
              <a:rPr sz="1400" spc="9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timing</a:t>
            </a:r>
            <a:r>
              <a:rPr sz="1400" spc="6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out</a:t>
            </a:r>
            <a:r>
              <a:rPr sz="1400" spc="39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D1CDE4"/>
                </a:solidFill>
                <a:latin typeface="Times New Roman"/>
                <a:cs typeface="Times New Roman"/>
              </a:rPr>
              <a:t>on</a:t>
            </a:r>
            <a:r>
              <a:rPr sz="1400" spc="125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the</a:t>
            </a:r>
            <a:r>
              <a:rPr sz="1400" spc="22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GPU,</a:t>
            </a:r>
            <a:r>
              <a:rPr sz="1400" spc="-65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D1CDE4"/>
                </a:solidFill>
                <a:latin typeface="Times New Roman"/>
                <a:cs typeface="Times New Roman"/>
              </a:rPr>
              <a:t>causing</a:t>
            </a:r>
            <a:r>
              <a:rPr sz="1400" spc="-30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D1CDE4"/>
                </a:solidFill>
                <a:latin typeface="Times New Roman"/>
                <a:cs typeface="Times New Roman"/>
              </a:rPr>
              <a:t>fewer</a:t>
            </a:r>
            <a:r>
              <a:rPr sz="1400" spc="195" dirty="0">
                <a:solidFill>
                  <a:srgbClr val="D1CDE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D1CDE4"/>
                </a:solidFill>
                <a:latin typeface="Times New Roman"/>
                <a:cs typeface="Times New Roman"/>
              </a:rPr>
              <a:t>points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110585" y="1140449"/>
            <a:ext cx="3451225" cy="9728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200" b="1" u="none" spc="-1345" dirty="0">
                <a:solidFill>
                  <a:srgbClr val="777293"/>
                </a:solidFill>
                <a:latin typeface="Arial"/>
                <a:cs typeface="Arial"/>
              </a:rPr>
              <a:t>THRESHOLD</a:t>
            </a:r>
            <a:endParaRPr sz="6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7718" y="2247321"/>
            <a:ext cx="2987675" cy="8261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100" b="1" spc="-415" dirty="0">
                <a:solidFill>
                  <a:srgbClr val="777293"/>
                </a:solidFill>
                <a:latin typeface="Arial"/>
                <a:cs typeface="Arial"/>
              </a:rPr>
              <a:t>Issue</a:t>
            </a:r>
            <a:endParaRPr sz="3100">
              <a:latin typeface="Arial"/>
              <a:cs typeface="Arial"/>
            </a:endParaRPr>
          </a:p>
          <a:p>
            <a:pPr marL="333375">
              <a:lnSpc>
                <a:spcPct val="100000"/>
              </a:lnSpc>
              <a:spcBef>
                <a:spcPts val="280"/>
              </a:spcBef>
            </a:pP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Threshold</a:t>
            </a:r>
            <a:r>
              <a:rPr sz="1400" spc="30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777293"/>
                </a:solidFill>
                <a:latin typeface="Times New Roman"/>
                <a:cs typeface="Times New Roman"/>
              </a:rPr>
              <a:t>does</a:t>
            </a:r>
            <a:r>
              <a:rPr sz="1400" spc="20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777293"/>
                </a:solidFill>
                <a:latin typeface="Times New Roman"/>
                <a:cs typeface="Times New Roman"/>
              </a:rPr>
              <a:t>not</a:t>
            </a:r>
            <a:r>
              <a:rPr sz="1400" spc="10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777293"/>
                </a:solidFill>
                <a:latin typeface="Times New Roman"/>
                <a:cs typeface="Times New Roman"/>
              </a:rPr>
              <a:t>correlate</a:t>
            </a:r>
            <a:r>
              <a:rPr sz="1400" spc="5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777293"/>
                </a:solidFill>
                <a:latin typeface="Times New Roman"/>
                <a:cs typeface="Times New Roman"/>
              </a:rPr>
              <a:t>with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6124" y="3050485"/>
            <a:ext cx="1371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777293"/>
                </a:solidFill>
                <a:latin typeface="Arial"/>
                <a:cs typeface="Arial"/>
              </a:rPr>
              <a:t>+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4624" y="3040038"/>
            <a:ext cx="1144270" cy="49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8915">
              <a:lnSpc>
                <a:spcPct val="111100"/>
              </a:lnSpc>
              <a:spcBef>
                <a:spcPts val="100"/>
              </a:spcBef>
            </a:pP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Backend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(CPU</a:t>
            </a:r>
            <a:r>
              <a:rPr sz="1400" spc="1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vs</a:t>
            </a:r>
            <a:r>
              <a:rPr sz="1400" spc="1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777293"/>
                </a:solidFill>
                <a:latin typeface="Times New Roman"/>
                <a:cs typeface="Times New Roman"/>
              </a:rPr>
              <a:t>GPU)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15395" y="3040038"/>
            <a:ext cx="1354455" cy="49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5280">
              <a:lnSpc>
                <a:spcPct val="111100"/>
              </a:lnSpc>
              <a:spcBef>
                <a:spcPts val="100"/>
              </a:spcBef>
            </a:pP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Precision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(single</a:t>
            </a:r>
            <a:r>
              <a:rPr sz="1400" spc="1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vs</a:t>
            </a:r>
            <a:r>
              <a:rPr sz="1400" spc="-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double)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28225" y="3581592"/>
            <a:ext cx="3161030" cy="1317625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3100" b="1" spc="-455" dirty="0">
                <a:solidFill>
                  <a:srgbClr val="777293"/>
                </a:solidFill>
                <a:latin typeface="Arial"/>
                <a:cs typeface="Arial"/>
              </a:rPr>
              <a:t>Features</a:t>
            </a:r>
            <a:endParaRPr sz="3100">
              <a:latin typeface="Arial"/>
              <a:cs typeface="Arial"/>
            </a:endParaRPr>
          </a:p>
          <a:p>
            <a:pPr marL="233045" marR="5080" indent="2540">
              <a:lnSpc>
                <a:spcPct val="111100"/>
              </a:lnSpc>
              <a:spcBef>
                <a:spcPts val="715"/>
              </a:spcBef>
              <a:tabLst>
                <a:tab pos="570230" algn="l"/>
              </a:tabLst>
            </a:pPr>
            <a:r>
              <a:rPr sz="1400" spc="-290" dirty="0">
                <a:solidFill>
                  <a:srgbClr val="777293"/>
                </a:solidFill>
                <a:latin typeface="Times New Roman"/>
                <a:cs typeface="Times New Roman"/>
              </a:rPr>
              <a:t>We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	prioritize</a:t>
            </a:r>
            <a:r>
              <a:rPr sz="1400" spc="3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QASM-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only</a:t>
            </a:r>
            <a:r>
              <a:rPr sz="1400" spc="28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features</a:t>
            </a:r>
            <a:r>
              <a:rPr sz="1400" spc="1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777293"/>
                </a:solidFill>
                <a:latin typeface="Times New Roman"/>
                <a:cs typeface="Times New Roman"/>
              </a:rPr>
              <a:t>for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generalization.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48698" y="5031284"/>
            <a:ext cx="320040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>
              <a:lnSpc>
                <a:spcPct val="107400"/>
              </a:lnSpc>
              <a:spcBef>
                <a:spcPts val="100"/>
              </a:spcBef>
            </a:pPr>
            <a:r>
              <a:rPr sz="1400" spc="55" dirty="0">
                <a:solidFill>
                  <a:srgbClr val="777293"/>
                </a:solidFill>
                <a:latin typeface="Times New Roman"/>
                <a:cs typeface="Times New Roman"/>
              </a:rPr>
              <a:t>These</a:t>
            </a:r>
            <a:r>
              <a:rPr sz="1400" spc="8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features</a:t>
            </a:r>
            <a:r>
              <a:rPr sz="1400" spc="15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are</a:t>
            </a:r>
            <a:r>
              <a:rPr sz="1400" spc="22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777293"/>
                </a:solidFill>
                <a:latin typeface="Times New Roman"/>
                <a:cs typeface="Times New Roman"/>
              </a:rPr>
              <a:t>not</a:t>
            </a:r>
            <a:r>
              <a:rPr sz="1400" spc="2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intrinsic</a:t>
            </a:r>
            <a:r>
              <a:rPr sz="1400" spc="17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to</a:t>
            </a:r>
            <a:r>
              <a:rPr sz="1400" spc="434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77293"/>
                </a:solidFill>
                <a:latin typeface="Times New Roman"/>
                <a:cs typeface="Times New Roman"/>
              </a:rPr>
              <a:t>circuit </a:t>
            </a:r>
            <a:r>
              <a:rPr sz="1400" spc="-20" dirty="0">
                <a:solidFill>
                  <a:srgbClr val="777293"/>
                </a:solidFill>
                <a:latin typeface="Times New Roman"/>
                <a:cs typeface="Times New Roman"/>
              </a:rPr>
              <a:t>difficulty</a:t>
            </a:r>
            <a:r>
              <a:rPr sz="1400" spc="9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and</a:t>
            </a:r>
            <a:r>
              <a:rPr sz="1400" spc="2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reduce</a:t>
            </a:r>
            <a:r>
              <a:rPr sz="1400" spc="1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77293"/>
                </a:solidFill>
                <a:latin typeface="Times New Roman"/>
                <a:cs typeface="Times New Roman"/>
              </a:rPr>
              <a:t>effective</a:t>
            </a:r>
            <a:r>
              <a:rPr sz="1400" spc="18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777293"/>
                </a:solidFill>
                <a:latin typeface="Times New Roman"/>
                <a:cs typeface="Times New Roman"/>
              </a:rPr>
              <a:t>dataset</a:t>
            </a:r>
            <a:r>
              <a:rPr sz="1400" spc="7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777293"/>
                </a:solidFill>
                <a:latin typeface="Times New Roman"/>
                <a:cs typeface="Times New Roman"/>
              </a:rPr>
              <a:t>size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0038"/>
            <a:ext cx="10058400" cy="14539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2341" y="3404277"/>
            <a:ext cx="2861413" cy="242584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446932" y="3072403"/>
            <a:ext cx="2901315" cy="2844800"/>
            <a:chOff x="5446932" y="3072403"/>
            <a:chExt cx="2901315" cy="2844800"/>
          </a:xfrm>
        </p:grpSpPr>
        <p:sp>
          <p:nvSpPr>
            <p:cNvPr id="5" name="object 5"/>
            <p:cNvSpPr/>
            <p:nvPr/>
          </p:nvSpPr>
          <p:spPr>
            <a:xfrm>
              <a:off x="5446932" y="3072403"/>
              <a:ext cx="2901315" cy="2844800"/>
            </a:xfrm>
            <a:custGeom>
              <a:avLst/>
              <a:gdLst/>
              <a:ahLst/>
              <a:cxnLst/>
              <a:rect l="l" t="t" r="r" b="b"/>
              <a:pathLst>
                <a:path w="2901315" h="2844800">
                  <a:moveTo>
                    <a:pt x="0" y="7901"/>
                  </a:moveTo>
                  <a:lnTo>
                    <a:pt x="2900824" y="7901"/>
                  </a:lnTo>
                </a:path>
                <a:path w="2901315" h="2844800">
                  <a:moveTo>
                    <a:pt x="7881" y="2844641"/>
                  </a:moveTo>
                  <a:lnTo>
                    <a:pt x="7881" y="0"/>
                  </a:lnTo>
                </a:path>
                <a:path w="2901315" h="2844800">
                  <a:moveTo>
                    <a:pt x="0" y="2828837"/>
                  </a:moveTo>
                  <a:lnTo>
                    <a:pt x="2900824" y="2828837"/>
                  </a:lnTo>
                </a:path>
              </a:pathLst>
            </a:custGeom>
            <a:ln w="7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39875" y="3080305"/>
              <a:ext cx="0" cy="2828925"/>
            </a:xfrm>
            <a:custGeom>
              <a:avLst/>
              <a:gdLst/>
              <a:ahLst/>
              <a:cxnLst/>
              <a:rect l="l" t="t" r="r" b="b"/>
              <a:pathLst>
                <a:path h="2828925">
                  <a:moveTo>
                    <a:pt x="0" y="2828837"/>
                  </a:moveTo>
                  <a:lnTo>
                    <a:pt x="0" y="0"/>
                  </a:lnTo>
                </a:path>
              </a:pathLst>
            </a:custGeom>
            <a:ln w="157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7568" y="2861852"/>
            <a:ext cx="3678554" cy="62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5175" marR="5080" indent="-753110">
              <a:lnSpc>
                <a:spcPct val="106500"/>
              </a:lnSpc>
              <a:spcBef>
                <a:spcPts val="100"/>
              </a:spcBef>
            </a:pPr>
            <a:r>
              <a:rPr sz="1850" spc="80" dirty="0">
                <a:solidFill>
                  <a:srgbClr val="757090"/>
                </a:solidFill>
                <a:latin typeface="Times New Roman"/>
                <a:cs typeface="Times New Roman"/>
              </a:rPr>
              <a:t>How</a:t>
            </a:r>
            <a:r>
              <a:rPr sz="1850" spc="10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757090"/>
                </a:solidFill>
                <a:latin typeface="Times New Roman"/>
                <a:cs typeface="Times New Roman"/>
              </a:rPr>
              <a:t>can</a:t>
            </a:r>
            <a:r>
              <a:rPr sz="1850" spc="14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757090"/>
                </a:solidFill>
                <a:latin typeface="Times New Roman"/>
                <a:cs typeface="Times New Roman"/>
              </a:rPr>
              <a:t>we</a:t>
            </a:r>
            <a:r>
              <a:rPr sz="1850" spc="34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850" spc="55" dirty="0">
                <a:solidFill>
                  <a:srgbClr val="757090"/>
                </a:solidFill>
                <a:latin typeface="Times New Roman"/>
                <a:cs typeface="Times New Roman"/>
              </a:rPr>
              <a:t>predict</a:t>
            </a:r>
            <a:r>
              <a:rPr sz="1850" spc="7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850" spc="55" dirty="0">
                <a:solidFill>
                  <a:srgbClr val="757090"/>
                </a:solidFill>
                <a:latin typeface="Times New Roman"/>
                <a:cs typeface="Times New Roman"/>
              </a:rPr>
              <a:t>threshold</a:t>
            </a:r>
            <a:r>
              <a:rPr sz="1850" spc="21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850" spc="30" dirty="0">
                <a:solidFill>
                  <a:srgbClr val="757090"/>
                </a:solidFill>
                <a:latin typeface="Times New Roman"/>
                <a:cs typeface="Times New Roman"/>
              </a:rPr>
              <a:t>from </a:t>
            </a:r>
            <a:r>
              <a:rPr sz="1850" dirty="0">
                <a:solidFill>
                  <a:srgbClr val="757090"/>
                </a:solidFill>
                <a:latin typeface="Times New Roman"/>
                <a:cs typeface="Times New Roman"/>
              </a:rPr>
              <a:t>QASM</a:t>
            </a:r>
            <a:r>
              <a:rPr sz="1850" spc="16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757090"/>
                </a:solidFill>
                <a:latin typeface="Times New Roman"/>
                <a:cs typeface="Times New Roman"/>
              </a:rPr>
              <a:t>only</a:t>
            </a:r>
            <a:r>
              <a:rPr sz="1850" spc="-3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757090"/>
                </a:solidFill>
                <a:latin typeface="Times New Roman"/>
                <a:cs typeface="Times New Roman"/>
              </a:rPr>
              <a:t>features?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4143" y="2780727"/>
            <a:ext cx="1537970" cy="2971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52095" marR="5080" indent="-240029">
              <a:lnSpc>
                <a:spcPts val="1000"/>
              </a:lnSpc>
              <a:spcBef>
                <a:spcPts val="250"/>
              </a:spcBef>
            </a:pPr>
            <a:r>
              <a:rPr sz="950" dirty="0">
                <a:solidFill>
                  <a:srgbClr val="757575"/>
                </a:solidFill>
                <a:latin typeface="Arial"/>
                <a:cs typeface="Arial"/>
              </a:rPr>
              <a:t>Etgl </a:t>
            </a:r>
            <a:r>
              <a:rPr sz="950" dirty="0">
                <a:solidFill>
                  <a:srgbClr val="5D5D5D"/>
                </a:solidFill>
                <a:latin typeface="Arial"/>
                <a:cs typeface="Arial"/>
              </a:rPr>
              <a:t>Prog</a:t>
            </a:r>
            <a:r>
              <a:rPr sz="950" spc="120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57575"/>
                </a:solidFill>
                <a:latin typeface="Arial"/>
                <a:cs typeface="Arial"/>
              </a:rPr>
              <a:t>vs</a:t>
            </a:r>
            <a:r>
              <a:rPr sz="950" spc="45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5D5D5D"/>
                </a:solidFill>
                <a:latin typeface="Arial"/>
                <a:cs typeface="Arial"/>
              </a:rPr>
              <a:t>Min</a:t>
            </a:r>
            <a:r>
              <a:rPr sz="950" spc="-5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5D5D5D"/>
                </a:solidFill>
                <a:latin typeface="Arial"/>
                <a:cs typeface="Arial"/>
              </a:rPr>
              <a:t>Threshold </a:t>
            </a:r>
            <a:r>
              <a:rPr sz="950" dirty="0">
                <a:solidFill>
                  <a:srgbClr val="757575"/>
                </a:solidFill>
                <a:latin typeface="Arial"/>
                <a:cs typeface="Arial"/>
              </a:rPr>
              <a:t>Correlation:</a:t>
            </a:r>
            <a:r>
              <a:rPr sz="950" spc="25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757575"/>
                </a:solidFill>
                <a:latin typeface="Arial"/>
                <a:cs typeface="Arial"/>
              </a:rPr>
              <a:t>0.963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42915" y="3708527"/>
            <a:ext cx="1873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8A8A8A"/>
                </a:solidFill>
                <a:latin typeface="Times New Roman"/>
                <a:cs typeface="Times New Roman"/>
              </a:rPr>
              <a:t>200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56698" y="5913125"/>
            <a:ext cx="793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20" dirty="0">
                <a:solidFill>
                  <a:srgbClr val="8A8A8A"/>
                </a:solidFill>
                <a:latin typeface="Times New Roman"/>
                <a:cs typeface="Times New Roman"/>
              </a:rPr>
              <a:t>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5408" y="5913125"/>
            <a:ext cx="10706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800" algn="l"/>
                <a:tab pos="847725" algn="l"/>
              </a:tabLst>
            </a:pPr>
            <a:r>
              <a:rPr sz="800" spc="-20" dirty="0">
                <a:solidFill>
                  <a:srgbClr val="757575"/>
                </a:solidFill>
                <a:latin typeface="Times New Roman"/>
                <a:cs typeface="Times New Roman"/>
              </a:rPr>
              <a:t>1000</a:t>
            </a:r>
            <a:r>
              <a:rPr sz="800" dirty="0">
                <a:solidFill>
                  <a:srgbClr val="757575"/>
                </a:solidFill>
                <a:latin typeface="Times New Roman"/>
                <a:cs typeface="Times New Roman"/>
              </a:rPr>
              <a:t>	</a:t>
            </a:r>
            <a:r>
              <a:rPr sz="800" spc="-20" dirty="0">
                <a:solidFill>
                  <a:srgbClr val="8A8A8A"/>
                </a:solidFill>
                <a:latin typeface="Times New Roman"/>
                <a:cs typeface="Times New Roman"/>
              </a:rPr>
              <a:t>2000</a:t>
            </a:r>
            <a:r>
              <a:rPr sz="800" dirty="0">
                <a:solidFill>
                  <a:srgbClr val="8A8A8A"/>
                </a:solidFill>
                <a:latin typeface="Times New Roman"/>
                <a:cs typeface="Times New Roman"/>
              </a:rPr>
              <a:t>	</a:t>
            </a:r>
            <a:r>
              <a:rPr sz="800" spc="-20" dirty="0">
                <a:solidFill>
                  <a:srgbClr val="8A8A8A"/>
                </a:solidFill>
                <a:latin typeface="Times New Roman"/>
                <a:cs typeface="Times New Roman"/>
              </a:rPr>
              <a:t>3000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51032" y="5913125"/>
            <a:ext cx="23304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757575"/>
                </a:solidFill>
                <a:latin typeface="Times New Roman"/>
                <a:cs typeface="Times New Roman"/>
              </a:rPr>
              <a:t>4000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65563" y="5913125"/>
            <a:ext cx="65341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909" algn="l"/>
              </a:tabLst>
            </a:pPr>
            <a:r>
              <a:rPr sz="800" spc="-20" dirty="0">
                <a:solidFill>
                  <a:srgbClr val="757575"/>
                </a:solidFill>
                <a:latin typeface="Times New Roman"/>
                <a:cs typeface="Times New Roman"/>
              </a:rPr>
              <a:t>5000</a:t>
            </a:r>
            <a:r>
              <a:rPr sz="800" dirty="0">
                <a:solidFill>
                  <a:srgbClr val="757575"/>
                </a:solidFill>
                <a:latin typeface="Times New Roman"/>
                <a:cs typeface="Times New Roman"/>
              </a:rPr>
              <a:t>	</a:t>
            </a:r>
            <a:r>
              <a:rPr sz="800" spc="-20" dirty="0">
                <a:solidFill>
                  <a:srgbClr val="757575"/>
                </a:solidFill>
                <a:latin typeface="Times New Roman"/>
                <a:cs typeface="Times New Roman"/>
              </a:rPr>
              <a:t>6000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3386" y="6033188"/>
            <a:ext cx="13068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A8A8A"/>
                </a:solidFill>
                <a:latin typeface="Arial"/>
                <a:cs typeface="Arial"/>
              </a:rPr>
              <a:t>Entanglement</a:t>
            </a:r>
            <a:r>
              <a:rPr sz="850" spc="65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5D5D5D"/>
                </a:solidFill>
                <a:latin typeface="Arial"/>
                <a:cs typeface="Arial"/>
              </a:rPr>
              <a:t>Progression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35032" y="3202814"/>
            <a:ext cx="1752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8A8A8A"/>
                </a:solidFill>
                <a:latin typeface="Times New Roman"/>
                <a:cs typeface="Times New Roman"/>
              </a:rPr>
              <a:t>250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0743" y="3996911"/>
            <a:ext cx="1017269" cy="0"/>
          </a:xfrm>
          <a:custGeom>
            <a:avLst/>
            <a:gdLst/>
            <a:ahLst/>
            <a:cxnLst/>
            <a:rect l="l" t="t" r="r" b="b"/>
            <a:pathLst>
              <a:path w="1017269">
                <a:moveTo>
                  <a:pt x="0" y="0"/>
                </a:moveTo>
                <a:lnTo>
                  <a:pt x="1016866" y="0"/>
                </a:lnTo>
              </a:path>
            </a:pathLst>
          </a:custGeom>
          <a:ln w="12730">
            <a:solidFill>
              <a:srgbClr val="757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3997" y="3805983"/>
            <a:ext cx="43840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Per</a:t>
            </a:r>
            <a:r>
              <a:rPr sz="1400" spc="14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QASMBench,</a:t>
            </a:r>
            <a:r>
              <a:rPr sz="1400" spc="11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important</a:t>
            </a:r>
            <a:r>
              <a:rPr sz="1400" spc="33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757090"/>
                </a:solidFill>
                <a:latin typeface="Times New Roman"/>
                <a:cs typeface="Times New Roman"/>
              </a:rPr>
              <a:t>metrics</a:t>
            </a:r>
            <a:r>
              <a:rPr sz="1400" spc="2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for</a:t>
            </a:r>
            <a:r>
              <a:rPr sz="1400" spc="26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circuit</a:t>
            </a:r>
            <a:r>
              <a:rPr sz="1400" spc="11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90"/>
                </a:solidFill>
                <a:latin typeface="Times New Roman"/>
                <a:cs typeface="Times New Roman"/>
              </a:rPr>
              <a:t>execution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736" y="4028768"/>
            <a:ext cx="4244340" cy="697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2860" marR="5080" indent="-10795">
              <a:lnSpc>
                <a:spcPct val="101899"/>
              </a:lnSpc>
              <a:spcBef>
                <a:spcPts val="70"/>
              </a:spcBef>
            </a:pP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and</a:t>
            </a:r>
            <a:r>
              <a:rPr sz="1400" spc="2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90"/>
                </a:solidFill>
                <a:latin typeface="Times New Roman"/>
                <a:cs typeface="Times New Roman"/>
              </a:rPr>
              <a:t>difficulty</a:t>
            </a:r>
            <a:r>
              <a:rPr sz="1400" spc="14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include:</a:t>
            </a:r>
            <a:r>
              <a:rPr sz="1400" spc="-1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50" spc="100" dirty="0">
                <a:solidFill>
                  <a:srgbClr val="757090"/>
                </a:solidFill>
                <a:latin typeface="Times New Roman"/>
                <a:cs typeface="Times New Roman"/>
              </a:rPr>
              <a:t>Measure</a:t>
            </a:r>
            <a:r>
              <a:rPr sz="1450" spc="12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50" spc="60" dirty="0">
                <a:solidFill>
                  <a:srgbClr val="757090"/>
                </a:solidFill>
                <a:latin typeface="Times New Roman"/>
                <a:cs typeface="Times New Roman"/>
              </a:rPr>
              <a:t>Density, </a:t>
            </a:r>
            <a:r>
              <a:rPr sz="1450" spc="120" dirty="0">
                <a:solidFill>
                  <a:srgbClr val="757090"/>
                </a:solidFill>
                <a:latin typeface="Times New Roman"/>
                <a:cs typeface="Times New Roman"/>
              </a:rPr>
              <a:t>Entanglement</a:t>
            </a:r>
            <a:r>
              <a:rPr sz="1450" spc="-3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50" spc="85" dirty="0">
                <a:solidFill>
                  <a:srgbClr val="757090"/>
                </a:solidFill>
                <a:latin typeface="Times New Roman"/>
                <a:cs typeface="Times New Roman"/>
              </a:rPr>
              <a:t>Variance,</a:t>
            </a:r>
            <a:r>
              <a:rPr sz="1450" spc="-3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50" spc="170" dirty="0">
                <a:solidFill>
                  <a:srgbClr val="757090"/>
                </a:solidFill>
                <a:latin typeface="Times New Roman"/>
                <a:cs typeface="Times New Roman"/>
              </a:rPr>
              <a:t>Gate</a:t>
            </a:r>
            <a:r>
              <a:rPr sz="1450" spc="7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50" spc="70" dirty="0">
                <a:solidFill>
                  <a:srgbClr val="757090"/>
                </a:solidFill>
                <a:latin typeface="Times New Roman"/>
                <a:cs typeface="Times New Roman"/>
              </a:rPr>
              <a:t>Density,</a:t>
            </a:r>
            <a:r>
              <a:rPr sz="1450" spc="-12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50" spc="100" dirty="0">
                <a:solidFill>
                  <a:srgbClr val="757090"/>
                </a:solidFill>
                <a:latin typeface="Times New Roman"/>
                <a:cs typeface="Times New Roman"/>
              </a:rPr>
              <a:t>Retention </a:t>
            </a:r>
            <a:r>
              <a:rPr sz="1450" spc="40" dirty="0">
                <a:solidFill>
                  <a:srgbClr val="757090"/>
                </a:solidFill>
                <a:latin typeface="Times New Roman"/>
                <a:cs typeface="Times New Roman"/>
              </a:rPr>
              <a:t>Lifespan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93877" y="3986626"/>
            <a:ext cx="1181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757575"/>
                </a:solidFill>
                <a:latin typeface="Times New Roman"/>
                <a:cs typeface="Times New Roman"/>
              </a:rPr>
              <a:t>:2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99105" y="4081667"/>
            <a:ext cx="6731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30" dirty="0">
                <a:solidFill>
                  <a:srgbClr val="757575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99706" y="4111518"/>
            <a:ext cx="267335" cy="24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10"/>
              </a:lnSpc>
              <a:spcBef>
                <a:spcPts val="100"/>
              </a:spcBef>
            </a:pPr>
            <a:r>
              <a:rPr sz="800" i="1" spc="-20" dirty="0">
                <a:solidFill>
                  <a:srgbClr val="757575"/>
                </a:solidFill>
                <a:latin typeface="Times New Roman"/>
                <a:cs typeface="Times New Roman"/>
              </a:rPr>
              <a:t>.s::</a:t>
            </a:r>
            <a:endParaRPr sz="800">
              <a:latin typeface="Times New Roman"/>
              <a:cs typeface="Times New Roman"/>
            </a:endParaRPr>
          </a:p>
          <a:p>
            <a:pPr marL="146685">
              <a:lnSpc>
                <a:spcPts val="850"/>
              </a:lnSpc>
            </a:pPr>
            <a:r>
              <a:rPr sz="750" spc="-75" dirty="0">
                <a:solidFill>
                  <a:srgbClr val="757575"/>
                </a:solidFill>
                <a:latin typeface="Times New Roman"/>
                <a:cs typeface="Times New Roman"/>
              </a:rPr>
              <a:t>150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8782" y="4506607"/>
            <a:ext cx="768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35" dirty="0">
                <a:solidFill>
                  <a:srgbClr val="757575"/>
                </a:solidFill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19378" y="4588917"/>
            <a:ext cx="10541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30" dirty="0">
                <a:solidFill>
                  <a:srgbClr val="757575"/>
                </a:solidFill>
                <a:latin typeface="Arial"/>
                <a:cs typeface="Arial"/>
              </a:rPr>
              <a:t>::&gt;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11695" y="4719956"/>
            <a:ext cx="27686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8A8A8A"/>
                </a:solidFill>
                <a:latin typeface="Times New Roman"/>
                <a:cs typeface="Times New Roman"/>
              </a:rPr>
              <a:t>-</a:t>
            </a:r>
            <a:r>
              <a:rPr sz="800" spc="190" dirty="0">
                <a:solidFill>
                  <a:srgbClr val="8A8A8A"/>
                </a:solidFill>
                <a:latin typeface="Times New Roman"/>
                <a:cs typeface="Times New Roman"/>
              </a:rPr>
              <a:t>  </a:t>
            </a:r>
            <a:r>
              <a:rPr sz="800" spc="-50" dirty="0">
                <a:solidFill>
                  <a:srgbClr val="757575"/>
                </a:solidFill>
                <a:latin typeface="Times New Roman"/>
                <a:cs typeface="Times New Roman"/>
              </a:rPr>
              <a:t>100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9860" y="4838262"/>
            <a:ext cx="4699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spc="-65" dirty="0">
                <a:solidFill>
                  <a:srgbClr val="5D5D5D"/>
                </a:solidFill>
                <a:latin typeface="Arial"/>
                <a:cs typeface="Arial"/>
              </a:rPr>
              <a:t>'i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7818" y="4937474"/>
            <a:ext cx="3741420" cy="47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Problem:</a:t>
            </a:r>
            <a:r>
              <a:rPr sz="1400" spc="-3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757090"/>
                </a:solidFill>
                <a:latin typeface="Times New Roman"/>
                <a:cs typeface="Times New Roman"/>
              </a:rPr>
              <a:t>Certain</a:t>
            </a:r>
            <a:r>
              <a:rPr sz="1400" spc="29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features</a:t>
            </a:r>
            <a:r>
              <a:rPr sz="1400" spc="30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require</a:t>
            </a:r>
            <a:r>
              <a:rPr sz="1400" spc="17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50" spc="100" dirty="0">
                <a:solidFill>
                  <a:srgbClr val="757090"/>
                </a:solidFill>
                <a:latin typeface="Times New Roman"/>
                <a:cs typeface="Times New Roman"/>
              </a:rPr>
              <a:t>compiling</a:t>
            </a:r>
            <a:r>
              <a:rPr sz="1450" spc="21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757090"/>
                </a:solidFill>
                <a:latin typeface="Times New Roman"/>
                <a:cs typeface="Times New Roman"/>
              </a:rPr>
              <a:t>or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450" spc="95" dirty="0">
                <a:solidFill>
                  <a:srgbClr val="757090"/>
                </a:solidFill>
                <a:latin typeface="Times New Roman"/>
                <a:cs typeface="Times New Roman"/>
              </a:rPr>
              <a:t>simulating</a:t>
            </a:r>
            <a:r>
              <a:rPr sz="1450" spc="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105" dirty="0">
                <a:solidFill>
                  <a:srgbClr val="757090"/>
                </a:solidFill>
                <a:latin typeface="Times New Roman"/>
                <a:cs typeface="Times New Roman"/>
              </a:rPr>
              <a:t>a</a:t>
            </a:r>
            <a:r>
              <a:rPr sz="1400" spc="-3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circuit</a:t>
            </a:r>
            <a:r>
              <a:rPr sz="1400" spc="9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to</a:t>
            </a:r>
            <a:r>
              <a:rPr sz="1400" spc="15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gain</a:t>
            </a:r>
            <a:r>
              <a:rPr sz="1400" spc="17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90"/>
                </a:solidFill>
                <a:latin typeface="Times New Roman"/>
                <a:cs typeface="Times New Roman"/>
              </a:rPr>
              <a:t>meaningful</a:t>
            </a:r>
            <a:r>
              <a:rPr sz="1400" spc="14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90"/>
                </a:solidFill>
                <a:latin typeface="Times New Roman"/>
                <a:cs typeface="Times New Roman"/>
              </a:rPr>
              <a:t>insight.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95351" y="5209866"/>
            <a:ext cx="13525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757575"/>
                </a:solidFill>
                <a:latin typeface="Times New Roman"/>
                <a:cs typeface="Times New Roman"/>
              </a:rPr>
              <a:t>50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5818" y="5623392"/>
            <a:ext cx="4035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Select</a:t>
            </a:r>
            <a:r>
              <a:rPr sz="1400" spc="22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only</a:t>
            </a:r>
            <a:r>
              <a:rPr sz="1400" spc="15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features</a:t>
            </a:r>
            <a:r>
              <a:rPr sz="1400" spc="15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757090"/>
                </a:solidFill>
                <a:latin typeface="Times New Roman"/>
                <a:cs typeface="Times New Roman"/>
              </a:rPr>
              <a:t>we</a:t>
            </a:r>
            <a:r>
              <a:rPr sz="1400" spc="16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can</a:t>
            </a:r>
            <a:r>
              <a:rPr sz="1400" spc="19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757090"/>
                </a:solidFill>
                <a:latin typeface="Times New Roman"/>
                <a:cs typeface="Times New Roman"/>
              </a:rPr>
              <a:t>extract</a:t>
            </a:r>
            <a:r>
              <a:rPr sz="1400" spc="114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via</a:t>
            </a:r>
            <a:r>
              <a:rPr sz="1400" spc="7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90"/>
                </a:solidFill>
                <a:latin typeface="Times New Roman"/>
                <a:cs typeface="Times New Roman"/>
              </a:rPr>
              <a:t>static</a:t>
            </a:r>
            <a:r>
              <a:rPr sz="1400" spc="130" dirty="0">
                <a:solidFill>
                  <a:srgbClr val="75709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90"/>
                </a:solidFill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54428" y="2969052"/>
            <a:ext cx="13271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spc="-20" dirty="0">
                <a:solidFill>
                  <a:srgbClr val="609AC1"/>
                </a:solidFill>
                <a:latin typeface="Times New Roman"/>
                <a:cs typeface="Times New Roman"/>
              </a:rPr>
              <a:t>•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99586" y="2403855"/>
            <a:ext cx="622300" cy="1125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200" spc="-85" dirty="0">
                <a:solidFill>
                  <a:srgbClr val="8A8A8A"/>
                </a:solidFill>
                <a:latin typeface="Times New Roman"/>
                <a:cs typeface="Times New Roman"/>
              </a:rPr>
              <a:t>-</a:t>
            </a:r>
            <a:r>
              <a:rPr sz="7200" spc="-50" dirty="0">
                <a:solidFill>
                  <a:srgbClr val="8A8A8A"/>
                </a:solidFill>
                <a:latin typeface="Times New Roman"/>
                <a:cs typeface="Times New Roman"/>
              </a:rPr>
              <a:t>-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41905" y="3221910"/>
            <a:ext cx="30226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8A8A8A"/>
                </a:solidFill>
                <a:latin typeface="Times New Roman"/>
                <a:cs typeface="Times New Roman"/>
              </a:rPr>
              <a:t>eutlk11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49729" y="3334071"/>
            <a:ext cx="54483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8A8A8A"/>
                </a:solidFill>
                <a:latin typeface="Times New Roman"/>
                <a:cs typeface="Times New Roman"/>
              </a:rPr>
              <a:t>O.utsch.Jo&lt;Sa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54428" y="3403650"/>
            <a:ext cx="12382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spc="-90" dirty="0">
                <a:solidFill>
                  <a:srgbClr val="67B567"/>
                </a:solidFill>
                <a:latin typeface="Times New Roman"/>
                <a:cs typeface="Times New Roman"/>
              </a:rPr>
              <a:t>•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54375" y="3620072"/>
            <a:ext cx="15049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85" dirty="0">
                <a:solidFill>
                  <a:srgbClr val="DA6267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54375" y="3841321"/>
            <a:ext cx="13462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40" dirty="0">
                <a:solidFill>
                  <a:srgbClr val="AF90C6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7075" y="4017531"/>
            <a:ext cx="128270" cy="13296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r>
              <a:rPr sz="2550" spc="-40" dirty="0">
                <a:solidFill>
                  <a:srgbClr val="A5857E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  <a:p>
            <a:pPr marL="7620">
              <a:lnSpc>
                <a:spcPct val="100000"/>
              </a:lnSpc>
              <a:spcBef>
                <a:spcPts val="360"/>
              </a:spcBef>
            </a:pPr>
            <a:r>
              <a:rPr sz="2550" spc="50" dirty="0">
                <a:solidFill>
                  <a:srgbClr val="A5A5A5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r>
              <a:rPr sz="2550" spc="-85" dirty="0">
                <a:solidFill>
                  <a:srgbClr val="5BCDD8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50347" y="3444696"/>
            <a:ext cx="924560" cy="197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>
              <a:lnSpc>
                <a:spcPts val="819"/>
              </a:lnSpc>
              <a:spcBef>
                <a:spcPts val="100"/>
              </a:spcBef>
            </a:pPr>
            <a:r>
              <a:rPr sz="700" spc="-25" dirty="0">
                <a:solidFill>
                  <a:srgbClr val="8A8A8A"/>
                </a:solidFill>
                <a:latin typeface="Arial"/>
                <a:cs typeface="Arial"/>
              </a:rPr>
              <a:t>GHZ</a:t>
            </a:r>
            <a:endParaRPr sz="700">
              <a:latin typeface="Arial"/>
              <a:cs typeface="Arial"/>
            </a:endParaRPr>
          </a:p>
          <a:p>
            <a:pPr marL="203835">
              <a:lnSpc>
                <a:spcPts val="760"/>
              </a:lnSpc>
            </a:pPr>
            <a:r>
              <a:rPr sz="650" spc="-10" dirty="0">
                <a:solidFill>
                  <a:srgbClr val="8A8A8A"/>
                </a:solidFill>
                <a:latin typeface="Times New Roman"/>
                <a:cs typeface="Times New Roman"/>
              </a:rPr>
              <a:t>GraphStatt</a:t>
            </a:r>
            <a:endParaRPr sz="650">
              <a:latin typeface="Times New Roman"/>
              <a:cs typeface="Times New Roman"/>
            </a:endParaRPr>
          </a:p>
          <a:p>
            <a:pPr marL="202565" marR="80645">
              <a:lnSpc>
                <a:spcPct val="111600"/>
              </a:lnSpc>
              <a:spcBef>
                <a:spcPts val="120"/>
              </a:spcBef>
            </a:pPr>
            <a:r>
              <a:rPr sz="600" spc="-10" dirty="0">
                <a:solidFill>
                  <a:srgbClr val="8A8A8A"/>
                </a:solidFill>
                <a:latin typeface="Arial"/>
                <a:cs typeface="Arial"/>
              </a:rPr>
              <a:t>Ground_St•te</a:t>
            </a:r>
            <a:r>
              <a:rPr sz="600" spc="50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8A8A8A"/>
                </a:solidFill>
                <a:latin typeface="Times New Roman"/>
                <a:cs typeface="Times New Roman"/>
              </a:rPr>
              <a:t>Grover_NoAncilla</a:t>
            </a:r>
            <a:r>
              <a:rPr sz="650" spc="50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650" spc="-25" dirty="0">
                <a:solidFill>
                  <a:srgbClr val="8A8A8A"/>
                </a:solidFill>
                <a:latin typeface="Arial"/>
                <a:cs typeface="Arial"/>
              </a:rPr>
              <a:t>Grover_v</a:t>
            </a:r>
            <a:r>
              <a:rPr sz="650" spc="-65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8A8A8A"/>
                </a:solidFill>
                <a:latin typeface="Arial"/>
                <a:cs typeface="Arial"/>
              </a:rPr>
              <a:t>_Chain</a:t>
            </a:r>
            <a:r>
              <a:rPr sz="650" spc="50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57575"/>
                </a:solidFill>
                <a:latin typeface="Times New Roman"/>
                <a:cs typeface="Times New Roman"/>
              </a:rPr>
              <a:t>Portfolto</a:t>
            </a:r>
            <a:r>
              <a:rPr sz="600" spc="-10" dirty="0">
                <a:solidFill>
                  <a:srgbClr val="A5A5A5"/>
                </a:solidFill>
                <a:latin typeface="Times New Roman"/>
                <a:cs typeface="Times New Roman"/>
              </a:rPr>
              <a:t>..</a:t>
            </a:r>
            <a:r>
              <a:rPr sz="700" spc="-10" dirty="0">
                <a:solidFill>
                  <a:srgbClr val="8A8A8A"/>
                </a:solidFill>
                <a:latin typeface="Arial"/>
                <a:cs typeface="Arial"/>
              </a:rPr>
              <a:t>OAOA</a:t>
            </a:r>
            <a:r>
              <a:rPr sz="700" spc="50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8A8A8A"/>
                </a:solidFill>
                <a:latin typeface="Arial"/>
                <a:cs typeface="Arial"/>
              </a:rPr>
              <a:t>Portfoho</a:t>
            </a:r>
            <a:r>
              <a:rPr sz="650" spc="-10" dirty="0">
                <a:solidFill>
                  <a:srgbClr val="A5A5A5"/>
                </a:solidFill>
                <a:latin typeface="Arial"/>
                <a:cs typeface="Arial"/>
              </a:rPr>
              <a:t>..</a:t>
            </a:r>
            <a:r>
              <a:rPr sz="650" spc="-10" dirty="0">
                <a:solidFill>
                  <a:srgbClr val="8A8A8A"/>
                </a:solidFill>
                <a:latin typeface="Arial"/>
                <a:cs typeface="Arial"/>
              </a:rPr>
              <a:t>VOE</a:t>
            </a:r>
            <a:r>
              <a:rPr sz="650" spc="50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57575"/>
                </a:solidFill>
                <a:latin typeface="Times New Roman"/>
                <a:cs typeface="Times New Roman"/>
              </a:rPr>
              <a:t>Pricing</a:t>
            </a:r>
            <a:r>
              <a:rPr sz="600" spc="-10" dirty="0">
                <a:solidFill>
                  <a:srgbClr val="A5A5A5"/>
                </a:solidFill>
                <a:latin typeface="Times New Roman"/>
                <a:cs typeface="Times New Roman"/>
              </a:rPr>
              <a:t>_</a:t>
            </a:r>
            <a:r>
              <a:rPr sz="600" spc="-10" dirty="0">
                <a:solidFill>
                  <a:srgbClr val="8A8A8A"/>
                </a:solidFill>
                <a:latin typeface="Times New Roman"/>
                <a:cs typeface="Times New Roman"/>
              </a:rPr>
              <a:t>Call</a:t>
            </a:r>
            <a:r>
              <a:rPr sz="600" spc="500" dirty="0">
                <a:solidFill>
                  <a:srgbClr val="8A8A8A"/>
                </a:solidFill>
                <a:latin typeface="Times New Roman"/>
                <a:cs typeface="Times New Roman"/>
              </a:rPr>
              <a:t> </a:t>
            </a:r>
            <a:r>
              <a:rPr sz="550" spc="40" dirty="0">
                <a:solidFill>
                  <a:srgbClr val="8A8A8A"/>
                </a:solidFill>
                <a:latin typeface="Times New Roman"/>
                <a:cs typeface="Times New Roman"/>
              </a:rPr>
              <a:t>()W)A</a:t>
            </a:r>
            <a:endParaRPr sz="550">
              <a:latin typeface="Times New Roman"/>
              <a:cs typeface="Times New Roman"/>
            </a:endParaRPr>
          </a:p>
          <a:p>
            <a:pPr marL="202565" marR="154940" indent="635">
              <a:lnSpc>
                <a:spcPct val="114700"/>
              </a:lnSpc>
              <a:spcBef>
                <a:spcPts val="60"/>
              </a:spcBef>
            </a:pPr>
            <a:r>
              <a:rPr sz="650" spc="35" dirty="0">
                <a:solidFill>
                  <a:srgbClr val="757575"/>
                </a:solidFill>
                <a:latin typeface="Arial"/>
                <a:cs typeface="Arial"/>
              </a:rPr>
              <a:t>QfT </a:t>
            </a:r>
            <a:r>
              <a:rPr sz="600" spc="-10" dirty="0">
                <a:solidFill>
                  <a:srgbClr val="8A8A8A"/>
                </a:solidFill>
                <a:latin typeface="Arial"/>
                <a:cs typeface="Arial"/>
              </a:rPr>
              <a:t>OfT_Entangled</a:t>
            </a:r>
            <a:r>
              <a:rPr sz="600" spc="4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550" spc="40" dirty="0">
                <a:solidFill>
                  <a:srgbClr val="757575"/>
                </a:solidFill>
                <a:latin typeface="Arial"/>
                <a:cs typeface="Arial"/>
              </a:rPr>
              <a:t>()HN</a:t>
            </a:r>
            <a:endParaRPr sz="550">
              <a:latin typeface="Arial"/>
              <a:cs typeface="Arial"/>
            </a:endParaRPr>
          </a:p>
          <a:p>
            <a:pPr marL="210820" marR="320675" indent="-8255">
              <a:lnSpc>
                <a:spcPct val="103699"/>
              </a:lnSpc>
              <a:spcBef>
                <a:spcPts val="145"/>
              </a:spcBef>
            </a:pPr>
            <a:r>
              <a:rPr sz="650" spc="-60" dirty="0">
                <a:solidFill>
                  <a:srgbClr val="757575"/>
                </a:solidFill>
                <a:latin typeface="Arial"/>
                <a:cs typeface="Arial"/>
              </a:rPr>
              <a:t>OPE</a:t>
            </a:r>
            <a:r>
              <a:rPr sz="650" spc="-60" dirty="0">
                <a:solidFill>
                  <a:srgbClr val="A5A5A5"/>
                </a:solidFill>
                <a:latin typeface="Arial"/>
                <a:cs typeface="Arial"/>
              </a:rPr>
              <a:t>..</a:t>
            </a:r>
            <a:r>
              <a:rPr sz="650" spc="-60" dirty="0">
                <a:solidFill>
                  <a:srgbClr val="757575"/>
                </a:solidFill>
                <a:latin typeface="Arial"/>
                <a:cs typeface="Arial"/>
              </a:rPr>
              <a:t>Exac-</a:t>
            </a:r>
            <a:r>
              <a:rPr sz="650" spc="-50" dirty="0">
                <a:solidFill>
                  <a:srgbClr val="757575"/>
                </a:solidFill>
                <a:latin typeface="Arial"/>
                <a:cs typeface="Arial"/>
              </a:rPr>
              <a:t>t</a:t>
            </a:r>
            <a:r>
              <a:rPr sz="650" spc="50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757575"/>
                </a:solidFill>
                <a:latin typeface="Arial"/>
                <a:cs typeface="Arial"/>
              </a:rPr>
              <a:t>Shor</a:t>
            </a:r>
            <a:endParaRPr sz="65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spcBef>
                <a:spcPts val="90"/>
              </a:spcBef>
            </a:pPr>
            <a:r>
              <a:rPr sz="650" spc="-10" dirty="0">
                <a:solidFill>
                  <a:srgbClr val="757575"/>
                </a:solidFill>
                <a:latin typeface="Arial"/>
                <a:cs typeface="Arial"/>
              </a:rPr>
              <a:t>TWoLoc:alRandom</a:t>
            </a:r>
            <a:endParaRPr sz="650">
              <a:latin typeface="Arial"/>
              <a:cs typeface="Arial"/>
            </a:endParaRPr>
          </a:p>
          <a:p>
            <a:pPr marL="206375">
              <a:lnSpc>
                <a:spcPts val="640"/>
              </a:lnSpc>
              <a:spcBef>
                <a:spcPts val="140"/>
              </a:spcBef>
            </a:pPr>
            <a:r>
              <a:rPr sz="600" spc="-25" dirty="0">
                <a:solidFill>
                  <a:srgbClr val="757575"/>
                </a:solidFill>
                <a:latin typeface="Arial"/>
                <a:cs typeface="Arial"/>
              </a:rPr>
              <a:t>VQE</a:t>
            </a:r>
            <a:endParaRPr sz="600">
              <a:latin typeface="Arial"/>
              <a:cs typeface="Arial"/>
            </a:endParaRPr>
          </a:p>
          <a:p>
            <a:pPr marL="213995">
              <a:lnSpc>
                <a:spcPts val="940"/>
              </a:lnSpc>
            </a:pPr>
            <a:r>
              <a:rPr sz="850" spc="-10" dirty="0">
                <a:solidFill>
                  <a:srgbClr val="757575"/>
                </a:solidFill>
                <a:latin typeface="Times New Roman"/>
                <a:cs typeface="Times New Roman"/>
              </a:rPr>
              <a:t>w_state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r>
              <a:rPr sz="600" dirty="0">
                <a:solidFill>
                  <a:srgbClr val="5D5D5D"/>
                </a:solidFill>
                <a:latin typeface="Arial"/>
                <a:cs typeface="Arial"/>
              </a:rPr>
              <a:t>-</a:t>
            </a:r>
            <a:r>
              <a:rPr sz="600" spc="320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5D5D5D"/>
                </a:solidFill>
                <a:latin typeface="Arial"/>
                <a:cs typeface="Arial"/>
              </a:rPr>
              <a:t>-</a:t>
            </a:r>
            <a:r>
              <a:rPr sz="600" spc="200" dirty="0">
                <a:solidFill>
                  <a:srgbClr val="5D5D5D"/>
                </a:solidFill>
                <a:latin typeface="Arial"/>
                <a:cs typeface="Arial"/>
              </a:rPr>
              <a:t>  </a:t>
            </a:r>
            <a:r>
              <a:rPr sz="600" dirty="0">
                <a:solidFill>
                  <a:srgbClr val="5D5D5D"/>
                </a:solidFill>
                <a:latin typeface="Arial"/>
                <a:cs typeface="Arial"/>
              </a:rPr>
              <a:t>Tfe</a:t>
            </a:r>
            <a:r>
              <a:rPr sz="600" dirty="0">
                <a:solidFill>
                  <a:srgbClr val="8A8A8A"/>
                </a:solidFill>
                <a:latin typeface="Arial"/>
                <a:cs typeface="Arial"/>
              </a:rPr>
              <a:t>nd</a:t>
            </a:r>
            <a:r>
              <a:rPr sz="600" spc="3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8A8A8A"/>
                </a:solidFill>
                <a:latin typeface="Arial"/>
                <a:cs typeface="Arial"/>
              </a:rPr>
              <a:t>(COtr•0.963)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30250" y="3238340"/>
            <a:ext cx="3469004" cy="0"/>
          </a:xfrm>
          <a:custGeom>
            <a:avLst/>
            <a:gdLst/>
            <a:ahLst/>
            <a:cxnLst/>
            <a:rect l="l" t="t" r="r" b="b"/>
            <a:pathLst>
              <a:path w="3469004">
                <a:moveTo>
                  <a:pt x="0" y="0"/>
                </a:moveTo>
                <a:lnTo>
                  <a:pt x="3468378" y="0"/>
                </a:lnTo>
              </a:path>
            </a:pathLst>
          </a:custGeom>
          <a:ln w="15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7872" y="1125825"/>
            <a:ext cx="8750300" cy="1075690"/>
          </a:xfrm>
          <a:prstGeom prst="rect">
            <a:avLst/>
          </a:prstGeom>
          <a:solidFill>
            <a:srgbClr val="6B6293"/>
          </a:solidFill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5900" b="1" u="none" spc="-925" dirty="0">
                <a:solidFill>
                  <a:srgbClr val="DFDFE2"/>
                </a:solidFill>
                <a:latin typeface="Arial"/>
                <a:cs typeface="Arial"/>
              </a:rPr>
              <a:t>CLASSIFICATION</a:t>
            </a:r>
            <a:r>
              <a:rPr sz="5900" b="1" u="none" spc="-735" dirty="0">
                <a:solidFill>
                  <a:srgbClr val="DFDFE2"/>
                </a:solidFill>
                <a:latin typeface="Arial"/>
                <a:cs typeface="Arial"/>
              </a:rPr>
              <a:t> </a:t>
            </a:r>
            <a:r>
              <a:rPr sz="5900" b="1" u="none" spc="-1480" dirty="0">
                <a:solidFill>
                  <a:srgbClr val="DFDFE2"/>
                </a:solidFill>
                <a:latin typeface="Arial"/>
                <a:cs typeface="Arial"/>
              </a:rPr>
              <a:t>OF</a:t>
            </a:r>
            <a:r>
              <a:rPr sz="5900" b="1" u="none" spc="-395" dirty="0">
                <a:solidFill>
                  <a:srgbClr val="DFDFE2"/>
                </a:solidFill>
                <a:latin typeface="Arial"/>
                <a:cs typeface="Arial"/>
              </a:rPr>
              <a:t> </a:t>
            </a:r>
            <a:r>
              <a:rPr sz="5900" b="1" u="none" spc="-855" dirty="0">
                <a:solidFill>
                  <a:srgbClr val="DFDFE2"/>
                </a:solidFill>
                <a:latin typeface="Arial"/>
                <a:cs typeface="Arial"/>
              </a:rPr>
              <a:t>CIRCUITS?</a:t>
            </a:r>
            <a:endParaRPr sz="5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4477" y="2694246"/>
            <a:ext cx="4445635" cy="3058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99440" marR="5080" indent="-415925">
              <a:lnSpc>
                <a:spcPct val="103699"/>
              </a:lnSpc>
              <a:spcBef>
                <a:spcPts val="5"/>
              </a:spcBef>
            </a:pPr>
            <a:r>
              <a:rPr sz="2250" b="1" spc="70" dirty="0">
                <a:solidFill>
                  <a:srgbClr val="75708E"/>
                </a:solidFill>
                <a:latin typeface="Times New Roman"/>
                <a:cs typeface="Times New Roman"/>
              </a:rPr>
              <a:t>Different</a:t>
            </a:r>
            <a:r>
              <a:rPr sz="2250" b="1" spc="27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2250" b="1" spc="75" dirty="0">
                <a:solidFill>
                  <a:srgbClr val="75708E"/>
                </a:solidFill>
                <a:latin typeface="Times New Roman"/>
                <a:cs typeface="Times New Roman"/>
              </a:rPr>
              <a:t>Families</a:t>
            </a:r>
            <a:r>
              <a:rPr sz="2250" b="1" spc="13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2250" b="1" spc="75" dirty="0">
                <a:solidFill>
                  <a:srgbClr val="75708E"/>
                </a:solidFill>
                <a:latin typeface="Times New Roman"/>
                <a:cs typeface="Times New Roman"/>
              </a:rPr>
              <a:t>of</a:t>
            </a:r>
            <a:r>
              <a:rPr sz="2250" b="1" spc="-114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2250" b="1" spc="95" dirty="0">
                <a:solidFill>
                  <a:srgbClr val="75708E"/>
                </a:solidFill>
                <a:latin typeface="Times New Roman"/>
                <a:cs typeface="Times New Roman"/>
              </a:rPr>
              <a:t>Algorithm </a:t>
            </a:r>
            <a:r>
              <a:rPr sz="2250" b="1" spc="90" dirty="0">
                <a:solidFill>
                  <a:srgbClr val="75708E"/>
                </a:solidFill>
                <a:latin typeface="Times New Roman"/>
                <a:cs typeface="Times New Roman"/>
              </a:rPr>
              <a:t>leave</a:t>
            </a:r>
            <a:r>
              <a:rPr sz="2250" b="1" spc="4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2250" b="1" spc="114" dirty="0">
                <a:solidFill>
                  <a:srgbClr val="75708E"/>
                </a:solidFill>
                <a:latin typeface="Times New Roman"/>
                <a:cs typeface="Times New Roman"/>
              </a:rPr>
              <a:t>feature</a:t>
            </a:r>
            <a:r>
              <a:rPr sz="2250" b="1" spc="13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2250" b="1" spc="65" dirty="0">
                <a:solidFill>
                  <a:srgbClr val="75708E"/>
                </a:solidFill>
                <a:latin typeface="Times New Roman"/>
                <a:cs typeface="Times New Roman"/>
              </a:rPr>
              <a:t>fingerprints</a:t>
            </a:r>
            <a:endParaRPr sz="2250">
              <a:latin typeface="Times New Roman"/>
              <a:cs typeface="Times New Roman"/>
            </a:endParaRPr>
          </a:p>
          <a:p>
            <a:pPr marL="12700" marR="273685" indent="5080">
              <a:lnSpc>
                <a:spcPct val="107400"/>
              </a:lnSpc>
              <a:spcBef>
                <a:spcPts val="1820"/>
              </a:spcBef>
            </a:pPr>
            <a:r>
              <a:rPr sz="1400" spc="-65" dirty="0">
                <a:solidFill>
                  <a:srgbClr val="75708E"/>
                </a:solidFill>
                <a:latin typeface="Times New Roman"/>
                <a:cs typeface="Times New Roman"/>
              </a:rPr>
              <a:t>If</a:t>
            </a:r>
            <a:r>
              <a:rPr sz="1400" spc="4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75708E"/>
                </a:solidFill>
                <a:latin typeface="Times New Roman"/>
                <a:cs typeface="Times New Roman"/>
              </a:rPr>
              <a:t>we</a:t>
            </a:r>
            <a:r>
              <a:rPr sz="1400" spc="484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can</a:t>
            </a:r>
            <a:r>
              <a:rPr sz="1400" spc="19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reliably</a:t>
            </a:r>
            <a:r>
              <a:rPr sz="1400" spc="17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75708E"/>
                </a:solidFill>
                <a:latin typeface="Times New Roman"/>
                <a:cs typeface="Times New Roman"/>
              </a:rPr>
              <a:t>pattern</a:t>
            </a:r>
            <a:r>
              <a:rPr sz="1400" spc="16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match</a:t>
            </a:r>
            <a:r>
              <a:rPr sz="1400" spc="3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features</a:t>
            </a:r>
            <a:r>
              <a:rPr sz="1400" spc="1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114" dirty="0">
                <a:solidFill>
                  <a:srgbClr val="75708E"/>
                </a:solidFill>
                <a:latin typeface="Times New Roman"/>
                <a:cs typeface="Times New Roman"/>
              </a:rPr>
              <a:t>onto</a:t>
            </a:r>
            <a:r>
              <a:rPr sz="1400" spc="-3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8E"/>
                </a:solidFill>
                <a:latin typeface="Times New Roman"/>
                <a:cs typeface="Times New Roman"/>
              </a:rPr>
              <a:t>circuit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type,</a:t>
            </a:r>
            <a:r>
              <a:rPr sz="1400" spc="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threshold</a:t>
            </a:r>
            <a:r>
              <a:rPr sz="1400" spc="36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and</a:t>
            </a:r>
            <a:r>
              <a:rPr sz="1400" spc="40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runtime</a:t>
            </a:r>
            <a:r>
              <a:rPr sz="1400" spc="33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prediction</a:t>
            </a:r>
            <a:r>
              <a:rPr sz="1400" spc="145" dirty="0">
                <a:solidFill>
                  <a:srgbClr val="75708E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becomes</a:t>
            </a:r>
            <a:r>
              <a:rPr sz="1400" spc="409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75708E"/>
                </a:solidFill>
                <a:latin typeface="Times New Roman"/>
                <a:cs typeface="Times New Roman"/>
              </a:rPr>
              <a:t>much </a:t>
            </a:r>
            <a:r>
              <a:rPr sz="1400" spc="75" dirty="0">
                <a:solidFill>
                  <a:srgbClr val="75708E"/>
                </a:solidFill>
                <a:latin typeface="Times New Roman"/>
                <a:cs typeface="Times New Roman"/>
              </a:rPr>
              <a:t>more</a:t>
            </a:r>
            <a:r>
              <a:rPr sz="1400" spc="-6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8E"/>
                </a:solidFill>
                <a:latin typeface="Times New Roman"/>
                <a:cs typeface="Times New Roman"/>
              </a:rPr>
              <a:t>granular.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Times New Roman"/>
              <a:cs typeface="Times New Roman"/>
            </a:endParaRPr>
          </a:p>
          <a:p>
            <a:pPr marL="15875" marR="126364" indent="-635">
              <a:lnSpc>
                <a:spcPct val="105100"/>
              </a:lnSpc>
            </a:pPr>
            <a:r>
              <a:rPr sz="1550" b="1" dirty="0">
                <a:solidFill>
                  <a:srgbClr val="75708E"/>
                </a:solidFill>
                <a:latin typeface="Arial"/>
                <a:cs typeface="Arial"/>
              </a:rPr>
              <a:t>Problem:</a:t>
            </a:r>
            <a:r>
              <a:rPr sz="1550" b="1" spc="-90" dirty="0">
                <a:solidFill>
                  <a:srgbClr val="7570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Hard</a:t>
            </a:r>
            <a:r>
              <a:rPr sz="1400" spc="44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problem</a:t>
            </a:r>
            <a:r>
              <a:rPr sz="1400" spc="32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75708E"/>
                </a:solidFill>
                <a:latin typeface="Times New Roman"/>
                <a:cs typeface="Times New Roman"/>
              </a:rPr>
              <a:t>that</a:t>
            </a:r>
            <a:r>
              <a:rPr sz="1400" spc="16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often</a:t>
            </a:r>
            <a:r>
              <a:rPr sz="1400" spc="39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requires</a:t>
            </a:r>
            <a:r>
              <a:rPr sz="1400" spc="22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8E"/>
                </a:solidFill>
                <a:latin typeface="Times New Roman"/>
                <a:cs typeface="Times New Roman"/>
              </a:rPr>
              <a:t>simulating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or</a:t>
            </a:r>
            <a:r>
              <a:rPr sz="1400" spc="24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compiling</a:t>
            </a:r>
            <a:r>
              <a:rPr sz="1400" spc="5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8E"/>
                </a:solidFill>
                <a:latin typeface="Times New Roman"/>
                <a:cs typeface="Times New Roman"/>
              </a:rPr>
              <a:t>circuits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Times New Roman"/>
              <a:cs typeface="Times New Roman"/>
            </a:endParaRPr>
          </a:p>
          <a:p>
            <a:pPr marL="15875" marR="851535" indent="-1270">
              <a:lnSpc>
                <a:spcPct val="108400"/>
              </a:lnSpc>
              <a:spcBef>
                <a:spcPts val="5"/>
              </a:spcBef>
            </a:pPr>
            <a:r>
              <a:rPr sz="1550" b="1" dirty="0">
                <a:solidFill>
                  <a:srgbClr val="75708E"/>
                </a:solidFill>
                <a:latin typeface="Arial"/>
                <a:cs typeface="Arial"/>
              </a:rPr>
              <a:t>Solution:</a:t>
            </a:r>
            <a:r>
              <a:rPr sz="1550" b="1" spc="-114" dirty="0">
                <a:solidFill>
                  <a:srgbClr val="7570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Use</a:t>
            </a:r>
            <a:r>
              <a:rPr sz="1400" spc="8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a</a:t>
            </a:r>
            <a:r>
              <a:rPr sz="1400" spc="14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75708E"/>
                </a:solidFill>
                <a:latin typeface="Times New Roman"/>
                <a:cs typeface="Times New Roman"/>
              </a:rPr>
              <a:t>more</a:t>
            </a:r>
            <a:r>
              <a:rPr sz="1400" spc="-2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general</a:t>
            </a:r>
            <a:r>
              <a:rPr sz="1400" spc="13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8E"/>
                </a:solidFill>
                <a:latin typeface="Times New Roman"/>
                <a:cs typeface="Times New Roman"/>
              </a:rPr>
              <a:t>difficulty</a:t>
            </a:r>
            <a:r>
              <a:rPr sz="1400" spc="8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75708E"/>
                </a:solidFill>
                <a:latin typeface="Times New Roman"/>
                <a:cs typeface="Times New Roman"/>
              </a:rPr>
              <a:t>score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composed</a:t>
            </a:r>
            <a:r>
              <a:rPr sz="1400" spc="34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from</a:t>
            </a:r>
            <a:r>
              <a:rPr sz="1400" spc="254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5708E"/>
                </a:solidFill>
                <a:latin typeface="Times New Roman"/>
                <a:cs typeface="Times New Roman"/>
              </a:rPr>
              <a:t>simple</a:t>
            </a:r>
            <a:r>
              <a:rPr sz="1400" spc="18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5708E"/>
                </a:solidFill>
                <a:latin typeface="Times New Roman"/>
                <a:cs typeface="Times New Roman"/>
              </a:rPr>
              <a:t>features.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2751" y="2929324"/>
            <a:ext cx="7366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545256"/>
                </a:solidFill>
                <a:latin typeface="Arial"/>
                <a:cs typeface="Arial"/>
              </a:rPr>
              <a:t>Ground</a:t>
            </a:r>
            <a:r>
              <a:rPr sz="900" spc="10" dirty="0">
                <a:solidFill>
                  <a:srgbClr val="545256"/>
                </a:solidFill>
                <a:latin typeface="Arial"/>
                <a:cs typeface="Arial"/>
              </a:rPr>
              <a:t> </a:t>
            </a:r>
            <a:r>
              <a:rPr sz="850" spc="40" dirty="0">
                <a:solidFill>
                  <a:srgbClr val="545256"/>
                </a:solidFill>
                <a:latin typeface="Arial"/>
                <a:cs typeface="Arial"/>
              </a:rPr>
              <a:t>Truth</a:t>
            </a:r>
            <a:endParaRPr sz="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6303" y="2829674"/>
            <a:ext cx="20383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Arial"/>
                <a:cs typeface="Arial"/>
              </a:rPr>
              <a:t>I</a:t>
            </a:r>
            <a:r>
              <a:rPr sz="1300" dirty="0">
                <a:solidFill>
                  <a:srgbClr val="858385"/>
                </a:solidFill>
                <a:latin typeface="Times New Roman"/>
                <a:cs typeface="Times New Roman"/>
              </a:rPr>
              <a:t>us</a:t>
            </a:r>
            <a:r>
              <a:rPr sz="1300" spc="31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1200" baseline="3472" dirty="0">
                <a:solidFill>
                  <a:srgbClr val="75708E"/>
                </a:solidFill>
                <a:latin typeface="Arial"/>
                <a:cs typeface="Arial"/>
              </a:rPr>
              <a:t>CE</a:t>
            </a:r>
            <a:r>
              <a:rPr sz="1200" spc="345" baseline="3472" dirty="0">
                <a:solidFill>
                  <a:srgbClr val="75708E"/>
                </a:solidFill>
                <a:latin typeface="Arial"/>
                <a:cs typeface="Arial"/>
              </a:rPr>
              <a:t>  </a:t>
            </a:r>
            <a:r>
              <a:rPr sz="1275" baseline="3267" dirty="0">
                <a:solidFill>
                  <a:srgbClr val="75708E"/>
                </a:solidFill>
                <a:latin typeface="Times New Roman"/>
                <a:cs typeface="Times New Roman"/>
              </a:rPr>
              <a:t>BE</a:t>
            </a:r>
            <a:r>
              <a:rPr sz="1275" spc="742" baseline="3267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1425" baseline="2923" dirty="0">
                <a:solidFill>
                  <a:srgbClr val="858385"/>
                </a:solidFill>
                <a:latin typeface="Times New Roman"/>
                <a:cs typeface="Times New Roman"/>
              </a:rPr>
              <a:t>AE</a:t>
            </a:r>
            <a:r>
              <a:rPr sz="1425" spc="225" baseline="2923" dirty="0">
                <a:solidFill>
                  <a:srgbClr val="858385"/>
                </a:solidFill>
                <a:latin typeface="Times New Roman"/>
                <a:cs typeface="Times New Roman"/>
              </a:rPr>
              <a:t>  </a:t>
            </a:r>
            <a:r>
              <a:rPr sz="1275" baseline="3267" dirty="0">
                <a:solidFill>
                  <a:srgbClr val="75708E"/>
                </a:solidFill>
                <a:latin typeface="Times New Roman"/>
                <a:cs typeface="Times New Roman"/>
              </a:rPr>
              <a:t>A."</a:t>
            </a:r>
            <a:r>
              <a:rPr sz="1275" baseline="3267" dirty="0">
                <a:solidFill>
                  <a:srgbClr val="545256"/>
                </a:solidFill>
                <a:latin typeface="Times New Roman"/>
                <a:cs typeface="Times New Roman"/>
              </a:rPr>
              <a:t>l</a:t>
            </a:r>
            <a:r>
              <a:rPr sz="1275" baseline="3267" dirty="0">
                <a:solidFill>
                  <a:srgbClr val="75708E"/>
                </a:solidFill>
                <a:latin typeface="Times New Roman"/>
                <a:cs typeface="Times New Roman"/>
              </a:rPr>
              <a:t>P</a:t>
            </a:r>
            <a:r>
              <a:rPr sz="1275" spc="270" baseline="3267" dirty="0">
                <a:solidFill>
                  <a:srgbClr val="75708E"/>
                </a:solidFill>
                <a:latin typeface="Times New Roman"/>
                <a:cs typeface="Times New Roman"/>
              </a:rPr>
              <a:t>  </a:t>
            </a:r>
            <a:r>
              <a:rPr sz="1275" baseline="6535" dirty="0">
                <a:solidFill>
                  <a:srgbClr val="858385"/>
                </a:solidFill>
                <a:latin typeface="Times New Roman"/>
                <a:cs typeface="Times New Roman"/>
              </a:rPr>
              <a:t>QPE</a:t>
            </a:r>
            <a:r>
              <a:rPr sz="1275" spc="217" baseline="6535" dirty="0">
                <a:solidFill>
                  <a:srgbClr val="858385"/>
                </a:solidFill>
                <a:latin typeface="Times New Roman"/>
                <a:cs typeface="Times New Roman"/>
              </a:rPr>
              <a:t>  </a:t>
            </a:r>
            <a:r>
              <a:rPr sz="1200" spc="-37" baseline="6944" dirty="0">
                <a:solidFill>
                  <a:srgbClr val="858385"/>
                </a:solidFill>
                <a:latin typeface="Arial"/>
                <a:cs typeface="Arial"/>
              </a:rPr>
              <a:t>UNC</a:t>
            </a:r>
            <a:endParaRPr sz="1200" baseline="6944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53679" y="3238340"/>
          <a:ext cx="2964180" cy="2637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99515">
                <a:tc>
                  <a:txBody>
                    <a:bodyPr/>
                    <a:lstStyle/>
                    <a:p>
                      <a:pPr marL="69850">
                        <a:lnSpc>
                          <a:spcPts val="1470"/>
                        </a:lnSpc>
                      </a:pPr>
                      <a:r>
                        <a:rPr sz="85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AclJcr</a:t>
                      </a:r>
                      <a:r>
                        <a:rPr sz="850" spc="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3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850" spc="-35" dirty="0">
                          <a:solidFill>
                            <a:srgbClr val="B1B1B1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850" spc="-20" dirty="0">
                          <a:solidFill>
                            <a:srgbClr val="B1B1B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-10" dirty="0">
                          <a:solidFill>
                            <a:srgbClr val="858385"/>
                          </a:solidFill>
                          <a:latin typeface="Arial"/>
                          <a:cs typeface="Arial"/>
                        </a:rPr>
                        <a:t>°'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Arial"/>
                          <a:cs typeface="Arial"/>
                        </a:rPr>
                        <a:t>o:ril&lt;M</a:t>
                      </a:r>
                      <a:r>
                        <a:rPr sz="850" spc="-10" dirty="0">
                          <a:solidFill>
                            <a:srgbClr val="B1B1B1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69850">
                        <a:lnSpc>
                          <a:spcPts val="875"/>
                        </a:lnSpc>
                      </a:pPr>
                      <a:r>
                        <a:rPr sz="85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AclJcr</a:t>
                      </a:r>
                      <a:r>
                        <a:rPr sz="850" spc="-3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8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,./o</a:t>
                      </a:r>
                      <a:r>
                        <a:rPr sz="850" spc="-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mcrflow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9215" marR="32384" indent="635">
                        <a:lnSpc>
                          <a:spcPct val="97600"/>
                        </a:lnSpc>
                        <a:spcBef>
                          <a:spcPts val="60"/>
                        </a:spcBef>
                      </a:pPr>
                      <a:r>
                        <a:rPr sz="85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Amplnudc</a:t>
                      </a:r>
                      <a:r>
                        <a:rPr sz="850" spc="204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Encoding </a:t>
                      </a:r>
                      <a:r>
                        <a:rPr sz="85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Amplnudc</a:t>
                      </a:r>
                      <a:r>
                        <a:rPr sz="850" spc="204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Esunuoon </a:t>
                      </a:r>
                      <a:r>
                        <a:rPr sz="850" spc="-2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DcuL&lt;eh-Joua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1010"/>
                        </a:lnSpc>
                        <a:spcBef>
                          <a:spcPts val="40"/>
                        </a:spcBef>
                      </a:pPr>
                      <a:r>
                        <a:rPr sz="850" spc="-25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850" spc="-25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850" spc="-2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6040" marR="480695" indent="635">
                        <a:lnSpc>
                          <a:spcPct val="86600"/>
                        </a:lnSpc>
                        <a:spcBef>
                          <a:spcPts val="105"/>
                        </a:spcBef>
                      </a:pPr>
                      <a:r>
                        <a:rPr sz="85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Gmph</a:t>
                      </a:r>
                      <a:r>
                        <a:rPr sz="850" spc="8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2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Suuc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Gro\u</a:t>
                      </a:r>
                      <a:r>
                        <a:rPr sz="900" b="1" spc="50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solidFill>
                            <a:srgbClr val="545256"/>
                          </a:solidFill>
                          <a:latin typeface="Courier New"/>
                          <a:cs typeface="Courier New"/>
                        </a:rPr>
                        <a:t>MH</a:t>
                      </a:r>
                      <a:r>
                        <a:rPr sz="1050" spc="-25" dirty="0">
                          <a:solidFill>
                            <a:srgbClr val="75708E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5">
                  <a:txBody>
                    <a:bodyPr/>
                    <a:lstStyle/>
                    <a:p>
                      <a:pPr marL="568325">
                        <a:lnSpc>
                          <a:spcPts val="1040"/>
                        </a:lnSpc>
                        <a:spcBef>
                          <a:spcPts val="280"/>
                        </a:spcBef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568325">
                        <a:lnSpc>
                          <a:spcPts val="1025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23850">
                        <a:lnSpc>
                          <a:spcPts val="1025"/>
                        </a:lnSpc>
                        <a:tabLst>
                          <a:tab pos="1112520" algn="l"/>
                        </a:tabLst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ts val="994"/>
                        </a:lnSpc>
                        <a:tabLst>
                          <a:tab pos="323850" algn="l"/>
                          <a:tab pos="1435735" algn="l"/>
                        </a:tabLst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i="1" spc="-3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ts val="1025"/>
                        </a:lnSpc>
                        <a:tabLst>
                          <a:tab pos="1758950" algn="l"/>
                        </a:tabLst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ts val="1025"/>
                        </a:lnSpc>
                        <a:tabLst>
                          <a:tab pos="329565" algn="l"/>
                        </a:tabLst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200" spc="-37" baseline="3472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./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ts val="994"/>
                        </a:lnSpc>
                        <a:tabLst>
                          <a:tab pos="329565" algn="l"/>
                        </a:tabLst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200" spc="-37" baseline="3472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./</a:t>
                      </a:r>
                      <a:endParaRPr sz="1200" baseline="3472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ts val="994"/>
                        </a:lnSpc>
                        <a:tabLst>
                          <a:tab pos="332105" algn="l"/>
                          <a:tab pos="1766570" algn="l"/>
                        </a:tabLst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350" i="1" spc="-37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1350" i="1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350" i="1" spc="-37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1350" baseline="3086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ts val="935"/>
                        </a:lnSpc>
                        <a:tabLst>
                          <a:tab pos="332105" algn="l"/>
                          <a:tab pos="1443355" algn="l"/>
                          <a:tab pos="1766570" algn="l"/>
                        </a:tabLst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900" i="1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350" i="1" spc="-37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1350" i="1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350" i="1" spc="-37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r>
                        <a:rPr sz="1350" i="1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350" i="1" spc="-37" baseline="3086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1350" baseline="3086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67310" marR="579755" indent="-4445">
                        <a:lnSpc>
                          <a:spcPts val="1000"/>
                        </a:lnSpc>
                      </a:pPr>
                      <a:r>
                        <a:rPr sz="850" spc="-10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.\t</a:t>
                      </a:r>
                      <a:r>
                        <a:rPr sz="850" spc="-1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uluphcr </a:t>
                      </a:r>
                      <a:r>
                        <a:rPr sz="850" spc="-2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QAOA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015"/>
                        </a:lnSpc>
                        <a:spcBef>
                          <a:spcPts val="5"/>
                        </a:spcBef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ts val="1015"/>
                        </a:lnSpc>
                        <a:spcBef>
                          <a:spcPts val="5"/>
                        </a:spcBef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94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635">
                <a:tc>
                  <a:txBody>
                    <a:bodyPr/>
                    <a:lstStyle/>
                    <a:p>
                      <a:pPr marL="67310">
                        <a:lnSpc>
                          <a:spcPts val="1000"/>
                        </a:lnSpc>
                      </a:pPr>
                      <a:r>
                        <a:rPr sz="85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Ql-</a:t>
                      </a:r>
                      <a:r>
                        <a:rPr sz="850" spc="-5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ts val="910"/>
                        </a:lnSpc>
                      </a:pPr>
                      <a:r>
                        <a:rPr sz="85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Ql-T</a:t>
                      </a:r>
                      <a:r>
                        <a:rPr sz="850" spc="9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w.</a:t>
                      </a:r>
                      <a:r>
                        <a:rPr sz="850" spc="-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850" spc="-10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angleme</a:t>
                      </a:r>
                      <a:r>
                        <a:rPr sz="850" spc="-10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850" spc="-1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8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3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6360">
                        <a:lnSpc>
                          <a:spcPts val="969"/>
                        </a:lnSpc>
                      </a:pPr>
                      <a:r>
                        <a:rPr sz="900" spc="-25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./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730">
                <a:tc>
                  <a:txBody>
                    <a:bodyPr/>
                    <a:lstStyle/>
                    <a:p>
                      <a:pPr marL="66675">
                        <a:lnSpc>
                          <a:spcPts val="990"/>
                        </a:lnSpc>
                      </a:pPr>
                      <a:r>
                        <a:rPr sz="950" spc="-2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950" spc="-25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950" spc="-25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4135" marR="257175" indent="2540">
                        <a:lnSpc>
                          <a:spcPts val="1000"/>
                        </a:lnSpc>
                        <a:spcBef>
                          <a:spcPts val="25"/>
                        </a:spcBef>
                      </a:pPr>
                      <a:r>
                        <a:rPr sz="850" spc="-1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Quantu</a:t>
                      </a:r>
                      <a:r>
                        <a:rPr sz="600" spc="-1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111</a:t>
                      </a:r>
                      <a:r>
                        <a:rPr sz="600" spc="95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2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Wulk</a:t>
                      </a:r>
                      <a:r>
                        <a:rPr sz="850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 Real</a:t>
                      </a:r>
                      <a:r>
                        <a:rPr sz="850" spc="65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Amplitudes </a:t>
                      </a:r>
                      <a:r>
                        <a:rPr sz="850" spc="-2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Shor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64135">
                        <a:lnSpc>
                          <a:spcPts val="869"/>
                        </a:lnSpc>
                      </a:pPr>
                      <a:r>
                        <a:rPr sz="85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SU2</a:t>
                      </a:r>
                      <a:r>
                        <a:rPr sz="850" spc="155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50" spc="-10" dirty="0">
                          <a:solidFill>
                            <a:srgbClr val="858385"/>
                          </a:solidFill>
                          <a:latin typeface="Times New Roman"/>
                          <a:cs typeface="Times New Roman"/>
                        </a:rPr>
                        <a:t>An"1!1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04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960"/>
                        </a:lnSpc>
                      </a:pPr>
                      <a:r>
                        <a:rPr sz="900" spc="-25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./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994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94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ts val="994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44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ts val="985"/>
                        </a:lnSpc>
                        <a:spcBef>
                          <a:spcPts val="5"/>
                        </a:spcBef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ctr">
                        <a:lnSpc>
                          <a:spcPts val="960"/>
                        </a:lnSpc>
                      </a:pPr>
                      <a:r>
                        <a:rPr sz="900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24130" algn="r">
                        <a:lnSpc>
                          <a:spcPts val="104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65405"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solidFill>
                            <a:srgbClr val="545256"/>
                          </a:solidFill>
                          <a:latin typeface="Times New Roman"/>
                          <a:cs typeface="Times New Roman"/>
                        </a:rPr>
                        <a:t>./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77470">
                        <a:lnSpc>
                          <a:spcPts val="969"/>
                        </a:lnSpc>
                      </a:pPr>
                      <a:r>
                        <a:rPr sz="850" spc="-25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VQE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ts val="1010"/>
                        </a:lnSpc>
                      </a:pPr>
                      <a:r>
                        <a:rPr sz="850" spc="-25" dirty="0">
                          <a:solidFill>
                            <a:srgbClr val="75708E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850" spc="-25" dirty="0">
                          <a:solidFill>
                            <a:srgbClr val="97979A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850" spc="-10" dirty="0">
                          <a:solidFill>
                            <a:srgbClr val="97979A"/>
                          </a:solidFill>
                          <a:latin typeface="Times New Roman"/>
                          <a:cs typeface="Times New Roman"/>
                        </a:rPr>
                        <a:t>Statc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04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990"/>
                        </a:lnSpc>
                      </a:pPr>
                      <a:r>
                        <a:rPr sz="900" i="1" spc="-25" dirty="0">
                          <a:solidFill>
                            <a:srgbClr val="545256"/>
                          </a:solidFill>
                          <a:latin typeface="Arial"/>
                          <a:cs typeface="Arial"/>
                        </a:rPr>
                        <a:t>.I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103402" y="3070020"/>
            <a:ext cx="4972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75708E"/>
                </a:solidFill>
                <a:latin typeface="Times New Roman"/>
                <a:cs typeface="Times New Roman"/>
              </a:rPr>
              <a:t>A</a:t>
            </a:r>
            <a:r>
              <a:rPr sz="850" spc="-10" dirty="0">
                <a:solidFill>
                  <a:srgbClr val="545256"/>
                </a:solidFill>
                <a:latin typeface="Times New Roman"/>
                <a:cs typeface="Times New Roman"/>
              </a:rPr>
              <a:t>li:orithm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8693" y="3049387"/>
            <a:ext cx="252729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30" dirty="0">
                <a:solidFill>
                  <a:srgbClr val="75708E"/>
                </a:solidFill>
                <a:latin typeface="Times New Roman"/>
                <a:cs typeface="Times New Roman"/>
              </a:rPr>
              <a:t>PSM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34937" y="4280529"/>
            <a:ext cx="882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solidFill>
                  <a:srgbClr val="545256"/>
                </a:solidFill>
                <a:latin typeface="Arial"/>
                <a:cs typeface="Arial"/>
              </a:rPr>
              <a:t>.I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14313" y="5900394"/>
            <a:ext cx="3507104" cy="2895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2225" marR="5080" indent="-10160">
              <a:lnSpc>
                <a:spcPts val="1000"/>
              </a:lnSpc>
              <a:spcBef>
                <a:spcPts val="200"/>
              </a:spcBef>
            </a:pPr>
            <a:r>
              <a:rPr sz="850" spc="55" dirty="0">
                <a:solidFill>
                  <a:srgbClr val="545256"/>
                </a:solidFill>
                <a:latin typeface="Times New Roman"/>
                <a:cs typeface="Times New Roman"/>
              </a:rPr>
              <a:t>TAB</a:t>
            </a:r>
            <a:r>
              <a:rPr sz="850" spc="55" dirty="0">
                <a:solidFill>
                  <a:srgbClr val="2F2F31"/>
                </a:solidFill>
                <a:latin typeface="Times New Roman"/>
                <a:cs typeface="Times New Roman"/>
              </a:rPr>
              <a:t>U</a:t>
            </a:r>
            <a:r>
              <a:rPr sz="850" spc="55" dirty="0">
                <a:solidFill>
                  <a:srgbClr val="858385"/>
                </a:solidFill>
                <a:latin typeface="Times New Roman"/>
                <a:cs typeface="Times New Roman"/>
              </a:rPr>
              <a:t>:</a:t>
            </a:r>
            <a:r>
              <a:rPr sz="850" spc="254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151313"/>
                </a:solidFill>
                <a:latin typeface="Arial"/>
                <a:cs typeface="Arial"/>
              </a:rPr>
              <a:t>II</a:t>
            </a:r>
            <a:r>
              <a:rPr sz="800" spc="95" dirty="0">
                <a:solidFill>
                  <a:srgbClr val="858385"/>
                </a:solidFill>
                <a:latin typeface="Arial"/>
                <a:cs typeface="Arial"/>
              </a:rPr>
              <a:t>:</a:t>
            </a:r>
            <a:r>
              <a:rPr sz="800" spc="200" dirty="0">
                <a:solidFill>
                  <a:srgbClr val="858385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858385"/>
                </a:solidFill>
                <a:latin typeface="Times New Roman"/>
                <a:cs typeface="Times New Roman"/>
              </a:rPr>
              <a:t>Ab&lt;tr.rtion</a:t>
            </a:r>
            <a:r>
              <a:rPr sz="850" spc="16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97979A"/>
                </a:solidFill>
                <a:latin typeface="Times New Roman"/>
                <a:cs typeface="Times New Roman"/>
              </a:rPr>
              <a:t>o</a:t>
            </a:r>
            <a:r>
              <a:rPr sz="850" dirty="0">
                <a:solidFill>
                  <a:srgbClr val="75708E"/>
                </a:solidFill>
                <a:latin typeface="Times New Roman"/>
                <a:cs typeface="Times New Roman"/>
              </a:rPr>
              <a:t>f</a:t>
            </a:r>
            <a:r>
              <a:rPr sz="850" spc="150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858385"/>
                </a:solidFill>
                <a:latin typeface="Times New Roman"/>
                <a:cs typeface="Times New Roman"/>
              </a:rPr>
              <a:t>the:</a:t>
            </a:r>
            <a:r>
              <a:rPr sz="800" spc="6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858385"/>
                </a:solidFill>
                <a:latin typeface="Times New Roman"/>
                <a:cs typeface="Times New Roman"/>
              </a:rPr>
              <a:t>ground</a:t>
            </a:r>
            <a:r>
              <a:rPr sz="800" spc="229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75708E"/>
                </a:solidFill>
                <a:latin typeface="Times New Roman"/>
                <a:cs typeface="Times New Roman"/>
              </a:rPr>
              <a:t>trulh</a:t>
            </a:r>
            <a:r>
              <a:rPr sz="850" dirty="0">
                <a:solidFill>
                  <a:srgbClr val="97979A"/>
                </a:solidFill>
                <a:latin typeface="Times New Roman"/>
                <a:cs typeface="Times New Roman"/>
              </a:rPr>
              <a:t>.</a:t>
            </a:r>
            <a:r>
              <a:rPr sz="850" spc="140" dirty="0">
                <a:solidFill>
                  <a:srgbClr val="97979A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75708E"/>
                </a:solidFill>
                <a:latin typeface="Times New Roman"/>
                <a:cs typeface="Times New Roman"/>
              </a:rPr>
              <a:t>The</a:t>
            </a:r>
            <a:r>
              <a:rPr sz="850" spc="7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97979A"/>
                </a:solidFill>
                <a:latin typeface="Times New Roman"/>
                <a:cs typeface="Times New Roman"/>
              </a:rPr>
              <a:t>symbo</a:t>
            </a:r>
            <a:r>
              <a:rPr sz="850" dirty="0">
                <a:solidFill>
                  <a:srgbClr val="75708E"/>
                </a:solidFill>
                <a:latin typeface="Times New Roman"/>
                <a:cs typeface="Times New Roman"/>
              </a:rPr>
              <a:t>l</a:t>
            </a:r>
            <a:r>
              <a:rPr sz="850" spc="85" dirty="0">
                <a:solidFill>
                  <a:srgbClr val="75708E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545256"/>
                </a:solidFill>
                <a:latin typeface="Arial"/>
                <a:cs typeface="Arial"/>
              </a:rPr>
              <a:t>.I</a:t>
            </a:r>
            <a:r>
              <a:rPr sz="900" i="1" spc="300" dirty="0">
                <a:solidFill>
                  <a:srgbClr val="545256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858385"/>
                </a:solidFill>
                <a:latin typeface="Times New Roman"/>
                <a:cs typeface="Times New Roman"/>
              </a:rPr>
              <a:t>marks</a:t>
            </a:r>
            <a:r>
              <a:rPr sz="850" spc="114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50" spc="-10" dirty="0">
                <a:solidFill>
                  <a:srgbClr val="858385"/>
                </a:solidFill>
                <a:latin typeface="Times New Roman"/>
                <a:cs typeface="Times New Roman"/>
              </a:rPr>
              <a:t>wbclhcr </a:t>
            </a:r>
            <a:r>
              <a:rPr sz="850" dirty="0">
                <a:solidFill>
                  <a:srgbClr val="858385"/>
                </a:solidFill>
                <a:latin typeface="Times New Roman"/>
                <a:cs typeface="Times New Roman"/>
              </a:rPr>
              <a:t>the</a:t>
            </a:r>
            <a:r>
              <a:rPr sz="850" spc="1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900" spc="-35" dirty="0">
                <a:solidFill>
                  <a:srgbClr val="858385"/>
                </a:solidFill>
                <a:latin typeface="Times New Roman"/>
                <a:cs typeface="Times New Roman"/>
              </a:rPr>
              <a:t>com:spond1ng</a:t>
            </a:r>
            <a:r>
              <a:rPr sz="900" spc="19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900" spc="-155" dirty="0">
                <a:solidFill>
                  <a:srgbClr val="858385"/>
                </a:solidFill>
                <a:latin typeface="Times New Roman"/>
                <a:cs typeface="Times New Roman"/>
              </a:rPr>
              <a:t>pa11L"mS</a:t>
            </a:r>
            <a:r>
              <a:rPr sz="900" spc="6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50" spc="-45" dirty="0">
                <a:solidFill>
                  <a:srgbClr val="858385"/>
                </a:solidFill>
                <a:latin typeface="Times New Roman"/>
                <a:cs typeface="Times New Roman"/>
              </a:rPr>
              <a:t>arc</a:t>
            </a:r>
            <a:r>
              <a:rPr sz="850" spc="44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50" spc="280" dirty="0">
                <a:solidFill>
                  <a:srgbClr val="858385"/>
                </a:solidFill>
                <a:latin typeface="Times New Roman"/>
                <a:cs typeface="Times New Roman"/>
              </a:rPr>
              <a:t>pr=t</a:t>
            </a:r>
            <a:r>
              <a:rPr sz="850" spc="2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858385"/>
                </a:solidFill>
                <a:latin typeface="Arial"/>
                <a:cs typeface="Arial"/>
              </a:rPr>
              <a:t>in</a:t>
            </a:r>
            <a:r>
              <a:rPr sz="800" dirty="0">
                <a:solidFill>
                  <a:srgbClr val="858385"/>
                </a:solidFill>
                <a:latin typeface="Times New Roman"/>
                <a:cs typeface="Times New Roman"/>
              </a:rPr>
              <a:t>cac:b</a:t>
            </a:r>
            <a:r>
              <a:rPr sz="800" spc="45" dirty="0">
                <a:solidFill>
                  <a:srgbClr val="858385"/>
                </a:solidFill>
                <a:latin typeface="Times New Roman"/>
                <a:cs typeface="Times New Roman"/>
              </a:rPr>
              <a:t> </a:t>
            </a:r>
            <a:r>
              <a:rPr sz="850" spc="-10" dirty="0">
                <a:solidFill>
                  <a:srgbClr val="858385"/>
                </a:solidFill>
                <a:latin typeface="Times New Roman"/>
                <a:cs typeface="Times New Roman"/>
              </a:rPr>
              <a:t>algoritlun.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0038"/>
            <a:ext cx="10058400" cy="11852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5173" y="3222537"/>
            <a:ext cx="3830982" cy="29552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3174" y="2578396"/>
            <a:ext cx="4276090" cy="1084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 marR="5080" indent="8890" algn="ctr">
              <a:lnSpc>
                <a:spcPct val="104900"/>
              </a:lnSpc>
              <a:spcBef>
                <a:spcPts val="130"/>
              </a:spcBef>
            </a:pPr>
            <a:r>
              <a:rPr sz="2200" b="1" u="none" spc="95" dirty="0">
                <a:solidFill>
                  <a:srgbClr val="777291"/>
                </a:solidFill>
                <a:latin typeface="Times New Roman"/>
                <a:cs typeface="Times New Roman"/>
              </a:rPr>
              <a:t>How</a:t>
            </a:r>
            <a:r>
              <a:rPr sz="2200" b="1" u="none" spc="26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2200" b="1" u="none" spc="70" dirty="0">
                <a:solidFill>
                  <a:srgbClr val="777291"/>
                </a:solidFill>
                <a:latin typeface="Times New Roman"/>
                <a:cs typeface="Times New Roman"/>
              </a:rPr>
              <a:t>can</a:t>
            </a:r>
            <a:r>
              <a:rPr sz="2200" b="1" u="none" spc="31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2200" b="1" u="none" spc="85" dirty="0">
                <a:solidFill>
                  <a:srgbClr val="777291"/>
                </a:solidFill>
                <a:latin typeface="Times New Roman"/>
                <a:cs typeface="Times New Roman"/>
              </a:rPr>
              <a:t>we</a:t>
            </a:r>
            <a:r>
              <a:rPr sz="2200" b="1" u="none" spc="40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2200" b="1" u="none" spc="85" dirty="0">
                <a:solidFill>
                  <a:srgbClr val="777291"/>
                </a:solidFill>
                <a:latin typeface="Times New Roman"/>
                <a:cs typeface="Times New Roman"/>
              </a:rPr>
              <a:t>statically</a:t>
            </a:r>
            <a:r>
              <a:rPr sz="2200" b="1" u="none" spc="19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2200" b="1" u="none" spc="110" dirty="0">
                <a:solidFill>
                  <a:srgbClr val="777291"/>
                </a:solidFill>
                <a:latin typeface="Times New Roman"/>
                <a:cs typeface="Times New Roman"/>
              </a:rPr>
              <a:t>analyze </a:t>
            </a:r>
            <a:r>
              <a:rPr sz="2200" b="1" u="none" spc="175" dirty="0">
                <a:solidFill>
                  <a:srgbClr val="777291"/>
                </a:solidFill>
                <a:latin typeface="Times New Roman"/>
                <a:cs typeface="Times New Roman"/>
              </a:rPr>
              <a:t>metrics</a:t>
            </a:r>
            <a:r>
              <a:rPr sz="2200" b="1" u="none" spc="12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2200" b="1" u="none" spc="120" dirty="0">
                <a:solidFill>
                  <a:srgbClr val="777291"/>
                </a:solidFill>
                <a:latin typeface="Times New Roman"/>
                <a:cs typeface="Times New Roman"/>
              </a:rPr>
              <a:t>representing</a:t>
            </a:r>
            <a:r>
              <a:rPr sz="2200" b="1" u="none" spc="24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2200" b="1" u="none" spc="140" dirty="0">
                <a:solidFill>
                  <a:srgbClr val="777291"/>
                </a:solidFill>
                <a:latin typeface="Times New Roman"/>
                <a:cs typeface="Times New Roman"/>
              </a:rPr>
              <a:t>a</a:t>
            </a:r>
            <a:r>
              <a:rPr sz="2200" b="1" u="none" spc="10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2200" b="1" u="none" spc="65" dirty="0">
                <a:solidFill>
                  <a:srgbClr val="777291"/>
                </a:solidFill>
                <a:latin typeface="Times New Roman"/>
                <a:cs typeface="Times New Roman"/>
              </a:rPr>
              <a:t>circuit's </a:t>
            </a:r>
            <a:r>
              <a:rPr sz="2200" b="1" u="none" spc="-10" dirty="0">
                <a:solidFill>
                  <a:srgbClr val="777291"/>
                </a:solidFill>
                <a:latin typeface="Times New Roman"/>
                <a:cs typeface="Times New Roman"/>
              </a:rPr>
              <a:t>difficulty?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3760" y="2788408"/>
            <a:ext cx="965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25" dirty="0">
                <a:solidFill>
                  <a:srgbClr val="C8C8C8"/>
                </a:solidFill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514" y="3894438"/>
            <a:ext cx="4359910" cy="252285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5400" marR="405765" indent="-13335">
              <a:lnSpc>
                <a:spcPct val="103699"/>
              </a:lnSpc>
              <a:spcBef>
                <a:spcPts val="40"/>
              </a:spcBef>
            </a:pP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One</a:t>
            </a:r>
            <a:r>
              <a:rPr sz="1450" spc="17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of</a:t>
            </a:r>
            <a:r>
              <a:rPr sz="1450" spc="3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the</a:t>
            </a:r>
            <a:r>
              <a:rPr sz="1450" spc="229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main</a:t>
            </a:r>
            <a:r>
              <a:rPr sz="1450" spc="10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things </a:t>
            </a:r>
            <a:r>
              <a:rPr sz="1450" spc="60" dirty="0">
                <a:solidFill>
                  <a:srgbClr val="777291"/>
                </a:solidFill>
                <a:latin typeface="Times New Roman"/>
                <a:cs typeface="Times New Roman"/>
              </a:rPr>
              <a:t>that</a:t>
            </a:r>
            <a:r>
              <a:rPr sz="1450" spc="-6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can</a:t>
            </a:r>
            <a:r>
              <a:rPr sz="1450" spc="5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influence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 a</a:t>
            </a:r>
            <a:r>
              <a:rPr sz="1450" spc="5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circuit's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runtime</a:t>
            </a:r>
            <a:r>
              <a:rPr sz="1450" spc="3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and</a:t>
            </a:r>
            <a:r>
              <a:rPr sz="1450" spc="2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fidelity</a:t>
            </a:r>
            <a:r>
              <a:rPr sz="1450" spc="8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is</a:t>
            </a:r>
            <a:r>
              <a:rPr sz="1450" spc="-2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how</a:t>
            </a:r>
            <a:r>
              <a:rPr sz="1450" spc="1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entangled</a:t>
            </a:r>
            <a:r>
              <a:rPr sz="1450" spc="204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it</a:t>
            </a:r>
            <a:r>
              <a:rPr sz="1450" spc="14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becomes.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Times New Roman"/>
              <a:cs typeface="Times New Roman"/>
            </a:endParaRPr>
          </a:p>
          <a:p>
            <a:pPr marL="17780" marR="5080" indent="-1905">
              <a:lnSpc>
                <a:spcPct val="103699"/>
              </a:lnSpc>
            </a:pPr>
            <a:r>
              <a:rPr sz="1450" spc="75" dirty="0">
                <a:solidFill>
                  <a:srgbClr val="777291"/>
                </a:solidFill>
                <a:latin typeface="Times New Roman"/>
                <a:cs typeface="Times New Roman"/>
              </a:rPr>
              <a:t>We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can</a:t>
            </a:r>
            <a:r>
              <a:rPr sz="1450" spc="229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represent</a:t>
            </a:r>
            <a:r>
              <a:rPr sz="1450" spc="10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this</a:t>
            </a:r>
            <a:r>
              <a:rPr sz="1450" spc="12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35" dirty="0">
                <a:solidFill>
                  <a:srgbClr val="777291"/>
                </a:solidFill>
                <a:latin typeface="Times New Roman"/>
                <a:cs typeface="Times New Roman"/>
              </a:rPr>
              <a:t>using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a</a:t>
            </a:r>
            <a:r>
              <a:rPr sz="1450" spc="23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2-qubit</a:t>
            </a:r>
            <a:r>
              <a:rPr sz="1450" spc="13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interaction</a:t>
            </a:r>
            <a:r>
              <a:rPr sz="1450" spc="229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graph,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which</a:t>
            </a:r>
            <a:r>
              <a:rPr sz="1450" spc="26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connects</a:t>
            </a:r>
            <a:r>
              <a:rPr sz="1450" spc="19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qubits</a:t>
            </a:r>
            <a:r>
              <a:rPr sz="1450" spc="9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that</a:t>
            </a:r>
            <a:r>
              <a:rPr sz="1450" spc="8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are</a:t>
            </a:r>
            <a:r>
              <a:rPr sz="1450" spc="14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interacted</a:t>
            </a:r>
            <a:r>
              <a:rPr sz="1450" spc="31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upon</a:t>
            </a:r>
            <a:r>
              <a:rPr sz="1450" spc="204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together </a:t>
            </a:r>
            <a:r>
              <a:rPr sz="1450" spc="-35" dirty="0">
                <a:solidFill>
                  <a:srgbClr val="777291"/>
                </a:solidFill>
                <a:latin typeface="Times New Roman"/>
                <a:cs typeface="Times New Roman"/>
              </a:rPr>
              <a:t>by</a:t>
            </a:r>
            <a:r>
              <a:rPr sz="1450" spc="-8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a</a:t>
            </a:r>
            <a:r>
              <a:rPr sz="1450" spc="16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2-qubit</a:t>
            </a:r>
            <a:r>
              <a:rPr sz="1450" spc="-5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gate.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Times New Roman"/>
              <a:cs typeface="Times New Roman"/>
            </a:endParaRPr>
          </a:p>
          <a:p>
            <a:pPr marL="20320" marR="27940" indent="10795">
              <a:lnSpc>
                <a:spcPct val="102499"/>
              </a:lnSpc>
              <a:spcBef>
                <a:spcPts val="5"/>
              </a:spcBef>
            </a:pP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From</a:t>
            </a:r>
            <a:r>
              <a:rPr sz="1450" spc="10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this</a:t>
            </a:r>
            <a:r>
              <a:rPr sz="1450" spc="-4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graph,</a:t>
            </a:r>
            <a:r>
              <a:rPr sz="1450" spc="-12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55" dirty="0">
                <a:solidFill>
                  <a:srgbClr val="777291"/>
                </a:solidFill>
                <a:latin typeface="Times New Roman"/>
                <a:cs typeface="Times New Roman"/>
              </a:rPr>
              <a:t>we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 can</a:t>
            </a:r>
            <a:r>
              <a:rPr sz="1450" spc="4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50" dirty="0">
                <a:solidFill>
                  <a:srgbClr val="777291"/>
                </a:solidFill>
                <a:latin typeface="Times New Roman"/>
                <a:cs typeface="Times New Roman"/>
              </a:rPr>
              <a:t>extract</a:t>
            </a:r>
            <a:r>
              <a:rPr sz="1450" spc="8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metrics</a:t>
            </a:r>
            <a:r>
              <a:rPr sz="1450" spc="7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40" dirty="0">
                <a:solidFill>
                  <a:srgbClr val="777291"/>
                </a:solidFill>
                <a:latin typeface="Times New Roman"/>
                <a:cs typeface="Times New Roman"/>
              </a:rPr>
              <a:t>like</a:t>
            </a:r>
            <a:r>
              <a:rPr sz="1450" spc="-6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the</a:t>
            </a:r>
            <a:r>
              <a:rPr sz="1450" spc="42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777291"/>
                </a:solidFill>
                <a:latin typeface="Times New Roman"/>
                <a:cs typeface="Times New Roman"/>
              </a:rPr>
              <a:t>max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degree</a:t>
            </a:r>
            <a:r>
              <a:rPr sz="1450" spc="2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and</a:t>
            </a:r>
            <a:r>
              <a:rPr sz="1450" spc="15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degree</a:t>
            </a:r>
            <a:r>
              <a:rPr sz="1450" spc="9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variance</a:t>
            </a:r>
            <a:r>
              <a:rPr sz="1450" spc="9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to</a:t>
            </a:r>
            <a:r>
              <a:rPr sz="1450" spc="42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understand</a:t>
            </a:r>
            <a:r>
              <a:rPr sz="1450" spc="24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things</a:t>
            </a:r>
            <a:r>
              <a:rPr sz="1450" spc="12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777291"/>
                </a:solidFill>
                <a:latin typeface="Times New Roman"/>
                <a:cs typeface="Times New Roman"/>
              </a:rPr>
              <a:t>like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how</a:t>
            </a:r>
            <a:r>
              <a:rPr sz="1450" spc="2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"bottlenecked"</a:t>
            </a:r>
            <a:r>
              <a:rPr sz="1450" spc="-8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the</a:t>
            </a:r>
            <a:r>
              <a:rPr sz="1450" spc="27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circuit</a:t>
            </a:r>
            <a:r>
              <a:rPr sz="1450" spc="16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777291"/>
                </a:solidFill>
                <a:latin typeface="Times New Roman"/>
                <a:cs typeface="Times New Roman"/>
              </a:rPr>
              <a:t>is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 and</a:t>
            </a:r>
            <a:r>
              <a:rPr sz="1450" spc="14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the</a:t>
            </a:r>
            <a:r>
              <a:rPr sz="1450" spc="295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strength</a:t>
            </a:r>
            <a:r>
              <a:rPr sz="1450" spc="204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of</a:t>
            </a:r>
            <a:r>
              <a:rPr sz="1450" spc="7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777291"/>
                </a:solidFill>
                <a:latin typeface="Times New Roman"/>
                <a:cs typeface="Times New Roman"/>
              </a:rPr>
              <a:t>the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connections</a:t>
            </a:r>
            <a:r>
              <a:rPr sz="1450" spc="36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1"/>
                </a:solidFill>
                <a:latin typeface="Times New Roman"/>
                <a:cs typeface="Times New Roman"/>
              </a:rPr>
              <a:t>before</a:t>
            </a:r>
            <a:r>
              <a:rPr sz="1450" spc="150" dirty="0">
                <a:solidFill>
                  <a:srgbClr val="777291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1"/>
                </a:solidFill>
                <a:latin typeface="Times New Roman"/>
                <a:cs typeface="Times New Roman"/>
              </a:rPr>
              <a:t>truncation.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40973" y="982382"/>
            <a:ext cx="5033645" cy="5717540"/>
            <a:chOff x="5040973" y="982382"/>
            <a:chExt cx="5033645" cy="5717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4916" y="1010038"/>
              <a:ext cx="5013483" cy="28920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5284" y="1152270"/>
              <a:ext cx="1813115" cy="11378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4916" y="3917894"/>
              <a:ext cx="5013483" cy="27814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92210" y="1136467"/>
              <a:ext cx="0" cy="1920239"/>
            </a:xfrm>
            <a:custGeom>
              <a:avLst/>
              <a:gdLst/>
              <a:ahLst/>
              <a:cxnLst/>
              <a:rect l="l" t="t" r="r" b="b"/>
              <a:pathLst>
                <a:path h="1920239">
                  <a:moveTo>
                    <a:pt x="0" y="1920132"/>
                  </a:moveTo>
                  <a:lnTo>
                    <a:pt x="0" y="0"/>
                  </a:lnTo>
                </a:path>
              </a:pathLst>
            </a:custGeom>
            <a:ln w="102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48857" y="982382"/>
              <a:ext cx="709930" cy="111125"/>
            </a:xfrm>
            <a:custGeom>
              <a:avLst/>
              <a:gdLst/>
              <a:ahLst/>
              <a:cxnLst/>
              <a:rect l="l" t="t" r="r" b="b"/>
              <a:pathLst>
                <a:path w="709929" h="111125">
                  <a:moveTo>
                    <a:pt x="0" y="0"/>
                  </a:moveTo>
                  <a:lnTo>
                    <a:pt x="709542" y="0"/>
                  </a:lnTo>
                  <a:lnTo>
                    <a:pt x="709542" y="110624"/>
                  </a:lnTo>
                  <a:lnTo>
                    <a:pt x="0" y="110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26767" y="1128565"/>
              <a:ext cx="0" cy="1928495"/>
            </a:xfrm>
            <a:custGeom>
              <a:avLst/>
              <a:gdLst/>
              <a:ahLst/>
              <a:cxnLst/>
              <a:rect l="l" t="t" r="r" b="b"/>
              <a:pathLst>
                <a:path h="1928495">
                  <a:moveTo>
                    <a:pt x="0" y="1928034"/>
                  </a:moveTo>
                  <a:lnTo>
                    <a:pt x="0" y="0"/>
                  </a:lnTo>
                </a:path>
              </a:pathLst>
            </a:custGeom>
            <a:ln w="94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83869" y="1223386"/>
              <a:ext cx="2081530" cy="0"/>
            </a:xfrm>
            <a:custGeom>
              <a:avLst/>
              <a:gdLst/>
              <a:ahLst/>
              <a:cxnLst/>
              <a:rect l="l" t="t" r="r" b="b"/>
              <a:pathLst>
                <a:path w="2081529">
                  <a:moveTo>
                    <a:pt x="0" y="0"/>
                  </a:moveTo>
                  <a:lnTo>
                    <a:pt x="2081027" y="0"/>
                  </a:lnTo>
                </a:path>
              </a:pathLst>
            </a:custGeom>
            <a:ln w="7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3869" y="1223386"/>
              <a:ext cx="2081530" cy="1572895"/>
            </a:xfrm>
            <a:custGeom>
              <a:avLst/>
              <a:gdLst/>
              <a:ahLst/>
              <a:cxnLst/>
              <a:rect l="l" t="t" r="r" b="b"/>
              <a:pathLst>
                <a:path w="2081529" h="1572895">
                  <a:moveTo>
                    <a:pt x="0" y="1572454"/>
                  </a:moveTo>
                  <a:lnTo>
                    <a:pt x="0" y="0"/>
                  </a:lnTo>
                </a:path>
                <a:path w="2081529" h="1572895">
                  <a:moveTo>
                    <a:pt x="2081027" y="1003526"/>
                  </a:moveTo>
                  <a:lnTo>
                    <a:pt x="2081027" y="0"/>
                  </a:lnTo>
                </a:path>
              </a:pathLst>
            </a:custGeom>
            <a:ln w="157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75986" y="2795841"/>
              <a:ext cx="2089150" cy="0"/>
            </a:xfrm>
            <a:custGeom>
              <a:avLst/>
              <a:gdLst/>
              <a:ahLst/>
              <a:cxnLst/>
              <a:rect l="l" t="t" r="r" b="b"/>
              <a:pathLst>
                <a:path w="2089150">
                  <a:moveTo>
                    <a:pt x="0" y="0"/>
                  </a:moveTo>
                  <a:lnTo>
                    <a:pt x="2088910" y="0"/>
                  </a:lnTo>
                </a:path>
              </a:pathLst>
            </a:custGeom>
            <a:ln w="7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5739" y="1284656"/>
            <a:ext cx="4232910" cy="2359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4300"/>
              </a:lnSpc>
              <a:spcBef>
                <a:spcPts val="110"/>
              </a:spcBef>
            </a:pPr>
            <a:r>
              <a:rPr sz="3950" b="1" spc="-800" dirty="0">
                <a:solidFill>
                  <a:srgbClr val="777293"/>
                </a:solidFill>
                <a:latin typeface="Arial"/>
                <a:cs typeface="Arial"/>
              </a:rPr>
              <a:t>COMPOUND</a:t>
            </a:r>
            <a:r>
              <a:rPr sz="3950" b="1" spc="10" dirty="0">
                <a:solidFill>
                  <a:srgbClr val="777293"/>
                </a:solidFill>
                <a:latin typeface="Arial"/>
                <a:cs typeface="Arial"/>
              </a:rPr>
              <a:t> </a:t>
            </a:r>
            <a:r>
              <a:rPr sz="3950" b="1" spc="-869" dirty="0">
                <a:solidFill>
                  <a:srgbClr val="777293"/>
                </a:solidFill>
                <a:latin typeface="Arial"/>
                <a:cs typeface="Arial"/>
              </a:rPr>
              <a:t>FEATURES</a:t>
            </a:r>
            <a:endParaRPr sz="3950">
              <a:latin typeface="Arial"/>
              <a:cs typeface="Arial"/>
            </a:endParaRPr>
          </a:p>
          <a:p>
            <a:pPr marR="11430" algn="ctr">
              <a:lnSpc>
                <a:spcPts val="4300"/>
              </a:lnSpc>
            </a:pPr>
            <a:r>
              <a:rPr sz="3300" spc="-260" dirty="0">
                <a:solidFill>
                  <a:srgbClr val="777293"/>
                </a:solidFill>
                <a:latin typeface="Times New Roman"/>
                <a:cs typeface="Times New Roman"/>
              </a:rPr>
              <a:t>&amp;</a:t>
            </a:r>
            <a:r>
              <a:rPr sz="3300" spc="-16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3950" b="1" spc="-665" dirty="0">
                <a:solidFill>
                  <a:srgbClr val="777293"/>
                </a:solidFill>
                <a:latin typeface="Arial"/>
                <a:cs typeface="Arial"/>
              </a:rPr>
              <a:t>DIFFICULTY</a:t>
            </a:r>
            <a:endParaRPr sz="395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1750"/>
              </a:spcBef>
            </a:pPr>
            <a:r>
              <a:rPr sz="2500" b="1" spc="-20" dirty="0">
                <a:solidFill>
                  <a:srgbClr val="777293"/>
                </a:solidFill>
                <a:latin typeface="Arial"/>
                <a:cs typeface="Arial"/>
              </a:rPr>
              <a:t>Idea</a:t>
            </a:r>
            <a:endParaRPr sz="2500">
              <a:latin typeface="Arial"/>
              <a:cs typeface="Arial"/>
            </a:endParaRPr>
          </a:p>
          <a:p>
            <a:pPr marL="282575" marR="1190625" indent="-9525">
              <a:lnSpc>
                <a:spcPct val="103699"/>
              </a:lnSpc>
              <a:spcBef>
                <a:spcPts val="1405"/>
              </a:spcBef>
            </a:pP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Combine</a:t>
            </a:r>
            <a:r>
              <a:rPr sz="1450" spc="114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simple</a:t>
            </a:r>
            <a:r>
              <a:rPr sz="1450" spc="2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features</a:t>
            </a:r>
            <a:r>
              <a:rPr sz="1450" spc="14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to</a:t>
            </a:r>
            <a:r>
              <a:rPr sz="1450" spc="29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capture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interaction</a:t>
            </a:r>
            <a:r>
              <a:rPr sz="1450" spc="27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effects</a:t>
            </a:r>
            <a:r>
              <a:rPr sz="1450" spc="-10" dirty="0">
                <a:solidFill>
                  <a:srgbClr val="919191"/>
                </a:solidFill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318" y="3871392"/>
            <a:ext cx="3392170" cy="996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b="1" spc="-270" dirty="0">
                <a:solidFill>
                  <a:srgbClr val="777293"/>
                </a:solidFill>
                <a:latin typeface="Arial"/>
                <a:cs typeface="Arial"/>
              </a:rPr>
              <a:t>Result</a:t>
            </a:r>
            <a:endParaRPr sz="2500">
              <a:latin typeface="Arial"/>
              <a:cs typeface="Arial"/>
            </a:endParaRPr>
          </a:p>
          <a:p>
            <a:pPr marL="102870">
              <a:lnSpc>
                <a:spcPct val="100000"/>
              </a:lnSpc>
              <a:spcBef>
                <a:spcPts val="1100"/>
              </a:spcBef>
            </a:pP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Strong</a:t>
            </a:r>
            <a:r>
              <a:rPr sz="1450" spc="2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improvement</a:t>
            </a:r>
            <a:r>
              <a:rPr sz="1450" spc="15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in</a:t>
            </a:r>
            <a:r>
              <a:rPr sz="1450" spc="6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correlation</a:t>
            </a:r>
            <a:endParaRPr sz="145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65"/>
              </a:spcBef>
            </a:pPr>
            <a:r>
              <a:rPr sz="1450" spc="-40" dirty="0">
                <a:solidFill>
                  <a:srgbClr val="777293"/>
                </a:solidFill>
                <a:latin typeface="Times New Roman"/>
                <a:cs typeface="Times New Roman"/>
              </a:rPr>
              <a:t>Begins</a:t>
            </a:r>
            <a:r>
              <a:rPr sz="1450" spc="1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to</a:t>
            </a:r>
            <a:r>
              <a:rPr sz="1450" spc="75" dirty="0">
                <a:solidFill>
                  <a:srgbClr val="777293"/>
                </a:solidFill>
                <a:latin typeface="Times New Roman"/>
                <a:cs typeface="Times New Roman"/>
              </a:rPr>
              <a:t> 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separate</a:t>
            </a:r>
            <a:r>
              <a:rPr sz="1450" spc="-1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"easy"</a:t>
            </a:r>
            <a:r>
              <a:rPr sz="1450" spc="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20" dirty="0">
                <a:solidFill>
                  <a:srgbClr val="777293"/>
                </a:solidFill>
                <a:latin typeface="Times New Roman"/>
                <a:cs typeface="Times New Roman"/>
              </a:rPr>
              <a:t>vs</a:t>
            </a:r>
            <a:r>
              <a:rPr sz="1450" spc="-20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"hard"</a:t>
            </a:r>
            <a:r>
              <a:rPr sz="1450" spc="9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circuits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915" y="5071804"/>
            <a:ext cx="3465829" cy="1163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40" dirty="0">
                <a:solidFill>
                  <a:srgbClr val="777293"/>
                </a:solidFill>
                <a:latin typeface="Times New Roman"/>
                <a:cs typeface="Times New Roman"/>
              </a:rPr>
              <a:t>Takeaway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Arial"/>
                <a:cs typeface="Arial"/>
              </a:rPr>
              <a:t>&gt;</a:t>
            </a:r>
            <a:r>
              <a:rPr sz="1350" spc="155" dirty="0">
                <a:solidFill>
                  <a:srgbClr val="777293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Circuit </a:t>
            </a:r>
            <a:r>
              <a:rPr sz="1450" spc="-35" dirty="0">
                <a:solidFill>
                  <a:srgbClr val="777293"/>
                </a:solidFill>
                <a:latin typeface="Times New Roman"/>
                <a:cs typeface="Times New Roman"/>
              </a:rPr>
              <a:t>difficulty</a:t>
            </a:r>
            <a:r>
              <a:rPr sz="1450" spc="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is</a:t>
            </a:r>
            <a:r>
              <a:rPr sz="1450" spc="5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multiplicative,</a:t>
            </a:r>
            <a:endParaRPr sz="1450">
              <a:latin typeface="Times New Roman"/>
              <a:cs typeface="Times New Roman"/>
            </a:endParaRPr>
          </a:p>
          <a:p>
            <a:pPr marL="1916430">
              <a:lnSpc>
                <a:spcPct val="100000"/>
              </a:lnSpc>
              <a:spcBef>
                <a:spcPts val="65"/>
              </a:spcBef>
            </a:pP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not</a:t>
            </a:r>
            <a:r>
              <a:rPr sz="1450" spc="1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additive.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19050" marR="16510" indent="10795">
              <a:lnSpc>
                <a:spcPct val="103699"/>
              </a:lnSpc>
              <a:spcBef>
                <a:spcPts val="5"/>
              </a:spcBef>
            </a:pP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Product</a:t>
            </a:r>
            <a:r>
              <a:rPr sz="1450" spc="1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of</a:t>
            </a:r>
            <a:r>
              <a:rPr sz="1450" spc="114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simple</a:t>
            </a:r>
            <a:r>
              <a:rPr sz="1450" spc="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features</a:t>
            </a:r>
            <a:r>
              <a:rPr sz="1450" spc="2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reduces</a:t>
            </a:r>
            <a:r>
              <a:rPr sz="1450" spc="1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impact</a:t>
            </a:r>
            <a:r>
              <a:rPr sz="1450" spc="3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25" dirty="0">
                <a:solidFill>
                  <a:srgbClr val="777293"/>
                </a:solidFill>
                <a:latin typeface="Times New Roman"/>
                <a:cs typeface="Times New Roman"/>
              </a:rPr>
              <a:t>of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outliers</a:t>
            </a:r>
            <a:r>
              <a:rPr sz="1450" spc="17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777293"/>
                </a:solidFill>
                <a:latin typeface="Times New Roman"/>
                <a:cs typeface="Times New Roman"/>
              </a:rPr>
              <a:t>on</a:t>
            </a:r>
            <a:r>
              <a:rPr sz="1450" spc="29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777293"/>
                </a:solidFill>
                <a:latin typeface="Times New Roman"/>
                <a:cs typeface="Times New Roman"/>
              </a:rPr>
              <a:t>regressions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6788" y="1121572"/>
            <a:ext cx="55054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505050"/>
                </a:solidFill>
                <a:latin typeface="Times New Roman"/>
                <a:cs typeface="Times New Roman"/>
              </a:rPr>
              <a:t>n•</a:t>
            </a:r>
            <a:r>
              <a:rPr sz="700" spc="-55" dirty="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505050"/>
                </a:solidFill>
                <a:latin typeface="Times New Roman"/>
                <a:cs typeface="Times New Roman"/>
              </a:rPr>
              <a:t>vs</a:t>
            </a:r>
            <a:r>
              <a:rPr sz="700" spc="70" dirty="0">
                <a:solidFill>
                  <a:srgbClr val="50505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3B3B3B"/>
                </a:solidFill>
                <a:latin typeface="Times New Roman"/>
                <a:cs typeface="Times New Roman"/>
              </a:rPr>
              <a:t>Runtime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22491" y="1118499"/>
            <a:ext cx="83883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42424"/>
                </a:solidFill>
                <a:latin typeface="Arial"/>
                <a:cs typeface="Arial"/>
              </a:rPr>
              <a:t>Thr</a:t>
            </a:r>
            <a:r>
              <a:rPr sz="600" dirty="0">
                <a:solidFill>
                  <a:srgbClr val="646464"/>
                </a:solidFill>
                <a:latin typeface="Arial"/>
                <a:cs typeface="Arial"/>
              </a:rPr>
              <a:t>es</a:t>
            </a:r>
            <a:r>
              <a:rPr sz="600" dirty="0">
                <a:solidFill>
                  <a:srgbClr val="3B3B3B"/>
                </a:solidFill>
                <a:latin typeface="Arial"/>
                <a:cs typeface="Arial"/>
              </a:rPr>
              <a:t>hold</a:t>
            </a:r>
            <a:r>
              <a:rPr sz="600" spc="130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600" spc="-90" dirty="0">
                <a:solidFill>
                  <a:srgbClr val="3B3B3B"/>
                </a:solidFill>
                <a:latin typeface="Arial"/>
                <a:cs typeface="Arial"/>
              </a:rPr>
              <a:t>11s</a:t>
            </a:r>
            <a:r>
              <a:rPr sz="600" spc="-10" dirty="0">
                <a:solidFill>
                  <a:srgbClr val="3B3B3B"/>
                </a:solidFill>
                <a:latin typeface="Arial"/>
                <a:cs typeface="Arial"/>
              </a:rPr>
              <a:t> Runtime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51974" y="1410866"/>
            <a:ext cx="9588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40" dirty="0">
                <a:solidFill>
                  <a:srgbClr val="919191"/>
                </a:solidFill>
                <a:latin typeface="Times New Roman"/>
                <a:cs typeface="Times New Roman"/>
              </a:rPr>
              <a:t>10'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4462" y="1237904"/>
            <a:ext cx="1536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30" dirty="0">
                <a:solidFill>
                  <a:srgbClr val="5B56BC"/>
                </a:solidFill>
                <a:latin typeface="Times New Roman"/>
                <a:cs typeface="Times New Roman"/>
              </a:rPr>
              <a:t>..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1974" y="1766445"/>
            <a:ext cx="8255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75" dirty="0">
                <a:solidFill>
                  <a:srgbClr val="919191"/>
                </a:solidFill>
                <a:latin typeface="Times New Roman"/>
                <a:cs typeface="Times New Roman"/>
              </a:rPr>
              <a:t>10'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47653" y="1899459"/>
            <a:ext cx="8128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150" dirty="0">
                <a:solidFill>
                  <a:srgbClr val="488044"/>
                </a:solidFill>
                <a:latin typeface="Arial"/>
                <a:cs typeface="Arial"/>
              </a:rPr>
              <a:t>I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04432" y="1839915"/>
            <a:ext cx="297815" cy="3892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1400" spc="-175" dirty="0">
                <a:solidFill>
                  <a:srgbClr val="919191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67005">
              <a:lnSpc>
                <a:spcPct val="100000"/>
              </a:lnSpc>
              <a:spcBef>
                <a:spcPts val="155"/>
              </a:spcBef>
            </a:pPr>
            <a:r>
              <a:rPr sz="500" spc="-25" dirty="0">
                <a:solidFill>
                  <a:srgbClr val="919191"/>
                </a:solidFill>
                <a:latin typeface="Times New Roman"/>
                <a:cs typeface="Times New Roman"/>
              </a:rPr>
              <a:t>io</a:t>
            </a:r>
            <a:r>
              <a:rPr sz="600" spc="-37" baseline="13888" dirty="0">
                <a:solidFill>
                  <a:srgbClr val="B1B1B1"/>
                </a:solidFill>
                <a:latin typeface="Arial"/>
                <a:cs typeface="Arial"/>
              </a:rPr>
              <a:t>1</a:t>
            </a:r>
            <a:endParaRPr sz="600" baseline="1388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68163" y="2029618"/>
            <a:ext cx="8636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75" dirty="0">
                <a:solidFill>
                  <a:srgbClr val="2B722A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56003" y="2124441"/>
            <a:ext cx="9144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10" dirty="0">
                <a:solidFill>
                  <a:srgbClr val="3431B1"/>
                </a:solidFill>
                <a:latin typeface="Arial"/>
                <a:cs typeface="Arial"/>
              </a:rPr>
              <a:t>•</a:t>
            </a:r>
            <a:endParaRPr sz="1450">
              <a:latin typeface="Arial"/>
              <a:cs typeface="Arial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7882679" y="1215484"/>
          <a:ext cx="2054225" cy="157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49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5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03300">
                <a:tc gridSpan="9">
                  <a:txBody>
                    <a:bodyPr/>
                    <a:lstStyle/>
                    <a:p>
                      <a:pPr marL="85090" marR="21590">
                        <a:lnSpc>
                          <a:spcPts val="2490"/>
                        </a:lnSpc>
                        <a:spcBef>
                          <a:spcPts val="225"/>
                        </a:spcBef>
                        <a:tabLst>
                          <a:tab pos="294005" algn="l"/>
                          <a:tab pos="1120140" algn="l"/>
                          <a:tab pos="1326515" algn="l"/>
                          <a:tab pos="1543050" algn="l"/>
                          <a:tab pos="1748155" algn="l"/>
                          <a:tab pos="1953260" algn="l"/>
                        </a:tabLst>
                      </a:pPr>
                      <a:r>
                        <a:rPr sz="800" spc="-50" dirty="0">
                          <a:solidFill>
                            <a:srgbClr val="488044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4880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2925" spc="-75" baseline="-8547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2925" baseline="-8547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300" spc="-75" baseline="17676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3300" baseline="17676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2925" spc="-1072" baseline="-9971" dirty="0">
                          <a:solidFill>
                            <a:srgbClr val="598E5B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1650" spc="-104" baseline="-30303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1650" baseline="-30303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2025" spc="-75" baseline="2057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2025" baseline="2057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350" spc="-50" dirty="0">
                          <a:solidFill>
                            <a:srgbClr val="488044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350" dirty="0">
                          <a:solidFill>
                            <a:srgbClr val="488044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25" spc="-75" baseline="2057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2025" baseline="2057">
                        <a:latin typeface="Times New Roman"/>
                        <a:cs typeface="Times New Roman"/>
                      </a:endParaRPr>
                    </a:p>
                    <a:p>
                      <a:pPr marL="81280" marR="21590">
                        <a:lnSpc>
                          <a:spcPts val="944"/>
                        </a:lnSpc>
                        <a:tabLst>
                          <a:tab pos="922655" algn="l"/>
                          <a:tab pos="1125855" algn="l"/>
                          <a:tab pos="1331595" algn="l"/>
                          <a:tab pos="1543050" algn="l"/>
                          <a:tab pos="1748155" algn="l"/>
                        </a:tabLst>
                      </a:pPr>
                      <a:r>
                        <a:rPr sz="1650" spc="-75" baseline="25252" dirty="0">
                          <a:solidFill>
                            <a:srgbClr val="2B722A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650" baseline="25252" dirty="0">
                          <a:solidFill>
                            <a:srgbClr val="2B722A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650" spc="-75" baseline="2525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1650" baseline="2525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950" spc="-75" baseline="4273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950" baseline="4273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50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200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025" spc="-75" baseline="14403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2025" baseline="14403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spc="-75" baseline="-4273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1950" baseline="-4273">
                        <a:latin typeface="Times New Roman"/>
                        <a:cs typeface="Times New Roman"/>
                      </a:endParaRPr>
                    </a:p>
                    <a:p>
                      <a:pPr marL="80010" marR="21590">
                        <a:lnSpc>
                          <a:spcPts val="484"/>
                        </a:lnSpc>
                        <a:tabLst>
                          <a:tab pos="294005" algn="l"/>
                          <a:tab pos="922655" algn="l"/>
                          <a:tab pos="1118870" algn="l"/>
                        </a:tabLst>
                      </a:pPr>
                      <a:r>
                        <a:rPr sz="3225" spc="-75" baseline="-7751" dirty="0">
                          <a:solidFill>
                            <a:srgbClr val="488044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3225" baseline="-7751" dirty="0">
                          <a:solidFill>
                            <a:srgbClr val="488044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2775" spc="-975" baseline="3003" dirty="0">
                          <a:solidFill>
                            <a:srgbClr val="598E5B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2325" spc="-22" baseline="-25089" dirty="0">
                          <a:solidFill>
                            <a:srgbClr val="598E5B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2325" spc="742" baseline="-25089" dirty="0">
                          <a:solidFill>
                            <a:srgbClr val="598E5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50" spc="-67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2925" spc="-1132" baseline="1424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1800" spc="-157" baseline="39351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800" baseline="39351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50" spc="-75" baseline="27777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r>
                        <a:rPr sz="1650" baseline="27777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450" spc="-75" baseline="-6038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3450" baseline="-6038">
                        <a:latin typeface="Times New Roman"/>
                        <a:cs typeface="Times New Roman"/>
                      </a:endParaRPr>
                    </a:p>
                    <a:p>
                      <a:pPr marL="1123950" marR="21590" indent="-201930">
                        <a:lnSpc>
                          <a:spcPts val="390"/>
                        </a:lnSpc>
                        <a:buClr>
                          <a:srgbClr val="7CA37E"/>
                        </a:buClr>
                        <a:buSzPct val="122222"/>
                        <a:buChar char="•"/>
                        <a:tabLst>
                          <a:tab pos="1123950" algn="l"/>
                          <a:tab pos="1124585" algn="l"/>
                        </a:tabLst>
                      </a:pPr>
                      <a:r>
                        <a:rPr sz="900" spc="-150" dirty="0">
                          <a:solidFill>
                            <a:srgbClr val="598E5B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103505" algn="r">
                        <a:lnSpc>
                          <a:spcPts val="2525"/>
                        </a:lnSpc>
                        <a:spcBef>
                          <a:spcPts val="1855"/>
                        </a:spcBef>
                      </a:pPr>
                      <a:r>
                        <a:rPr sz="2250" spc="-840" dirty="0">
                          <a:solidFill>
                            <a:srgbClr val="598E5B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650" spc="-209" baseline="-10101" dirty="0">
                          <a:solidFill>
                            <a:srgbClr val="488044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650" baseline="-10101">
                        <a:latin typeface="Arial"/>
                        <a:cs typeface="Arial"/>
                      </a:endParaRPr>
                    </a:p>
                  </a:txBody>
                  <a:tcPr marL="0" marR="0" marT="235585" marB="0">
                    <a:lnL w="571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5880">
                        <a:lnSpc>
                          <a:spcPts val="2100"/>
                        </a:lnSpc>
                      </a:pPr>
                      <a:r>
                        <a:rPr sz="1800" dirty="0">
                          <a:solidFill>
                            <a:srgbClr val="598E5B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  <a:spcBef>
                          <a:spcPts val="455"/>
                        </a:spcBef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090"/>
                        </a:lnSpc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580"/>
                        </a:spcBef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080"/>
                        </a:lnSpc>
                      </a:pPr>
                      <a:r>
                        <a:rPr sz="12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90"/>
                        </a:lnSpc>
                        <a:spcBef>
                          <a:spcPts val="515"/>
                        </a:spcBef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3335" algn="ctr">
                        <a:lnSpc>
                          <a:spcPts val="1065"/>
                        </a:lnSpc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5405" marB="0"/>
                </a:tc>
                <a:tc rowSpan="2">
                  <a:txBody>
                    <a:bodyPr/>
                    <a:lstStyle/>
                    <a:p>
                      <a:pPr marL="67310">
                        <a:lnSpc>
                          <a:spcPts val="1800"/>
                        </a:lnSpc>
                      </a:pPr>
                      <a:r>
                        <a:rPr sz="265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2650">
                        <a:latin typeface="Arial"/>
                        <a:cs typeface="Arial"/>
                      </a:endParaRPr>
                    </a:p>
                    <a:p>
                      <a:pPr marL="88265" marR="12065">
                        <a:lnSpc>
                          <a:spcPts val="1520"/>
                        </a:lnSpc>
                      </a:pPr>
                      <a:r>
                        <a:rPr sz="1350" dirty="0">
                          <a:solidFill>
                            <a:srgbClr val="7CA37E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4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35585" marB="0">
                    <a:lnL w="571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1150"/>
                        </a:lnSpc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ts val="1210"/>
                        </a:lnSpc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0"/>
                        </a:lnSpc>
                      </a:pPr>
                      <a:r>
                        <a:rPr sz="1100" dirty="0">
                          <a:solidFill>
                            <a:srgbClr val="7CA37E"/>
                          </a:solidFill>
                          <a:latin typeface="Arial"/>
                          <a:cs typeface="Arial"/>
                        </a:rPr>
                        <a:t>•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9317674" y="2632787"/>
            <a:ext cx="13906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-204" dirty="0">
                <a:solidFill>
                  <a:srgbClr val="B1B1B1"/>
                </a:solidFill>
                <a:latin typeface="Times New Roman"/>
                <a:cs typeface="Times New Roman"/>
              </a:rPr>
              <a:t>...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76656" y="3869416"/>
            <a:ext cx="4953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35" dirty="0">
                <a:solidFill>
                  <a:srgbClr val="DD6D70"/>
                </a:solidFill>
                <a:latin typeface="Arial"/>
                <a:cs typeface="Arial"/>
              </a:rPr>
              <a:t>I</a:t>
            </a:r>
            <a:endParaRPr sz="11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94280" y="4121396"/>
            <a:ext cx="11239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70" dirty="0">
                <a:solidFill>
                  <a:srgbClr val="C6383D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10873" y="4023940"/>
            <a:ext cx="40195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89865" algn="l"/>
              </a:tabLst>
            </a:pPr>
            <a:r>
              <a:rPr sz="1100" spc="-50" dirty="0">
                <a:solidFill>
                  <a:srgbClr val="C6383D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C6383D"/>
                </a:solidFill>
                <a:latin typeface="Arial"/>
                <a:cs typeface="Arial"/>
              </a:rPr>
              <a:t>	</a:t>
            </a:r>
            <a:r>
              <a:rPr sz="900" dirty="0">
                <a:solidFill>
                  <a:srgbClr val="D1595D"/>
                </a:solidFill>
                <a:latin typeface="Arial"/>
                <a:cs typeface="Arial"/>
              </a:rPr>
              <a:t>I</a:t>
            </a:r>
            <a:r>
              <a:rPr sz="900" spc="360" dirty="0">
                <a:solidFill>
                  <a:srgbClr val="D1595D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D1595D"/>
                </a:solidFill>
                <a:latin typeface="Arial"/>
                <a:cs typeface="Arial"/>
              </a:rPr>
              <a:t>I</a:t>
            </a:r>
            <a:r>
              <a:rPr sz="2325" spc="-37" baseline="-34050" dirty="0">
                <a:solidFill>
                  <a:srgbClr val="DD6D70"/>
                </a:solidFill>
                <a:latin typeface="Arial"/>
                <a:cs typeface="Arial"/>
              </a:rPr>
              <a:t>•</a:t>
            </a:r>
            <a:endParaRPr sz="2325" baseline="-34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78180" y="4218192"/>
            <a:ext cx="946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5" dirty="0">
                <a:solidFill>
                  <a:srgbClr val="C6383D"/>
                </a:solidFill>
                <a:latin typeface="Times New Roman"/>
                <a:cs typeface="Times New Roman"/>
              </a:rPr>
              <a:t>•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89611" y="4020648"/>
            <a:ext cx="133350" cy="46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10"/>
              </a:lnSpc>
              <a:spcBef>
                <a:spcPts val="105"/>
              </a:spcBef>
            </a:pPr>
            <a:r>
              <a:rPr sz="1700" spc="-250" dirty="0">
                <a:solidFill>
                  <a:srgbClr val="DD6D70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45085">
              <a:lnSpc>
                <a:spcPts val="1630"/>
              </a:lnSpc>
            </a:pPr>
            <a:r>
              <a:rPr sz="1550" spc="45" dirty="0">
                <a:solidFill>
                  <a:srgbClr val="DD6D70"/>
                </a:solidFill>
                <a:latin typeface="Arial"/>
                <a:cs typeface="Arial"/>
              </a:rPr>
              <a:t>•</a:t>
            </a:r>
            <a:endParaRPr sz="15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94999" y="4076619"/>
            <a:ext cx="685800" cy="4457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4125" spc="-434" baseline="-9090" dirty="0">
                <a:solidFill>
                  <a:srgbClr val="D1595D"/>
                </a:solidFill>
                <a:latin typeface="Arial"/>
                <a:cs typeface="Arial"/>
              </a:rPr>
              <a:t>•</a:t>
            </a:r>
            <a:r>
              <a:rPr sz="4125" spc="-179" baseline="-9090" dirty="0">
                <a:solidFill>
                  <a:srgbClr val="D1595D"/>
                </a:solidFill>
                <a:latin typeface="Arial"/>
                <a:cs typeface="Arial"/>
              </a:rPr>
              <a:t> </a:t>
            </a:r>
            <a:r>
              <a:rPr sz="2400" baseline="-3472" dirty="0">
                <a:solidFill>
                  <a:srgbClr val="DD6D70"/>
                </a:solidFill>
                <a:latin typeface="Times New Roman"/>
                <a:cs typeface="Times New Roman"/>
              </a:rPr>
              <a:t>••</a:t>
            </a:r>
            <a:r>
              <a:rPr sz="2400" spc="120" baseline="-3472" dirty="0">
                <a:solidFill>
                  <a:srgbClr val="DD6D70"/>
                </a:solidFill>
                <a:latin typeface="Times New Roman"/>
                <a:cs typeface="Times New Roman"/>
              </a:rPr>
              <a:t> </a:t>
            </a:r>
            <a:r>
              <a:rPr sz="2550" spc="-750" baseline="-17973" dirty="0">
                <a:solidFill>
                  <a:srgbClr val="DD6D70"/>
                </a:solidFill>
                <a:latin typeface="Arial"/>
                <a:cs typeface="Arial"/>
              </a:rPr>
              <a:t>•</a:t>
            </a:r>
            <a:r>
              <a:rPr sz="2450" spc="25" dirty="0">
                <a:solidFill>
                  <a:srgbClr val="DD6D70"/>
                </a:solidFill>
                <a:latin typeface="Arial"/>
                <a:cs typeface="Arial"/>
              </a:rPr>
              <a:t>,</a:t>
            </a:r>
            <a:r>
              <a:rPr sz="2450" spc="-305" dirty="0">
                <a:solidFill>
                  <a:srgbClr val="DD6D70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DD6D70"/>
                </a:solidFill>
                <a:latin typeface="Times New Roman"/>
                <a:cs typeface="Times New Roman"/>
              </a:rPr>
              <a:t>•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09321" y="4433515"/>
            <a:ext cx="20955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 indent="-135890">
              <a:lnSpc>
                <a:spcPct val="100000"/>
              </a:lnSpc>
              <a:spcBef>
                <a:spcPts val="100"/>
              </a:spcBef>
              <a:buClr>
                <a:srgbClr val="DD6D70"/>
              </a:buClr>
              <a:buChar char="•"/>
              <a:tabLst>
                <a:tab pos="148590" algn="l"/>
              </a:tabLst>
            </a:pPr>
            <a:r>
              <a:rPr sz="1250" spc="30" dirty="0">
                <a:solidFill>
                  <a:srgbClr val="D1595D"/>
                </a:solidFill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8178" y="1010038"/>
            <a:ext cx="5770245" cy="5721350"/>
            <a:chOff x="4288178" y="1010038"/>
            <a:chExt cx="5770245" cy="5721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8178" y="1010038"/>
              <a:ext cx="5770220" cy="57208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8178" y="1847627"/>
              <a:ext cx="4303944" cy="35241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58205" y="2219010"/>
              <a:ext cx="3389629" cy="0"/>
            </a:xfrm>
            <a:custGeom>
              <a:avLst/>
              <a:gdLst/>
              <a:ahLst/>
              <a:cxnLst/>
              <a:rect l="l" t="t" r="r" b="b"/>
              <a:pathLst>
                <a:path w="3389629">
                  <a:moveTo>
                    <a:pt x="0" y="0"/>
                  </a:moveTo>
                  <a:lnTo>
                    <a:pt x="3389551" y="0"/>
                  </a:lnTo>
                </a:path>
              </a:pathLst>
            </a:custGeom>
            <a:ln w="7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81853" y="2203207"/>
              <a:ext cx="0" cy="3176905"/>
            </a:xfrm>
            <a:custGeom>
              <a:avLst/>
              <a:gdLst/>
              <a:ahLst/>
              <a:cxnLst/>
              <a:rect l="l" t="t" r="r" b="b"/>
              <a:pathLst>
                <a:path h="3176904">
                  <a:moveTo>
                    <a:pt x="0" y="3176515"/>
                  </a:moveTo>
                  <a:lnTo>
                    <a:pt x="0" y="0"/>
                  </a:lnTo>
                </a:path>
              </a:pathLst>
            </a:custGeom>
            <a:ln w="157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07976" y="5498249"/>
              <a:ext cx="3090545" cy="0"/>
            </a:xfrm>
            <a:custGeom>
              <a:avLst/>
              <a:gdLst/>
              <a:ahLst/>
              <a:cxnLst/>
              <a:rect l="l" t="t" r="r" b="b"/>
              <a:pathLst>
                <a:path w="3090545">
                  <a:moveTo>
                    <a:pt x="0" y="0"/>
                  </a:moveTo>
                  <a:lnTo>
                    <a:pt x="3090009" y="0"/>
                  </a:lnTo>
                </a:path>
              </a:pathLst>
            </a:custGeom>
            <a:ln w="7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4271" y="1084038"/>
            <a:ext cx="2522220" cy="889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650" b="1" u="none" spc="-1510" dirty="0">
                <a:solidFill>
                  <a:srgbClr val="6B6491"/>
                </a:solidFill>
                <a:latin typeface="Times New Roman"/>
                <a:cs typeface="Times New Roman"/>
              </a:rPr>
              <a:t>QUANTUM</a:t>
            </a:r>
            <a:endParaRPr sz="5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612" y="1358169"/>
            <a:ext cx="3882390" cy="2584450"/>
          </a:xfrm>
          <a:prstGeom prst="rect">
            <a:avLst/>
          </a:prstGeom>
        </p:spPr>
        <p:txBody>
          <a:bodyPr vert="horz" wrap="square" lIns="0" tIns="44958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3540"/>
              </a:spcBef>
            </a:pPr>
            <a:r>
              <a:rPr sz="5350" b="1" spc="-1050" dirty="0">
                <a:solidFill>
                  <a:srgbClr val="6B6491"/>
                </a:solidFill>
                <a:latin typeface="Arial"/>
                <a:cs typeface="Arial"/>
              </a:rPr>
              <a:t>PROPERTIES</a:t>
            </a:r>
            <a:endParaRPr sz="5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300" b="1" spc="-315" dirty="0">
                <a:solidFill>
                  <a:srgbClr val="6B6491"/>
                </a:solidFill>
                <a:latin typeface="Arial"/>
                <a:cs typeface="Arial"/>
              </a:rPr>
              <a:t>Simulator</a:t>
            </a:r>
            <a:r>
              <a:rPr sz="2300" b="1" spc="-245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300" b="1" spc="-310" dirty="0">
                <a:solidFill>
                  <a:srgbClr val="6B6491"/>
                </a:solidFill>
                <a:latin typeface="Arial"/>
                <a:cs typeface="Arial"/>
              </a:rPr>
              <a:t>perspective</a:t>
            </a:r>
            <a:endParaRPr sz="2300">
              <a:latin typeface="Arial"/>
              <a:cs typeface="Arial"/>
            </a:endParaRPr>
          </a:p>
          <a:p>
            <a:pPr marL="55244" marR="5080" indent="-13335" algn="ctr">
              <a:lnSpc>
                <a:spcPct val="105500"/>
              </a:lnSpc>
              <a:spcBef>
                <a:spcPts val="725"/>
              </a:spcBef>
            </a:pP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Tensor-</a:t>
            </a:r>
            <a:r>
              <a:rPr sz="1400" spc="45" dirty="0">
                <a:solidFill>
                  <a:srgbClr val="79778C"/>
                </a:solidFill>
                <a:latin typeface="Times New Roman"/>
                <a:cs typeface="Times New Roman"/>
              </a:rPr>
              <a:t>network</a:t>
            </a:r>
            <a:r>
              <a:rPr sz="1400" spc="12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simulators</a:t>
            </a:r>
            <a:r>
              <a:rPr sz="1400" spc="30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struggle</a:t>
            </a:r>
            <a:r>
              <a:rPr sz="1400" spc="32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when</a:t>
            </a:r>
            <a:r>
              <a:rPr sz="1400" spc="31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79778C"/>
                </a:solidFill>
                <a:latin typeface="Times New Roman"/>
                <a:cs typeface="Times New Roman"/>
              </a:rPr>
              <a:t>the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entanglement</a:t>
            </a:r>
            <a:r>
              <a:rPr sz="1400" spc="26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is</a:t>
            </a:r>
            <a:r>
              <a:rPr sz="1400" spc="7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large,</a:t>
            </a:r>
            <a:r>
              <a:rPr sz="1400" spc="2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builds</a:t>
            </a:r>
            <a:r>
              <a:rPr sz="1400" spc="12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9778C"/>
                </a:solidFill>
                <a:latin typeface="Times New Roman"/>
                <a:cs typeface="Times New Roman"/>
              </a:rPr>
              <a:t>early,</a:t>
            </a:r>
            <a:r>
              <a:rPr sz="1400" spc="-14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or</a:t>
            </a:r>
            <a:r>
              <a:rPr sz="1400" spc="45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9778C"/>
                </a:solidFill>
                <a:latin typeface="Times New Roman"/>
                <a:cs typeface="Times New Roman"/>
              </a:rPr>
              <a:t>compression </a:t>
            </a:r>
            <a:r>
              <a:rPr sz="1400" spc="50" dirty="0">
                <a:solidFill>
                  <a:srgbClr val="79778C"/>
                </a:solidFill>
                <a:latin typeface="Times New Roman"/>
                <a:cs typeface="Times New Roman"/>
              </a:rPr>
              <a:t>opportunities</a:t>
            </a:r>
            <a:r>
              <a:rPr sz="1400" spc="16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are</a:t>
            </a:r>
            <a:r>
              <a:rPr sz="1400" spc="21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9778C"/>
                </a:solidFill>
                <a:latin typeface="Times New Roman"/>
                <a:cs typeface="Times New Roman"/>
              </a:rPr>
              <a:t>limited.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980" y="4228727"/>
            <a:ext cx="3678554" cy="707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710"/>
              </a:lnSpc>
              <a:spcBef>
                <a:spcPts val="105"/>
              </a:spcBef>
            </a:pPr>
            <a:r>
              <a:rPr sz="2300" b="1" spc="-300" dirty="0">
                <a:solidFill>
                  <a:srgbClr val="6B6491"/>
                </a:solidFill>
                <a:latin typeface="Arial"/>
                <a:cs typeface="Arial"/>
              </a:rPr>
              <a:t>Motivated</a:t>
            </a:r>
            <a:r>
              <a:rPr sz="2300" b="1" spc="-215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300" b="1" spc="-265" dirty="0">
                <a:solidFill>
                  <a:srgbClr val="6B6491"/>
                </a:solidFill>
                <a:latin typeface="Arial"/>
                <a:cs typeface="Arial"/>
              </a:rPr>
              <a:t>teature</a:t>
            </a:r>
            <a:endParaRPr sz="2300">
              <a:latin typeface="Arial"/>
              <a:cs typeface="Arial"/>
            </a:endParaRPr>
          </a:p>
          <a:p>
            <a:pPr marL="305435">
              <a:lnSpc>
                <a:spcPts val="2650"/>
              </a:lnSpc>
            </a:pPr>
            <a:r>
              <a:rPr sz="1450" i="1" spc="-45" dirty="0">
                <a:solidFill>
                  <a:srgbClr val="79778C"/>
                </a:solidFill>
                <a:latin typeface="Times New Roman"/>
                <a:cs typeface="Times New Roman"/>
              </a:rPr>
              <a:t>Entanglement</a:t>
            </a:r>
            <a:r>
              <a:rPr sz="1450" i="1" spc="14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50" i="1" spc="-95" dirty="0">
                <a:solidFill>
                  <a:srgbClr val="79778C"/>
                </a:solidFill>
                <a:latin typeface="Times New Roman"/>
                <a:cs typeface="Times New Roman"/>
              </a:rPr>
              <a:t>Progression</a:t>
            </a:r>
            <a:r>
              <a:rPr sz="1450" i="1" spc="114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2250" spc="-385" dirty="0">
                <a:solidFill>
                  <a:srgbClr val="79778C"/>
                </a:solidFill>
                <a:latin typeface="Times New Roman"/>
                <a:cs typeface="Times New Roman"/>
              </a:rPr>
              <a:t>=</a:t>
            </a:r>
            <a:r>
              <a:rPr sz="2250" spc="-19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volume</a:t>
            </a:r>
            <a:r>
              <a:rPr sz="1400" spc="17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x</a:t>
            </a:r>
            <a:r>
              <a:rPr sz="1400" spc="20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9778C"/>
                </a:solidFill>
                <a:latin typeface="Times New Roman"/>
                <a:cs typeface="Times New Roman"/>
              </a:rPr>
              <a:t>packing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739" y="5147162"/>
            <a:ext cx="3803650" cy="107124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2300" b="1" spc="-165" dirty="0">
                <a:solidFill>
                  <a:srgbClr val="6B6491"/>
                </a:solidFill>
                <a:latin typeface="Arial"/>
                <a:cs typeface="Arial"/>
              </a:rPr>
              <a:t>Interpretation</a:t>
            </a:r>
            <a:endParaRPr sz="2300">
              <a:latin typeface="Arial"/>
              <a:cs typeface="Arial"/>
            </a:endParaRPr>
          </a:p>
          <a:p>
            <a:pPr marL="1158875" marR="5080" indent="-1010919">
              <a:lnSpc>
                <a:spcPct val="107400"/>
              </a:lnSpc>
              <a:spcBef>
                <a:spcPts val="630"/>
              </a:spcBef>
            </a:pP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Measures</a:t>
            </a:r>
            <a:r>
              <a:rPr sz="1400" spc="40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6B6491"/>
                </a:solidFill>
                <a:latin typeface="Times New Roman"/>
                <a:cs typeface="Times New Roman"/>
              </a:rPr>
              <a:t>how</a:t>
            </a:r>
            <a:r>
              <a:rPr sz="1400" spc="229" dirty="0">
                <a:solidFill>
                  <a:srgbClr val="6B6491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much</a:t>
            </a:r>
            <a:r>
              <a:rPr sz="1400" spc="27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entanglement</a:t>
            </a:r>
            <a:r>
              <a:rPr sz="1400" spc="48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pressure</a:t>
            </a:r>
            <a:r>
              <a:rPr sz="1400" spc="26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79778C"/>
                </a:solidFill>
                <a:latin typeface="Times New Roman"/>
                <a:cs typeface="Times New Roman"/>
              </a:rPr>
              <a:t>the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simulator</a:t>
            </a:r>
            <a:r>
              <a:rPr sz="1400" spc="380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9778C"/>
                </a:solidFill>
                <a:latin typeface="Times New Roman"/>
                <a:cs typeface="Times New Roman"/>
              </a:rPr>
              <a:t>must</a:t>
            </a:r>
            <a:r>
              <a:rPr sz="1400" spc="225" dirty="0">
                <a:solidFill>
                  <a:srgbClr val="79778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79778C"/>
                </a:solidFill>
                <a:latin typeface="Times New Roman"/>
                <a:cs typeface="Times New Roman"/>
              </a:rPr>
              <a:t>carry.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7917" y="1860827"/>
            <a:ext cx="1784985" cy="3517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84480" marR="5080" indent="-272415">
              <a:lnSpc>
                <a:spcPts val="1240"/>
              </a:lnSpc>
              <a:spcBef>
                <a:spcPts val="210"/>
              </a:spcBef>
            </a:pPr>
            <a:r>
              <a:rPr sz="1100" dirty="0">
                <a:solidFill>
                  <a:srgbClr val="363636"/>
                </a:solidFill>
                <a:latin typeface="Arial"/>
                <a:cs typeface="Arial"/>
              </a:rPr>
              <a:t>Etgl</a:t>
            </a:r>
            <a:r>
              <a:rPr sz="1100" spc="5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25252"/>
                </a:solidFill>
                <a:latin typeface="Arial"/>
                <a:cs typeface="Arial"/>
              </a:rPr>
              <a:t>Prog</a:t>
            </a:r>
            <a:r>
              <a:rPr sz="1100" spc="12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25252"/>
                </a:solidFill>
                <a:latin typeface="Arial"/>
                <a:cs typeface="Arial"/>
              </a:rPr>
              <a:t>vs</a:t>
            </a:r>
            <a:r>
              <a:rPr sz="1100" spc="55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25252"/>
                </a:solidFill>
                <a:latin typeface="Arial"/>
                <a:cs typeface="Arial"/>
              </a:rPr>
              <a:t>M</a:t>
            </a:r>
            <a:r>
              <a:rPr sz="1100" dirty="0">
                <a:solidFill>
                  <a:srgbClr val="79778C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646464"/>
                </a:solidFill>
                <a:latin typeface="Arial"/>
                <a:cs typeface="Arial"/>
              </a:rPr>
              <a:t>n</a:t>
            </a:r>
            <a:r>
              <a:rPr sz="1100" spc="20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46464"/>
                </a:solidFill>
                <a:latin typeface="Arial"/>
                <a:cs typeface="Arial"/>
              </a:rPr>
              <a:t>Threshold </a:t>
            </a:r>
            <a:r>
              <a:rPr sz="1100" dirty="0">
                <a:solidFill>
                  <a:srgbClr val="525252"/>
                </a:solidFill>
                <a:latin typeface="Arial"/>
                <a:cs typeface="Arial"/>
              </a:rPr>
              <a:t>Correlation</a:t>
            </a:r>
            <a:r>
              <a:rPr sz="1100" dirty="0">
                <a:solidFill>
                  <a:srgbClr val="79778C"/>
                </a:solidFill>
                <a:latin typeface="Arial"/>
                <a:cs typeface="Arial"/>
              </a:rPr>
              <a:t>:</a:t>
            </a:r>
            <a:r>
              <a:rPr sz="1100" spc="395" dirty="0">
                <a:solidFill>
                  <a:srgbClr val="79778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646464"/>
                </a:solidFill>
                <a:latin typeface="Arial"/>
                <a:cs typeface="Arial"/>
              </a:rPr>
              <a:t>0</a:t>
            </a:r>
            <a:r>
              <a:rPr sz="1100" spc="-20" dirty="0">
                <a:solidFill>
                  <a:srgbClr val="79778C"/>
                </a:solidFill>
                <a:latin typeface="Arial"/>
                <a:cs typeface="Arial"/>
              </a:rPr>
              <a:t>.</a:t>
            </a:r>
            <a:r>
              <a:rPr sz="1100" spc="-20" dirty="0">
                <a:solidFill>
                  <a:srgbClr val="646464"/>
                </a:solidFill>
                <a:latin typeface="Arial"/>
                <a:cs typeface="Arial"/>
              </a:rPr>
              <a:t>963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30273" y="2368298"/>
            <a:ext cx="2108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79778C"/>
                </a:solidFill>
                <a:latin typeface="Times New Roman"/>
                <a:cs typeface="Times New Roman"/>
              </a:rPr>
              <a:t>250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30273" y="2937226"/>
            <a:ext cx="2717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65" dirty="0">
                <a:solidFill>
                  <a:srgbClr val="646464"/>
                </a:solidFill>
                <a:latin typeface="Times New Roman"/>
                <a:cs typeface="Times New Roman"/>
              </a:rPr>
              <a:t>200.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6347" y="3285124"/>
            <a:ext cx="152400" cy="23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ts val="645"/>
              </a:lnSpc>
              <a:spcBef>
                <a:spcPts val="100"/>
              </a:spcBef>
            </a:pPr>
            <a:r>
              <a:rPr sz="650" spc="30" dirty="0">
                <a:solidFill>
                  <a:srgbClr val="646464"/>
                </a:solidFill>
                <a:latin typeface="Times New Roman"/>
                <a:cs typeface="Times New Roman"/>
              </a:rPr>
              <a:t>'O</a:t>
            </a: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ts val="1005"/>
              </a:lnSpc>
            </a:pPr>
            <a:r>
              <a:rPr sz="950" spc="120" dirty="0">
                <a:solidFill>
                  <a:srgbClr val="646464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68757" y="3433502"/>
            <a:ext cx="13525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100" dirty="0">
                <a:solidFill>
                  <a:srgbClr val="79778C"/>
                </a:solidFill>
                <a:latin typeface="Arial"/>
                <a:cs typeface="Arial"/>
              </a:rPr>
              <a:t>.s::.</a:t>
            </a:r>
            <a:endParaRPr sz="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60556" y="3504398"/>
            <a:ext cx="4654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50" spc="-307" baseline="-25252" dirty="0">
                <a:solidFill>
                  <a:srgbClr val="646464"/>
                </a:solidFill>
                <a:latin typeface="Arial"/>
                <a:cs typeface="Arial"/>
              </a:rPr>
              <a:t>.</a:t>
            </a:r>
            <a:r>
              <a:rPr sz="900" spc="-204" dirty="0">
                <a:solidFill>
                  <a:srgbClr val="646464"/>
                </a:solidFill>
                <a:latin typeface="Times New Roman"/>
                <a:cs typeface="Times New Roman"/>
              </a:rPr>
              <a:t>:</a:t>
            </a:r>
            <a:r>
              <a:rPr sz="1650" spc="-307" baseline="-25252" dirty="0">
                <a:solidFill>
                  <a:srgbClr val="646464"/>
                </a:solidFill>
                <a:latin typeface="Arial"/>
                <a:cs typeface="Arial"/>
              </a:rPr>
              <a:t>.</a:t>
            </a:r>
            <a:r>
              <a:rPr sz="900" spc="-204" dirty="0">
                <a:solidFill>
                  <a:srgbClr val="646464"/>
                </a:solidFill>
                <a:latin typeface="Times New Roman"/>
                <a:cs typeface="Times New Roman"/>
              </a:rPr>
              <a:t>(</a:t>
            </a:r>
            <a:r>
              <a:rPr sz="1650" spc="-307" baseline="-25252" dirty="0">
                <a:solidFill>
                  <a:srgbClr val="646464"/>
                </a:solidFill>
                <a:latin typeface="Arial"/>
                <a:cs typeface="Arial"/>
              </a:rPr>
              <a:t>.</a:t>
            </a:r>
            <a:r>
              <a:rPr sz="900" spc="-204" dirty="0">
                <a:solidFill>
                  <a:srgbClr val="646464"/>
                </a:solidFill>
                <a:latin typeface="Times New Roman"/>
                <a:cs typeface="Times New Roman"/>
              </a:rPr>
              <a:t>)</a:t>
            </a:r>
            <a:r>
              <a:rPr sz="1650" spc="-307" baseline="-25252" dirty="0">
                <a:solidFill>
                  <a:srgbClr val="646464"/>
                </a:solidFill>
                <a:latin typeface="Arial"/>
                <a:cs typeface="Arial"/>
              </a:rPr>
              <a:t>.</a:t>
            </a:r>
            <a:r>
              <a:rPr sz="1650" spc="187" baseline="-25252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79778C"/>
                </a:solidFill>
                <a:latin typeface="Times New Roman"/>
                <a:cs typeface="Times New Roman"/>
              </a:rPr>
              <a:t>150</a:t>
            </a:r>
            <a:r>
              <a:rPr sz="900" spc="50" dirty="0">
                <a:solidFill>
                  <a:srgbClr val="A1A1A1"/>
                </a:solidFill>
                <a:latin typeface="Times New Roman"/>
                <a:cs typeface="Times New Roman"/>
              </a:rPr>
              <a:t>·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66259" y="3649264"/>
            <a:ext cx="1346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spc="-420" dirty="0">
                <a:solidFill>
                  <a:srgbClr val="646464"/>
                </a:solidFill>
                <a:latin typeface="Times New Roman"/>
                <a:cs typeface="Times New Roman"/>
              </a:rPr>
              <a:t>t=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5874" y="3859979"/>
            <a:ext cx="1085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646464"/>
                </a:solidFill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2115" y="3994748"/>
            <a:ext cx="7493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646464"/>
                </a:solidFill>
                <a:latin typeface="Times New Roman"/>
                <a:cs typeface="Times New Roman"/>
              </a:rPr>
              <a:t>:J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9268" y="4106689"/>
            <a:ext cx="4622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97" baseline="-30864" dirty="0">
                <a:solidFill>
                  <a:srgbClr val="646464"/>
                </a:solidFill>
                <a:latin typeface="Times New Roman"/>
                <a:cs typeface="Times New Roman"/>
              </a:rPr>
              <a:t>c:</a:t>
            </a:r>
            <a:r>
              <a:rPr sz="1350" spc="135" baseline="-30864" dirty="0">
                <a:solidFill>
                  <a:srgbClr val="646464"/>
                </a:solidFill>
                <a:latin typeface="Times New Roman"/>
                <a:cs typeface="Times New Roman"/>
              </a:rPr>
              <a:t> </a:t>
            </a:r>
            <a:r>
              <a:rPr sz="850" spc="65" dirty="0">
                <a:solidFill>
                  <a:srgbClr val="646464"/>
                </a:solidFill>
                <a:latin typeface="Times New Roman"/>
                <a:cs typeface="Times New Roman"/>
              </a:rPr>
              <a:t>1</a:t>
            </a:r>
            <a:r>
              <a:rPr sz="850" spc="65" dirty="0">
                <a:solidFill>
                  <a:srgbClr val="878787"/>
                </a:solidFill>
                <a:latin typeface="Times New Roman"/>
                <a:cs typeface="Times New Roman"/>
              </a:rPr>
              <a:t>00</a:t>
            </a:r>
            <a:r>
              <a:rPr sz="850" spc="65" dirty="0">
                <a:solidFill>
                  <a:srgbClr val="A1A1A1"/>
                </a:solidFill>
                <a:latin typeface="Times New Roman"/>
                <a:cs typeface="Times New Roman"/>
              </a:rPr>
              <a:t>·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95840" y="4638962"/>
            <a:ext cx="21526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25" dirty="0">
                <a:solidFill>
                  <a:srgbClr val="79778C"/>
                </a:solidFill>
                <a:latin typeface="Times New Roman"/>
                <a:cs typeface="Times New Roman"/>
              </a:rPr>
              <a:t>so.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91265" y="5257716"/>
            <a:ext cx="1035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25" dirty="0">
                <a:solidFill>
                  <a:srgbClr val="878787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64879" y="5302273"/>
            <a:ext cx="9080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20" dirty="0">
                <a:solidFill>
                  <a:srgbClr val="878787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46955" y="5353196"/>
            <a:ext cx="7556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5" dirty="0">
                <a:solidFill>
                  <a:srgbClr val="79778C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06927" y="5521108"/>
            <a:ext cx="857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79778C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99801" y="5521108"/>
            <a:ext cx="2686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79778C"/>
                </a:solidFill>
                <a:latin typeface="Times New Roman"/>
                <a:cs typeface="Times New Roman"/>
              </a:rPr>
              <a:t>100</a:t>
            </a:r>
            <a:r>
              <a:rPr sz="900" spc="-20" dirty="0">
                <a:solidFill>
                  <a:srgbClr val="646464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91503" y="5521108"/>
            <a:ext cx="12344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9109" algn="l"/>
                <a:tab pos="982344" algn="l"/>
              </a:tabLst>
            </a:pPr>
            <a:r>
              <a:rPr sz="900" spc="-20" dirty="0">
                <a:solidFill>
                  <a:srgbClr val="79778C"/>
                </a:solidFill>
                <a:latin typeface="Times New Roman"/>
                <a:cs typeface="Times New Roman"/>
              </a:rPr>
              <a:t>20</a:t>
            </a:r>
            <a:r>
              <a:rPr sz="900" spc="-20" dirty="0">
                <a:solidFill>
                  <a:srgbClr val="646464"/>
                </a:solidFill>
                <a:latin typeface="Times New Roman"/>
                <a:cs typeface="Times New Roman"/>
              </a:rPr>
              <a:t>0</a:t>
            </a:r>
            <a:r>
              <a:rPr sz="900" spc="-20" dirty="0">
                <a:solidFill>
                  <a:srgbClr val="79778C"/>
                </a:solidFill>
                <a:latin typeface="Times New Roman"/>
                <a:cs typeface="Times New Roman"/>
              </a:rPr>
              <a:t>0</a:t>
            </a:r>
            <a:r>
              <a:rPr sz="900" dirty="0">
                <a:solidFill>
                  <a:srgbClr val="79778C"/>
                </a:solidFill>
                <a:latin typeface="Times New Roman"/>
                <a:cs typeface="Times New Roman"/>
              </a:rPr>
              <a:t>	</a:t>
            </a:r>
            <a:r>
              <a:rPr sz="900" spc="-20" dirty="0">
                <a:solidFill>
                  <a:srgbClr val="79778C"/>
                </a:solidFill>
                <a:latin typeface="Times New Roman"/>
                <a:cs typeface="Times New Roman"/>
              </a:rPr>
              <a:t>3000</a:t>
            </a:r>
            <a:r>
              <a:rPr sz="900" dirty="0">
                <a:solidFill>
                  <a:srgbClr val="79778C"/>
                </a:solidFill>
                <a:latin typeface="Times New Roman"/>
                <a:cs typeface="Times New Roman"/>
              </a:rPr>
              <a:t>	</a:t>
            </a:r>
            <a:r>
              <a:rPr sz="900" spc="-20" dirty="0">
                <a:solidFill>
                  <a:srgbClr val="646464"/>
                </a:solidFill>
                <a:latin typeface="Times New Roman"/>
                <a:cs typeface="Times New Roman"/>
              </a:rPr>
              <a:t>4</a:t>
            </a:r>
            <a:r>
              <a:rPr sz="900" spc="-20" dirty="0">
                <a:solidFill>
                  <a:srgbClr val="79778C"/>
                </a:solidFill>
                <a:latin typeface="Times New Roman"/>
                <a:cs typeface="Times New Roman"/>
              </a:rPr>
              <a:t>000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6712" y="5521108"/>
            <a:ext cx="2768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878787"/>
                </a:solidFill>
                <a:latin typeface="Times New Roman"/>
                <a:cs typeface="Times New Roman"/>
              </a:rPr>
              <a:t>5000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36011" y="5521108"/>
            <a:ext cx="2597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79778C"/>
                </a:solidFill>
                <a:latin typeface="Times New Roman"/>
                <a:cs typeface="Times New Roman"/>
              </a:rPr>
              <a:t>60</a:t>
            </a:r>
            <a:r>
              <a:rPr sz="900" spc="-20" dirty="0">
                <a:solidFill>
                  <a:srgbClr val="646464"/>
                </a:solidFill>
                <a:latin typeface="Times New Roman"/>
                <a:cs typeface="Times New Roman"/>
              </a:rPr>
              <a:t>0</a:t>
            </a:r>
            <a:r>
              <a:rPr sz="900" spc="-20" dirty="0">
                <a:solidFill>
                  <a:srgbClr val="79778C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21310" y="5656976"/>
            <a:ext cx="15195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646464"/>
                </a:solidFill>
                <a:latin typeface="Arial"/>
                <a:cs typeface="Arial"/>
              </a:rPr>
              <a:t>Entang</a:t>
            </a:r>
            <a:r>
              <a:rPr sz="950" dirty="0">
                <a:solidFill>
                  <a:srgbClr val="79778C"/>
                </a:solidFill>
                <a:latin typeface="Arial"/>
                <a:cs typeface="Arial"/>
              </a:rPr>
              <a:t>l</a:t>
            </a:r>
            <a:r>
              <a:rPr sz="950" dirty="0">
                <a:solidFill>
                  <a:srgbClr val="646464"/>
                </a:solidFill>
                <a:latin typeface="Arial"/>
                <a:cs typeface="Arial"/>
              </a:rPr>
              <a:t>ement</a:t>
            </a:r>
            <a:r>
              <a:rPr sz="950" spc="375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46464"/>
                </a:solidFill>
                <a:latin typeface="Arial"/>
                <a:cs typeface="Arial"/>
              </a:rPr>
              <a:t>P</a:t>
            </a:r>
            <a:r>
              <a:rPr sz="950" spc="-10" dirty="0">
                <a:solidFill>
                  <a:srgbClr val="79778C"/>
                </a:solidFill>
                <a:latin typeface="Arial"/>
                <a:cs typeface="Arial"/>
              </a:rPr>
              <a:t>ro</a:t>
            </a:r>
            <a:r>
              <a:rPr sz="950" spc="-10" dirty="0">
                <a:solidFill>
                  <a:srgbClr val="646464"/>
                </a:solidFill>
                <a:latin typeface="Arial"/>
                <a:cs typeface="Arial"/>
              </a:rPr>
              <a:t>gr</a:t>
            </a:r>
            <a:r>
              <a:rPr sz="950" spc="-10" dirty="0">
                <a:solidFill>
                  <a:srgbClr val="79778C"/>
                </a:solidFill>
                <a:latin typeface="Arial"/>
                <a:cs typeface="Arial"/>
              </a:rPr>
              <a:t>essi</a:t>
            </a:r>
            <a:r>
              <a:rPr sz="950" spc="-10" dirty="0">
                <a:solidFill>
                  <a:srgbClr val="646464"/>
                </a:solidFill>
                <a:latin typeface="Arial"/>
                <a:cs typeface="Arial"/>
              </a:rPr>
              <a:t>on</a:t>
            </a:r>
            <a:endParaRPr sz="9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59149" y="2157584"/>
            <a:ext cx="1261745" cy="277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marR="30480" indent="-208279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5D99C1"/>
                </a:solidFill>
                <a:latin typeface="Times New Roman"/>
                <a:cs typeface="Times New Roman"/>
              </a:rPr>
              <a:t>e</a:t>
            </a:r>
            <a:r>
              <a:rPr sz="1500" b="1" spc="120" dirty="0">
                <a:solidFill>
                  <a:srgbClr val="5D99C1"/>
                </a:solidFill>
                <a:latin typeface="Times New Roman"/>
                <a:cs typeface="Times New Roman"/>
              </a:rPr>
              <a:t>  </a:t>
            </a: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Amphtude_Estlmatlon</a:t>
            </a:r>
            <a:r>
              <a:rPr sz="700" spc="50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CUtBell</a:t>
            </a:r>
            <a:endParaRPr sz="700">
              <a:latin typeface="Arial"/>
              <a:cs typeface="Arial"/>
            </a:endParaRPr>
          </a:p>
          <a:p>
            <a:pPr marL="318770">
              <a:lnSpc>
                <a:spcPts val="520"/>
              </a:lnSpc>
              <a:spcBef>
                <a:spcPts val="155"/>
              </a:spcBef>
            </a:pPr>
            <a:r>
              <a:rPr sz="700" spc="100" dirty="0">
                <a:solidFill>
                  <a:srgbClr val="878787"/>
                </a:solidFill>
                <a:latin typeface="Arial"/>
                <a:cs typeface="Arial"/>
              </a:rPr>
              <a:t>utschjozsa</a:t>
            </a:r>
            <a:endParaRPr sz="700">
              <a:latin typeface="Arial"/>
              <a:cs typeface="Arial"/>
            </a:endParaRPr>
          </a:p>
          <a:p>
            <a:pPr marL="72390">
              <a:lnSpc>
                <a:spcPts val="1475"/>
              </a:lnSpc>
            </a:pPr>
            <a:r>
              <a:rPr sz="2250" b="1" baseline="-37037" dirty="0">
                <a:solidFill>
                  <a:srgbClr val="67B567"/>
                </a:solidFill>
                <a:latin typeface="Times New Roman"/>
                <a:cs typeface="Times New Roman"/>
              </a:rPr>
              <a:t>e</a:t>
            </a:r>
            <a:r>
              <a:rPr sz="2250" b="1" spc="97" baseline="-37037" dirty="0">
                <a:solidFill>
                  <a:srgbClr val="67B567"/>
                </a:solidFill>
                <a:latin typeface="Times New Roman"/>
                <a:cs typeface="Times New Roman"/>
              </a:rPr>
              <a:t>  </a:t>
            </a:r>
            <a:r>
              <a:rPr sz="900" spc="-25" dirty="0">
                <a:solidFill>
                  <a:srgbClr val="878787"/>
                </a:solidFill>
                <a:latin typeface="Courier New"/>
                <a:cs typeface="Courier New"/>
              </a:rPr>
              <a:t>GHZ</a:t>
            </a:r>
            <a:endParaRPr sz="900">
              <a:latin typeface="Courier New"/>
              <a:cs typeface="Courier New"/>
            </a:endParaRPr>
          </a:p>
          <a:p>
            <a:pPr marL="272415">
              <a:lnSpc>
                <a:spcPts val="840"/>
              </a:lnSpc>
            </a:pP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GraphState</a:t>
            </a:r>
            <a:endParaRPr sz="700">
              <a:latin typeface="Arial"/>
              <a:cs typeface="Arial"/>
            </a:endParaRPr>
          </a:p>
          <a:p>
            <a:pPr marL="272415">
              <a:lnSpc>
                <a:spcPts val="495"/>
              </a:lnSpc>
              <a:spcBef>
                <a:spcPts val="155"/>
              </a:spcBef>
            </a:pP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Ground_State</a:t>
            </a:r>
            <a:endParaRPr sz="700">
              <a:latin typeface="Arial"/>
              <a:cs typeface="Arial"/>
            </a:endParaRPr>
          </a:p>
          <a:p>
            <a:pPr marL="72390">
              <a:lnSpc>
                <a:spcPts val="1505"/>
              </a:lnSpc>
            </a:pPr>
            <a:r>
              <a:rPr sz="1550" b="1" dirty="0">
                <a:solidFill>
                  <a:srgbClr val="DB6467"/>
                </a:solidFill>
                <a:latin typeface="Times New Roman"/>
                <a:cs typeface="Times New Roman"/>
              </a:rPr>
              <a:t>e</a:t>
            </a:r>
            <a:r>
              <a:rPr sz="1550" b="1" spc="484" dirty="0">
                <a:solidFill>
                  <a:srgbClr val="DB6467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Grover_NoAncllla</a:t>
            </a:r>
            <a:endParaRPr sz="700">
              <a:latin typeface="Arial"/>
              <a:cs typeface="Arial"/>
            </a:endParaRPr>
          </a:p>
          <a:p>
            <a:pPr marL="272415">
              <a:lnSpc>
                <a:spcPts val="560"/>
              </a:lnSpc>
            </a:pP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Grover_</a:t>
            </a:r>
            <a:r>
              <a:rPr sz="700" spc="-10" dirty="0">
                <a:solidFill>
                  <a:srgbClr val="79778C"/>
                </a:solidFill>
                <a:latin typeface="Arial"/>
                <a:cs typeface="Arial"/>
              </a:rPr>
              <a:t>V</a:t>
            </a: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_Cha</a:t>
            </a:r>
            <a:r>
              <a:rPr sz="700" spc="-10" dirty="0">
                <a:solidFill>
                  <a:srgbClr val="525252"/>
                </a:solidFill>
                <a:latin typeface="Arial"/>
                <a:cs typeface="Arial"/>
              </a:rPr>
              <a:t>in</a:t>
            </a:r>
            <a:endParaRPr sz="700">
              <a:latin typeface="Arial"/>
              <a:cs typeface="Arial"/>
            </a:endParaRPr>
          </a:p>
          <a:p>
            <a:pPr marL="73025">
              <a:lnSpc>
                <a:spcPts val="1395"/>
              </a:lnSpc>
              <a:tabLst>
                <a:tab pos="283210" algn="l"/>
              </a:tabLst>
            </a:pPr>
            <a:r>
              <a:rPr sz="1400" b="1" spc="-50" dirty="0">
                <a:solidFill>
                  <a:srgbClr val="AF91CC"/>
                </a:solidFill>
                <a:latin typeface="Times New Roman"/>
                <a:cs typeface="Times New Roman"/>
              </a:rPr>
              <a:t>e</a:t>
            </a:r>
            <a:r>
              <a:rPr sz="1400" b="1" dirty="0">
                <a:solidFill>
                  <a:srgbClr val="AF91CC"/>
                </a:solidFill>
                <a:latin typeface="Times New Roman"/>
                <a:cs typeface="Times New Roman"/>
              </a:rPr>
              <a:t>	</a:t>
            </a:r>
            <a:r>
              <a:rPr sz="800" spc="-10" dirty="0">
                <a:solidFill>
                  <a:srgbClr val="79778C"/>
                </a:solidFill>
                <a:latin typeface="Times New Roman"/>
                <a:cs typeface="Times New Roman"/>
              </a:rPr>
              <a:t>Portrono</a:t>
            </a:r>
            <a:r>
              <a:rPr sz="800" spc="-10" dirty="0">
                <a:solidFill>
                  <a:srgbClr val="A1A1A1"/>
                </a:solidFill>
                <a:latin typeface="Times New Roman"/>
                <a:cs typeface="Times New Roman"/>
              </a:rPr>
              <a:t>_</a:t>
            </a: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OAOA</a:t>
            </a:r>
            <a:endParaRPr sz="700">
              <a:latin typeface="Arial"/>
              <a:cs typeface="Arial"/>
            </a:endParaRPr>
          </a:p>
          <a:p>
            <a:pPr marL="283210">
              <a:lnSpc>
                <a:spcPts val="615"/>
              </a:lnSpc>
            </a:pPr>
            <a:r>
              <a:rPr sz="800" spc="-10" dirty="0">
                <a:solidFill>
                  <a:srgbClr val="878787"/>
                </a:solidFill>
                <a:latin typeface="Times New Roman"/>
                <a:cs typeface="Times New Roman"/>
              </a:rPr>
              <a:t>Portfolio_</a:t>
            </a:r>
            <a:r>
              <a:rPr sz="750" spc="-10" dirty="0">
                <a:solidFill>
                  <a:srgbClr val="79778C"/>
                </a:solidFill>
                <a:latin typeface="Arial"/>
                <a:cs typeface="Arial"/>
              </a:rPr>
              <a:t>VOE</a:t>
            </a:r>
            <a:endParaRPr sz="750">
              <a:latin typeface="Arial"/>
              <a:cs typeface="Arial"/>
            </a:endParaRPr>
          </a:p>
          <a:p>
            <a:pPr marL="72390">
              <a:lnSpc>
                <a:spcPts val="1455"/>
              </a:lnSpc>
              <a:tabLst>
                <a:tab pos="283210" algn="l"/>
              </a:tabLst>
            </a:pPr>
            <a:r>
              <a:rPr sz="1500" b="1" spc="-50" dirty="0">
                <a:solidFill>
                  <a:srgbClr val="A8837C"/>
                </a:solidFill>
                <a:latin typeface="Times New Roman"/>
                <a:cs typeface="Times New Roman"/>
              </a:rPr>
              <a:t>e</a:t>
            </a:r>
            <a:r>
              <a:rPr sz="1500" b="1" dirty="0">
                <a:solidFill>
                  <a:srgbClr val="A8837C"/>
                </a:solidFill>
                <a:latin typeface="Times New Roman"/>
                <a:cs typeface="Times New Roman"/>
              </a:rPr>
              <a:t>	</a:t>
            </a:r>
            <a:r>
              <a:rPr sz="800" spc="-10" dirty="0">
                <a:solidFill>
                  <a:srgbClr val="79778C"/>
                </a:solidFill>
                <a:latin typeface="Times New Roman"/>
                <a:cs typeface="Times New Roman"/>
              </a:rPr>
              <a:t>Pr</a:t>
            </a:r>
            <a:r>
              <a:rPr sz="800" spc="-10" dirty="0">
                <a:solidFill>
                  <a:srgbClr val="A1A1A1"/>
                </a:solidFill>
                <a:latin typeface="Times New Roman"/>
                <a:cs typeface="Times New Roman"/>
              </a:rPr>
              <a:t>ici</a:t>
            </a:r>
            <a:r>
              <a:rPr sz="800" spc="-10" dirty="0">
                <a:solidFill>
                  <a:srgbClr val="878787"/>
                </a:solidFill>
                <a:latin typeface="Times New Roman"/>
                <a:cs typeface="Times New Roman"/>
              </a:rPr>
              <a:t>ng_</a:t>
            </a: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Call</a:t>
            </a:r>
            <a:endParaRPr sz="700">
              <a:latin typeface="Arial"/>
              <a:cs typeface="Arial"/>
            </a:endParaRPr>
          </a:p>
          <a:p>
            <a:pPr marL="273050">
              <a:lnSpc>
                <a:spcPts val="985"/>
              </a:lnSpc>
            </a:pPr>
            <a:r>
              <a:rPr sz="850" spc="-20" dirty="0">
                <a:solidFill>
                  <a:srgbClr val="878787"/>
                </a:solidFill>
                <a:latin typeface="Times New Roman"/>
                <a:cs typeface="Times New Roman"/>
              </a:rPr>
              <a:t>OAOA</a:t>
            </a:r>
            <a:endParaRPr sz="850">
              <a:latin typeface="Times New Roman"/>
              <a:cs typeface="Times New Roman"/>
            </a:endParaRPr>
          </a:p>
          <a:p>
            <a:pPr marL="273685">
              <a:lnSpc>
                <a:spcPts val="930"/>
              </a:lnSpc>
            </a:pPr>
            <a:r>
              <a:rPr sz="800" spc="-25" dirty="0">
                <a:solidFill>
                  <a:srgbClr val="878787"/>
                </a:solidFill>
                <a:latin typeface="Times New Roman"/>
                <a:cs typeface="Times New Roman"/>
              </a:rPr>
              <a:t>OFT</a:t>
            </a:r>
            <a:endParaRPr sz="800">
              <a:latin typeface="Times New Roman"/>
              <a:cs typeface="Times New Roman"/>
            </a:endParaRPr>
          </a:p>
          <a:p>
            <a:pPr marL="273685">
              <a:lnSpc>
                <a:spcPts val="944"/>
              </a:lnSpc>
            </a:pPr>
            <a:r>
              <a:rPr sz="800" spc="-10" dirty="0">
                <a:solidFill>
                  <a:srgbClr val="878787"/>
                </a:solidFill>
                <a:latin typeface="Times New Roman"/>
                <a:cs typeface="Times New Roman"/>
              </a:rPr>
              <a:t>OFT_Entangled</a:t>
            </a:r>
            <a:endParaRPr sz="800">
              <a:latin typeface="Times New Roman"/>
              <a:cs typeface="Times New Roman"/>
            </a:endParaRPr>
          </a:p>
          <a:p>
            <a:pPr marL="278765" marR="517525" indent="-204470">
              <a:lnSpc>
                <a:spcPct val="97400"/>
              </a:lnSpc>
              <a:spcBef>
                <a:spcPts val="120"/>
              </a:spcBef>
              <a:buClr>
                <a:srgbClr val="A1A1A1"/>
              </a:buClr>
              <a:buChar char="•"/>
              <a:tabLst>
                <a:tab pos="281305" algn="l"/>
                <a:tab pos="281940" algn="l"/>
              </a:tabLst>
            </a:pPr>
            <a:r>
              <a:rPr sz="800" spc="-25" dirty="0">
                <a:solidFill>
                  <a:srgbClr val="878787"/>
                </a:solidFill>
                <a:latin typeface="Times New Roman"/>
                <a:cs typeface="Times New Roman"/>
              </a:rPr>
              <a:t>ONN</a:t>
            </a:r>
            <a:r>
              <a:rPr sz="800" spc="50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850" spc="-50" dirty="0">
                <a:solidFill>
                  <a:srgbClr val="878787"/>
                </a:solidFill>
                <a:latin typeface="Times New Roman"/>
                <a:cs typeface="Times New Roman"/>
              </a:rPr>
              <a:t>OPE_Exact</a:t>
            </a:r>
            <a:r>
              <a:rPr sz="850" spc="500" dirty="0">
                <a:solidFill>
                  <a:srgbClr val="878787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878787"/>
                </a:solidFill>
                <a:latin typeface="Times New Roman"/>
                <a:cs typeface="Times New Roman"/>
              </a:rPr>
              <a:t>Shor</a:t>
            </a:r>
            <a:endParaRPr sz="80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  <a:spcBef>
                <a:spcPts val="135"/>
              </a:spcBef>
            </a:pP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Twol.OcalRandom</a:t>
            </a:r>
            <a:endParaRPr sz="700">
              <a:latin typeface="Arial"/>
              <a:cs typeface="Arial"/>
            </a:endParaRPr>
          </a:p>
          <a:p>
            <a:pPr marL="283845" indent="-210185">
              <a:lnSpc>
                <a:spcPct val="100000"/>
              </a:lnSpc>
              <a:spcBef>
                <a:spcPts val="70"/>
              </a:spcBef>
              <a:buClr>
                <a:srgbClr val="5DCDDA"/>
              </a:buClr>
              <a:buChar char="•"/>
              <a:tabLst>
                <a:tab pos="283845" algn="l"/>
                <a:tab pos="284480" algn="l"/>
              </a:tabLst>
            </a:pPr>
            <a:r>
              <a:rPr sz="850" spc="-25" dirty="0">
                <a:solidFill>
                  <a:srgbClr val="878787"/>
                </a:solidFill>
                <a:latin typeface="Times New Roman"/>
                <a:cs typeface="Times New Roman"/>
              </a:rPr>
              <a:t>VOE</a:t>
            </a:r>
            <a:endParaRPr sz="850">
              <a:latin typeface="Times New Roman"/>
              <a:cs typeface="Times New Roman"/>
            </a:endParaRPr>
          </a:p>
          <a:p>
            <a:pPr marL="284480">
              <a:lnSpc>
                <a:spcPct val="100000"/>
              </a:lnSpc>
              <a:spcBef>
                <a:spcPts val="65"/>
              </a:spcBef>
            </a:pPr>
            <a:r>
              <a:rPr sz="700" spc="-10" dirty="0">
                <a:solidFill>
                  <a:srgbClr val="79778C"/>
                </a:solidFill>
                <a:latin typeface="Arial"/>
                <a:cs typeface="Arial"/>
              </a:rPr>
              <a:t>w</a:t>
            </a:r>
            <a:r>
              <a:rPr sz="700" spc="-10" dirty="0">
                <a:solidFill>
                  <a:srgbClr val="A1A1A1"/>
                </a:solidFill>
                <a:latin typeface="Arial"/>
                <a:cs typeface="Arial"/>
              </a:rPr>
              <a:t>_</a:t>
            </a:r>
            <a:r>
              <a:rPr sz="700" spc="-10" dirty="0">
                <a:solidFill>
                  <a:srgbClr val="878787"/>
                </a:solidFill>
                <a:latin typeface="Arial"/>
                <a:cs typeface="Arial"/>
              </a:rPr>
              <a:t>state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5"/>
              </a:spcBef>
            </a:pPr>
            <a:r>
              <a:rPr sz="700" dirty="0">
                <a:solidFill>
                  <a:srgbClr val="646464"/>
                </a:solidFill>
                <a:latin typeface="Arial"/>
                <a:cs typeface="Arial"/>
              </a:rPr>
              <a:t>-</a:t>
            </a:r>
            <a:r>
              <a:rPr sz="700" spc="365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25252"/>
                </a:solidFill>
                <a:latin typeface="Arial"/>
                <a:cs typeface="Arial"/>
              </a:rPr>
              <a:t>-</a:t>
            </a:r>
            <a:r>
              <a:rPr sz="700" spc="229" dirty="0">
                <a:solidFill>
                  <a:srgbClr val="525252"/>
                </a:solidFill>
                <a:latin typeface="Arial"/>
                <a:cs typeface="Arial"/>
              </a:rPr>
              <a:t>  </a:t>
            </a:r>
            <a:r>
              <a:rPr sz="700" spc="60" dirty="0">
                <a:solidFill>
                  <a:srgbClr val="878787"/>
                </a:solidFill>
                <a:latin typeface="Arial"/>
                <a:cs typeface="Arial"/>
              </a:rPr>
              <a:t>ll'end</a:t>
            </a:r>
            <a:r>
              <a:rPr sz="700" spc="-9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79778C"/>
                </a:solidFill>
                <a:latin typeface="Arial"/>
                <a:cs typeface="Arial"/>
              </a:rPr>
              <a:t>(COIT•O.9</a:t>
            </a:r>
            <a:r>
              <a:rPr sz="700" spc="-10" dirty="0">
                <a:solidFill>
                  <a:srgbClr val="646464"/>
                </a:solidFill>
                <a:latin typeface="Arial"/>
                <a:cs typeface="Arial"/>
              </a:rPr>
              <a:t>6</a:t>
            </a:r>
            <a:r>
              <a:rPr sz="700" spc="-10" dirty="0">
                <a:solidFill>
                  <a:srgbClr val="79778C"/>
                </a:solidFill>
                <a:latin typeface="Arial"/>
                <a:cs typeface="Arial"/>
              </a:rPr>
              <a:t>3)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0038"/>
            <a:ext cx="10058400" cy="5673725"/>
            <a:chOff x="0" y="1010038"/>
            <a:chExt cx="10058400" cy="5673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10038"/>
              <a:ext cx="10058400" cy="56734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5586" y="3269948"/>
              <a:ext cx="3042813" cy="18806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4514" y="4107536"/>
              <a:ext cx="189184" cy="4741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9899" y="3269947"/>
              <a:ext cx="6495415" cy="2149475"/>
            </a:xfrm>
            <a:custGeom>
              <a:avLst/>
              <a:gdLst/>
              <a:ahLst/>
              <a:cxnLst/>
              <a:rect l="l" t="t" r="r" b="b"/>
              <a:pathLst>
                <a:path w="6495415" h="2149475">
                  <a:moveTo>
                    <a:pt x="0" y="15803"/>
                  </a:moveTo>
                  <a:lnTo>
                    <a:pt x="2979653" y="15803"/>
                  </a:lnTo>
                </a:path>
                <a:path w="6495415" h="2149475">
                  <a:moveTo>
                    <a:pt x="0" y="2149284"/>
                  </a:moveTo>
                  <a:lnTo>
                    <a:pt x="0" y="0"/>
                  </a:lnTo>
                </a:path>
                <a:path w="6495415" h="2149475">
                  <a:moveTo>
                    <a:pt x="0" y="2117677"/>
                  </a:moveTo>
                  <a:lnTo>
                    <a:pt x="2979653" y="2117677"/>
                  </a:lnTo>
                </a:path>
                <a:path w="6495415" h="2149475">
                  <a:moveTo>
                    <a:pt x="2956005" y="2133480"/>
                  </a:moveTo>
                  <a:lnTo>
                    <a:pt x="2956005" y="0"/>
                  </a:lnTo>
                </a:path>
                <a:path w="6495415" h="2149475">
                  <a:moveTo>
                    <a:pt x="3247664" y="15803"/>
                  </a:moveTo>
                  <a:lnTo>
                    <a:pt x="6227317" y="15803"/>
                  </a:lnTo>
                </a:path>
                <a:path w="6495415" h="2149475">
                  <a:moveTo>
                    <a:pt x="3247664" y="2133480"/>
                  </a:moveTo>
                  <a:lnTo>
                    <a:pt x="3247664" y="0"/>
                  </a:lnTo>
                </a:path>
                <a:path w="6495415" h="2149475">
                  <a:moveTo>
                    <a:pt x="3247664" y="2117677"/>
                  </a:moveTo>
                  <a:lnTo>
                    <a:pt x="6227317" y="2117677"/>
                  </a:lnTo>
                </a:path>
                <a:path w="6495415" h="2149475">
                  <a:moveTo>
                    <a:pt x="6203668" y="2149284"/>
                  </a:moveTo>
                  <a:lnTo>
                    <a:pt x="6203668" y="0"/>
                  </a:lnTo>
                </a:path>
                <a:path w="6495415" h="2149475">
                  <a:moveTo>
                    <a:pt x="6495327" y="2149284"/>
                  </a:moveTo>
                  <a:lnTo>
                    <a:pt x="6495327" y="0"/>
                  </a:lnTo>
                </a:path>
              </a:pathLst>
            </a:custGeom>
            <a:ln w="7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31584" y="1865437"/>
            <a:ext cx="433006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-990" dirty="0">
                <a:solidFill>
                  <a:srgbClr val="6B6295"/>
                </a:solidFill>
                <a:latin typeface="Arial"/>
                <a:cs typeface="Arial"/>
              </a:rPr>
              <a:t>EXAMPLE</a:t>
            </a:r>
            <a:r>
              <a:rPr sz="4850" spc="-50" dirty="0">
                <a:solidFill>
                  <a:srgbClr val="6B6295"/>
                </a:solidFill>
                <a:latin typeface="Arial"/>
                <a:cs typeface="Arial"/>
              </a:rPr>
              <a:t> </a:t>
            </a:r>
            <a:r>
              <a:rPr sz="4850" spc="-825" dirty="0">
                <a:solidFill>
                  <a:srgbClr val="6B6295"/>
                </a:solidFill>
                <a:latin typeface="Arial"/>
                <a:cs typeface="Arial"/>
              </a:rPr>
              <a:t>METRICS</a:t>
            </a:r>
            <a:endParaRPr sz="4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273" y="3270857"/>
            <a:ext cx="5905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90" dirty="0">
                <a:solidFill>
                  <a:srgbClr val="696969"/>
                </a:solidFill>
                <a:latin typeface="Times New Roman"/>
                <a:cs typeface="Times New Roman"/>
              </a:rPr>
              <a:t>8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057" y="3814543"/>
            <a:ext cx="5651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85" dirty="0">
                <a:solidFill>
                  <a:srgbClr val="696969"/>
                </a:solidFill>
                <a:latin typeface="Times New Roman"/>
                <a:cs typeface="Times New Roman"/>
              </a:rPr>
              <a:t>6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4962" y="4528117"/>
            <a:ext cx="7556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35" dirty="0">
                <a:solidFill>
                  <a:srgbClr val="5D93B8"/>
                </a:solidFill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64576" y="3519763"/>
            <a:ext cx="793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4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9722" y="3248907"/>
            <a:ext cx="17589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00" spc="-785" dirty="0">
                <a:solidFill>
                  <a:srgbClr val="77A5C6"/>
                </a:solidFill>
                <a:latin typeface="Times New Roman"/>
                <a:cs typeface="Times New Roman"/>
              </a:rPr>
              <a:t>•</a:t>
            </a:r>
            <a:r>
              <a:rPr sz="2400" spc="-7" baseline="-12152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2400" baseline="-12152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2494" y="3440745"/>
            <a:ext cx="146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862" baseline="-20833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r>
              <a:rPr sz="1400" spc="-15" dirty="0">
                <a:solidFill>
                  <a:srgbClr val="8EB3CD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0011" y="3646191"/>
            <a:ext cx="1035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740" y="4874917"/>
            <a:ext cx="7429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30" dirty="0">
                <a:solidFill>
                  <a:srgbClr val="696969"/>
                </a:solidFill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26641" y="3935046"/>
            <a:ext cx="8610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75" dirty="0">
                <a:solidFill>
                  <a:srgbClr val="B57E82"/>
                </a:solidFill>
                <a:latin typeface="Times New Roman"/>
                <a:cs typeface="Times New Roman"/>
              </a:rPr>
              <a:t>.............</a:t>
            </a:r>
            <a:r>
              <a:rPr sz="2000" spc="-75" dirty="0">
                <a:solidFill>
                  <a:srgbClr val="B57E82"/>
                </a:solidFill>
                <a:latin typeface="Times New Roman"/>
                <a:cs typeface="Times New Roman"/>
              </a:rPr>
              <a:t>-</a:t>
            </a:r>
            <a:r>
              <a:rPr sz="2000" spc="-130" dirty="0">
                <a:solidFill>
                  <a:srgbClr val="B57E82"/>
                </a:solidFill>
                <a:latin typeface="Times New Roman"/>
                <a:cs typeface="Times New Roman"/>
              </a:rPr>
              <a:t> </a:t>
            </a:r>
            <a:r>
              <a:rPr sz="2000" spc="-315" dirty="0">
                <a:solidFill>
                  <a:srgbClr val="B57E82"/>
                </a:solidFill>
                <a:latin typeface="Times New Roman"/>
                <a:cs typeface="Times New Roman"/>
              </a:rPr>
              <a:t>---</a:t>
            </a:r>
            <a:r>
              <a:rPr sz="2000" spc="-345" dirty="0">
                <a:solidFill>
                  <a:srgbClr val="B57E82"/>
                </a:solidFill>
                <a:latin typeface="Times New Roman"/>
                <a:cs typeface="Times New Roman"/>
              </a:rPr>
              <a:t>···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6733" y="3952605"/>
            <a:ext cx="400685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484" dirty="0">
                <a:solidFill>
                  <a:srgbClr val="8EB3CD"/>
                </a:solidFill>
                <a:latin typeface="Arial"/>
                <a:cs typeface="Arial"/>
              </a:rPr>
              <a:t>,</a:t>
            </a:r>
            <a:r>
              <a:rPr sz="3600" spc="-665" dirty="0">
                <a:solidFill>
                  <a:srgbClr val="8EB3CD"/>
                </a:solidFill>
                <a:latin typeface="Arial"/>
                <a:cs typeface="Arial"/>
              </a:rPr>
              <a:t> </a:t>
            </a:r>
            <a:r>
              <a:rPr sz="2450" spc="-155" dirty="0">
                <a:solidFill>
                  <a:srgbClr val="939099"/>
                </a:solidFill>
                <a:latin typeface="Times New Roman"/>
                <a:cs typeface="Times New Roman"/>
              </a:rPr>
              <a:t>..</a:t>
            </a:r>
            <a:r>
              <a:rPr sz="2450" spc="-285" dirty="0">
                <a:solidFill>
                  <a:srgbClr val="B57E82"/>
                </a:solidFill>
                <a:latin typeface="Times New Roman"/>
                <a:cs typeface="Times New Roman"/>
              </a:rPr>
              <a:t>.</a:t>
            </a:r>
            <a:r>
              <a:rPr sz="1750" spc="-155" dirty="0">
                <a:solidFill>
                  <a:srgbClr val="B57E82"/>
                </a:solidFill>
                <a:latin typeface="Arial"/>
                <a:cs typeface="Arial"/>
              </a:rPr>
              <a:t>·</a:t>
            </a:r>
            <a:r>
              <a:rPr sz="1750" spc="-1240" dirty="0">
                <a:solidFill>
                  <a:srgbClr val="B57E82"/>
                </a:solidFill>
                <a:latin typeface="Arial"/>
                <a:cs typeface="Arial"/>
              </a:rPr>
              <a:t>·</a:t>
            </a:r>
            <a:r>
              <a:rPr sz="2450" spc="-155" dirty="0">
                <a:solidFill>
                  <a:srgbClr val="B57E82"/>
                </a:solidFill>
                <a:latin typeface="Times New Roman"/>
                <a:cs typeface="Times New Roman"/>
              </a:rPr>
              <a:t>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22973" y="4034257"/>
            <a:ext cx="635635" cy="667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35" dirty="0">
                <a:solidFill>
                  <a:srgbClr val="B57E82"/>
                </a:solidFill>
                <a:latin typeface="Arial"/>
                <a:cs typeface="Arial"/>
              </a:rPr>
              <a:t>..</a:t>
            </a:r>
            <a:r>
              <a:rPr sz="2000" spc="-705" dirty="0">
                <a:solidFill>
                  <a:srgbClr val="BA9095"/>
                </a:solidFill>
                <a:latin typeface="Arial"/>
                <a:cs typeface="Arial"/>
              </a:rPr>
              <a:t>·</a:t>
            </a:r>
            <a:r>
              <a:rPr sz="1450" spc="-25" dirty="0">
                <a:solidFill>
                  <a:srgbClr val="B57E82"/>
                </a:solidFill>
                <a:latin typeface="Arial"/>
                <a:cs typeface="Arial"/>
              </a:rPr>
              <a:t>.</a:t>
            </a:r>
            <a:r>
              <a:rPr sz="1450" spc="-235" dirty="0">
                <a:solidFill>
                  <a:srgbClr val="B57E82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BA9095"/>
                </a:solidFill>
                <a:latin typeface="Arial"/>
                <a:cs typeface="Arial"/>
              </a:rPr>
              <a:t>·</a:t>
            </a:r>
            <a:r>
              <a:rPr sz="2000" spc="-114" dirty="0">
                <a:solidFill>
                  <a:srgbClr val="8CA3B8"/>
                </a:solidFill>
                <a:latin typeface="Arial"/>
                <a:cs typeface="Arial"/>
              </a:rPr>
              <a:t>""'</a:t>
            </a:r>
            <a:r>
              <a:rPr sz="2000" spc="25" dirty="0">
                <a:solidFill>
                  <a:srgbClr val="8CA3B8"/>
                </a:solidFill>
                <a:latin typeface="Arial"/>
                <a:cs typeface="Arial"/>
              </a:rPr>
              <a:t> </a:t>
            </a:r>
            <a:r>
              <a:rPr sz="4200" spc="-75" dirty="0">
                <a:solidFill>
                  <a:srgbClr val="77A5C6"/>
                </a:solidFill>
                <a:latin typeface="Times New Roman"/>
                <a:cs typeface="Times New Roman"/>
              </a:rPr>
              <a:t>.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7587" y="4492121"/>
            <a:ext cx="8051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1365" algn="l"/>
              </a:tabLst>
            </a:pPr>
            <a:r>
              <a:rPr sz="1100" spc="75" dirty="0">
                <a:solidFill>
                  <a:srgbClr val="7593AF"/>
                </a:solidFill>
                <a:latin typeface="Arial"/>
                <a:cs typeface="Arial"/>
              </a:rPr>
              <a:t>!!</a:t>
            </a:r>
            <a:r>
              <a:rPr sz="1100" spc="75" dirty="0">
                <a:solidFill>
                  <a:srgbClr val="B57E82"/>
                </a:solidFill>
                <a:latin typeface="Arial"/>
                <a:cs typeface="Arial"/>
              </a:rPr>
              <a:t>·....</a:t>
            </a:r>
            <a:r>
              <a:rPr sz="1100" spc="75" dirty="0">
                <a:solidFill>
                  <a:srgbClr val="77A5C6"/>
                </a:solidFill>
                <a:latin typeface="Arial"/>
                <a:cs typeface="Arial"/>
              </a:rPr>
              <a:t>.</a:t>
            </a:r>
            <a:r>
              <a:rPr sz="1100" spc="195" dirty="0">
                <a:solidFill>
                  <a:srgbClr val="77A5C6"/>
                </a:solidFill>
                <a:latin typeface="Arial"/>
                <a:cs typeface="Arial"/>
              </a:rPr>
              <a:t> </a:t>
            </a:r>
            <a:r>
              <a:rPr sz="1100" spc="125" dirty="0">
                <a:solidFill>
                  <a:srgbClr val="8EB3CD"/>
                </a:solidFill>
                <a:latin typeface="Arial"/>
                <a:cs typeface="Arial"/>
              </a:rPr>
              <a:t>,.</a:t>
            </a:r>
            <a:r>
              <a:rPr sz="1100" dirty="0">
                <a:solidFill>
                  <a:srgbClr val="8EB3CD"/>
                </a:solidFill>
                <a:latin typeface="Arial"/>
                <a:cs typeface="Arial"/>
              </a:rPr>
              <a:t>	</a:t>
            </a:r>
            <a:r>
              <a:rPr sz="1000" spc="-50" dirty="0">
                <a:solidFill>
                  <a:srgbClr val="3F80AE"/>
                </a:solidFill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2663" y="4276359"/>
            <a:ext cx="1554480" cy="614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1945" algn="l"/>
                <a:tab pos="1475740" algn="l"/>
              </a:tabLst>
            </a:pPr>
            <a:r>
              <a:rPr sz="1850" spc="-50" dirty="0">
                <a:solidFill>
                  <a:srgbClr val="77A5C6"/>
                </a:solidFill>
                <a:latin typeface="Arial"/>
                <a:cs typeface="Arial"/>
              </a:rPr>
              <a:t>:</a:t>
            </a:r>
            <a:r>
              <a:rPr sz="1850" dirty="0">
                <a:solidFill>
                  <a:srgbClr val="77A5C6"/>
                </a:solidFill>
                <a:latin typeface="Arial"/>
                <a:cs typeface="Arial"/>
              </a:rPr>
              <a:t>	</a:t>
            </a:r>
            <a:r>
              <a:rPr sz="3000" spc="-340" dirty="0">
                <a:solidFill>
                  <a:srgbClr val="B57E82"/>
                </a:solidFill>
                <a:latin typeface="Times New Roman"/>
                <a:cs typeface="Times New Roman"/>
              </a:rPr>
              <a:t>..........</a:t>
            </a:r>
            <a:r>
              <a:rPr sz="3000" spc="-340" dirty="0">
                <a:solidFill>
                  <a:srgbClr val="8EB3CD"/>
                </a:solidFill>
                <a:latin typeface="Times New Roman"/>
                <a:cs typeface="Times New Roman"/>
              </a:rPr>
              <a:t>.</a:t>
            </a:r>
            <a:r>
              <a:rPr sz="3000" spc="-340" dirty="0">
                <a:solidFill>
                  <a:srgbClr val="5D93B8"/>
                </a:solidFill>
                <a:latin typeface="Times New Roman"/>
                <a:cs typeface="Times New Roman"/>
              </a:rPr>
              <a:t>..</a:t>
            </a:r>
            <a:r>
              <a:rPr sz="3850" spc="-340" dirty="0">
                <a:solidFill>
                  <a:srgbClr val="5D93B8"/>
                </a:solidFill>
                <a:latin typeface="Times New Roman"/>
                <a:cs typeface="Times New Roman"/>
              </a:rPr>
              <a:t>...</a:t>
            </a:r>
            <a:r>
              <a:rPr sz="3850" dirty="0">
                <a:solidFill>
                  <a:srgbClr val="5D93B8"/>
                </a:solidFill>
                <a:latin typeface="Times New Roman"/>
                <a:cs typeface="Times New Roman"/>
              </a:rPr>
              <a:t>	</a:t>
            </a:r>
            <a:r>
              <a:rPr sz="3450" spc="-505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endParaRPr sz="3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0316" y="4744758"/>
            <a:ext cx="11664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1675" algn="l"/>
                <a:tab pos="1048385" algn="l"/>
              </a:tabLst>
            </a:pPr>
            <a:r>
              <a:rPr sz="1100" spc="95" dirty="0">
                <a:solidFill>
                  <a:srgbClr val="3F80AE"/>
                </a:solidFill>
                <a:latin typeface="Times New Roman"/>
                <a:cs typeface="Times New Roman"/>
              </a:rPr>
              <a:t>I</a:t>
            </a:r>
            <a:r>
              <a:rPr sz="1100" spc="95" dirty="0">
                <a:solidFill>
                  <a:srgbClr val="B57E82"/>
                </a:solidFill>
                <a:latin typeface="Times New Roman"/>
                <a:cs typeface="Times New Roman"/>
              </a:rPr>
              <a:t>...-</a:t>
            </a:r>
            <a:r>
              <a:rPr sz="1100" spc="114" dirty="0">
                <a:solidFill>
                  <a:srgbClr val="B57E82"/>
                </a:solidFill>
                <a:latin typeface="Times New Roman"/>
                <a:cs typeface="Times New Roman"/>
              </a:rPr>
              <a:t>·</a:t>
            </a:r>
            <a:r>
              <a:rPr sz="1100" spc="135" dirty="0">
                <a:solidFill>
                  <a:srgbClr val="B57E82"/>
                </a:solidFill>
                <a:latin typeface="Times New Roman"/>
                <a:cs typeface="Times New Roman"/>
              </a:rPr>
              <a:t>  </a:t>
            </a:r>
            <a:r>
              <a:rPr sz="1100" spc="7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r>
              <a:rPr sz="1100" dirty="0">
                <a:solidFill>
                  <a:srgbClr val="8EB3CD"/>
                </a:solidFill>
                <a:latin typeface="Times New Roman"/>
                <a:cs typeface="Times New Roman"/>
              </a:rPr>
              <a:t>	</a:t>
            </a:r>
            <a:r>
              <a:rPr sz="1100" spc="7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r>
              <a:rPr sz="1100" dirty="0">
                <a:solidFill>
                  <a:srgbClr val="8EB3CD"/>
                </a:solidFill>
                <a:latin typeface="Times New Roman"/>
                <a:cs typeface="Times New Roman"/>
              </a:rPr>
              <a:t>	</a:t>
            </a:r>
            <a:r>
              <a:rPr sz="1350" spc="-70" dirty="0">
                <a:solidFill>
                  <a:srgbClr val="77A5C6"/>
                </a:solidFill>
                <a:latin typeface="Arial"/>
                <a:cs typeface="Arial"/>
              </a:rPr>
              <a:t>'9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1682" y="4799412"/>
            <a:ext cx="4305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220" dirty="0">
                <a:solidFill>
                  <a:srgbClr val="B57E82"/>
                </a:solidFill>
                <a:latin typeface="Times New Roman"/>
                <a:cs typeface="Times New Roman"/>
              </a:rPr>
              <a:t>.......-</a:t>
            </a:r>
            <a:r>
              <a:rPr sz="2100" spc="-140" dirty="0">
                <a:solidFill>
                  <a:srgbClr val="3F80AE"/>
                </a:solidFill>
                <a:latin typeface="Times New Roman"/>
                <a:cs typeface="Times New Roman"/>
              </a:rPr>
              <a:t>f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3348" y="4948449"/>
            <a:ext cx="12890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35" dirty="0">
                <a:solidFill>
                  <a:srgbClr val="5D93B8"/>
                </a:solidFill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09294" y="4850335"/>
            <a:ext cx="3486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5D93B8"/>
                </a:solidFill>
                <a:latin typeface="Arial"/>
                <a:cs typeface="Arial"/>
              </a:rPr>
              <a:t>I</a:t>
            </a:r>
            <a:r>
              <a:rPr sz="1700" dirty="0">
                <a:solidFill>
                  <a:srgbClr val="8EB3CD"/>
                </a:solidFill>
                <a:latin typeface="Arial"/>
                <a:cs typeface="Arial"/>
              </a:rPr>
              <a:t>·</a:t>
            </a:r>
            <a:r>
              <a:rPr sz="1700" spc="20" dirty="0">
                <a:solidFill>
                  <a:srgbClr val="8EB3CD"/>
                </a:solidFill>
                <a:latin typeface="Arial"/>
                <a:cs typeface="Arial"/>
              </a:rPr>
              <a:t>  </a:t>
            </a:r>
            <a:r>
              <a:rPr sz="1550" spc="-50" dirty="0">
                <a:solidFill>
                  <a:srgbClr val="77A5C6"/>
                </a:solidFill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65302" y="4963594"/>
            <a:ext cx="15811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450" spc="-1170" baseline="-22946" dirty="0">
                <a:solidFill>
                  <a:srgbClr val="77A5C6"/>
                </a:solidFill>
                <a:latin typeface="Arial"/>
                <a:cs typeface="Arial"/>
              </a:rPr>
              <a:t>•</a:t>
            </a:r>
            <a:r>
              <a:rPr sz="1600" spc="-5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7781" y="3476742"/>
            <a:ext cx="839469" cy="881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10235" algn="l"/>
              </a:tabLst>
            </a:pPr>
            <a:r>
              <a:rPr sz="3700" spc="-1210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r>
              <a:rPr sz="3825" spc="-419" baseline="1089" dirty="0">
                <a:solidFill>
                  <a:srgbClr val="77A5C6"/>
                </a:solidFill>
                <a:latin typeface="Times New Roman"/>
                <a:cs typeface="Times New Roman"/>
              </a:rPr>
              <a:t>•</a:t>
            </a:r>
            <a:r>
              <a:rPr sz="3825" spc="-405" baseline="1089" dirty="0">
                <a:solidFill>
                  <a:srgbClr val="77A5C6"/>
                </a:solidFill>
                <a:latin typeface="Times New Roman"/>
                <a:cs typeface="Times New Roman"/>
              </a:rPr>
              <a:t>•</a:t>
            </a:r>
            <a:r>
              <a:rPr sz="3825" baseline="1089" dirty="0">
                <a:solidFill>
                  <a:srgbClr val="77A5C6"/>
                </a:solidFill>
                <a:latin typeface="Times New Roman"/>
                <a:cs typeface="Times New Roman"/>
              </a:rPr>
              <a:t>	</a:t>
            </a:r>
            <a:r>
              <a:rPr sz="5600" spc="70" dirty="0">
                <a:solidFill>
                  <a:srgbClr val="5D93B8"/>
                </a:solidFill>
                <a:latin typeface="Arial"/>
                <a:cs typeface="Arial"/>
              </a:rPr>
              <a:t>:</a:t>
            </a:r>
            <a:endParaRPr sz="5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1958" y="4357132"/>
            <a:ext cx="6413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215" dirty="0">
                <a:solidFill>
                  <a:srgbClr val="3F80AE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7187" y="4612623"/>
            <a:ext cx="5016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35" dirty="0">
                <a:solidFill>
                  <a:srgbClr val="696969"/>
                </a:solidFill>
                <a:latin typeface="Times New Roman"/>
                <a:cs typeface="Times New Roman"/>
              </a:rPr>
              <a:t>3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91318" y="3233542"/>
            <a:ext cx="10160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35" dirty="0">
                <a:solidFill>
                  <a:srgbClr val="5D93B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44557" y="3272393"/>
            <a:ext cx="711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696969"/>
                </a:solidFill>
                <a:latin typeface="Times New Roman"/>
                <a:cs typeface="Times New Roman"/>
              </a:rPr>
              <a:t>8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16656" y="5144457"/>
            <a:ext cx="762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3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54573" y="3552248"/>
            <a:ext cx="6604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20" dirty="0">
                <a:solidFill>
                  <a:srgbClr val="696969"/>
                </a:solidFill>
                <a:latin typeface="Arial"/>
                <a:cs typeface="Arial"/>
              </a:rPr>
              <a:t>7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78103" y="3519763"/>
            <a:ext cx="908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5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92213" y="3752646"/>
            <a:ext cx="6223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0" dirty="0">
                <a:solidFill>
                  <a:srgbClr val="8EB3CD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46722" y="3814543"/>
            <a:ext cx="7048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25" dirty="0">
                <a:solidFill>
                  <a:srgbClr val="696969"/>
                </a:solidFill>
                <a:latin typeface="Times New Roman"/>
                <a:cs typeface="Times New Roman"/>
              </a:rPr>
              <a:t>6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77405" y="3870514"/>
            <a:ext cx="9017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700" spc="1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34250" y="3825517"/>
            <a:ext cx="40957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283210" algn="l"/>
              </a:tabLst>
            </a:pPr>
            <a:r>
              <a:rPr sz="2400" spc="-50" dirty="0">
                <a:solidFill>
                  <a:srgbClr val="77A5C6"/>
                </a:solidFill>
                <a:latin typeface="Arial"/>
                <a:cs typeface="Arial"/>
              </a:rPr>
              <a:t>•</a:t>
            </a:r>
            <a:r>
              <a:rPr sz="2400" dirty="0">
                <a:solidFill>
                  <a:srgbClr val="77A5C6"/>
                </a:solidFill>
                <a:latin typeface="Arial"/>
                <a:cs typeface="Arial"/>
              </a:rPr>
              <a:t>	</a:t>
            </a:r>
            <a:r>
              <a:rPr sz="3825" spc="-75" baseline="-11982" dirty="0">
                <a:solidFill>
                  <a:srgbClr val="77A5C6"/>
                </a:solidFill>
                <a:latin typeface="Times New Roman"/>
                <a:cs typeface="Times New Roman"/>
              </a:rPr>
              <a:t>•</a:t>
            </a:r>
            <a:endParaRPr sz="3825" baseline="-11982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49584" y="4062571"/>
            <a:ext cx="158750" cy="24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700"/>
              </a:lnSpc>
              <a:spcBef>
                <a:spcPts val="100"/>
              </a:spcBef>
            </a:pPr>
            <a:r>
              <a:rPr sz="750" spc="-90" dirty="0">
                <a:solidFill>
                  <a:srgbClr val="828282"/>
                </a:solidFill>
                <a:latin typeface="Times New Roman"/>
                <a:cs typeface="Times New Roman"/>
              </a:rPr>
              <a:t>5</a:t>
            </a: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ts val="1000"/>
              </a:lnSpc>
            </a:pPr>
            <a:r>
              <a:rPr sz="1000" spc="-114" dirty="0">
                <a:solidFill>
                  <a:srgbClr val="696969"/>
                </a:solidFill>
                <a:latin typeface="Times New Roman"/>
                <a:cs typeface="Times New Roman"/>
              </a:rPr>
              <a:t>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42685" y="4185487"/>
            <a:ext cx="755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20" dirty="0">
                <a:solidFill>
                  <a:srgbClr val="696969"/>
                </a:solidFill>
                <a:latin typeface="Times New Roman"/>
                <a:cs typeface="Times New Roman"/>
              </a:rPr>
              <a:t>c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6612" y="4310599"/>
            <a:ext cx="1689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30" dirty="0">
                <a:solidFill>
                  <a:srgbClr val="696969"/>
                </a:solidFill>
                <a:latin typeface="Courier New"/>
                <a:cs typeface="Courier New"/>
              </a:rPr>
              <a:t>2</a:t>
            </a:r>
            <a:r>
              <a:rPr sz="850" spc="-95" dirty="0">
                <a:solidFill>
                  <a:srgbClr val="696969"/>
                </a:solidFill>
                <a:latin typeface="Courier New"/>
                <a:cs typeface="Courier New"/>
              </a:rPr>
              <a:t> </a:t>
            </a:r>
            <a:r>
              <a:rPr sz="700" spc="-50" dirty="0">
                <a:solidFill>
                  <a:srgbClr val="696969"/>
                </a:solidFill>
                <a:latin typeface="Courier New"/>
                <a:cs typeface="Courier New"/>
              </a:rPr>
              <a:t>4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28748" y="4344621"/>
            <a:ext cx="71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spc="-110" dirty="0">
                <a:solidFill>
                  <a:srgbClr val="696969"/>
                </a:solidFill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65142" y="3951946"/>
            <a:ext cx="16700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550" spc="-430" dirty="0">
                <a:solidFill>
                  <a:srgbClr val="77A5C6"/>
                </a:solidFill>
                <a:latin typeface="Times New Roman"/>
                <a:cs typeface="Times New Roman"/>
              </a:rPr>
              <a:t>••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62698" y="3900584"/>
            <a:ext cx="9588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450" spc="-310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endParaRPr sz="34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62567" y="3849662"/>
            <a:ext cx="861060" cy="614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64490" algn="l"/>
              </a:tabLst>
            </a:pPr>
            <a:r>
              <a:rPr sz="3850" spc="-405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r>
              <a:rPr sz="3850" dirty="0">
                <a:solidFill>
                  <a:srgbClr val="8EB3CD"/>
                </a:solidFill>
                <a:latin typeface="Arial"/>
                <a:cs typeface="Arial"/>
              </a:rPr>
              <a:t>	</a:t>
            </a:r>
            <a:r>
              <a:rPr sz="2950" spc="-195" dirty="0">
                <a:solidFill>
                  <a:srgbClr val="77A5C6"/>
                </a:solidFill>
                <a:latin typeface="Times New Roman"/>
                <a:cs typeface="Times New Roman"/>
              </a:rPr>
              <a:t>...</a:t>
            </a:r>
            <a:r>
              <a:rPr sz="2950" spc="-195" dirty="0">
                <a:solidFill>
                  <a:srgbClr val="B57E82"/>
                </a:solidFill>
                <a:latin typeface="Times New Roman"/>
                <a:cs typeface="Times New Roman"/>
              </a:rPr>
              <a:t>....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77798" y="4254409"/>
            <a:ext cx="51435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spc="-155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r>
              <a:rPr sz="1850" spc="-155" dirty="0">
                <a:solidFill>
                  <a:srgbClr val="B57E82"/>
                </a:solidFill>
                <a:latin typeface="Arial"/>
                <a:cs typeface="Arial"/>
              </a:rPr>
              <a:t>.....-</a:t>
            </a:r>
            <a:r>
              <a:rPr sz="1850" spc="-315" dirty="0">
                <a:solidFill>
                  <a:srgbClr val="B57E82"/>
                </a:solidFill>
                <a:latin typeface="Arial"/>
                <a:cs typeface="Arial"/>
              </a:rPr>
              <a:t>--</a:t>
            </a:r>
            <a:r>
              <a:rPr sz="1850" spc="-340" dirty="0">
                <a:solidFill>
                  <a:srgbClr val="B57E82"/>
                </a:solidFill>
                <a:latin typeface="Arial"/>
                <a:cs typeface="Arial"/>
              </a:rPr>
              <a:t>·-</a:t>
            </a:r>
            <a:endParaRPr sz="18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90674" y="3953263"/>
            <a:ext cx="476884" cy="735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28930" algn="l"/>
              </a:tabLst>
            </a:pPr>
            <a:r>
              <a:rPr sz="2100" spc="-25" dirty="0">
                <a:solidFill>
                  <a:srgbClr val="B57E82"/>
                </a:solidFill>
                <a:latin typeface="Arial"/>
                <a:cs typeface="Arial"/>
              </a:rPr>
              <a:t>..</a:t>
            </a:r>
            <a:r>
              <a:rPr sz="2100" dirty="0">
                <a:solidFill>
                  <a:srgbClr val="B57E82"/>
                </a:solidFill>
                <a:latin typeface="Arial"/>
                <a:cs typeface="Arial"/>
              </a:rPr>
              <a:t>	</a:t>
            </a:r>
            <a:r>
              <a:rPr sz="4650" spc="-1170" dirty="0">
                <a:solidFill>
                  <a:srgbClr val="5D93B8"/>
                </a:solidFill>
                <a:latin typeface="Times New Roman"/>
                <a:cs typeface="Times New Roman"/>
              </a:rPr>
              <a:t>.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79560" y="4422321"/>
            <a:ext cx="2362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0" dirty="0">
                <a:solidFill>
                  <a:srgbClr val="B57E82"/>
                </a:solidFill>
                <a:latin typeface="Times New Roman"/>
                <a:cs typeface="Times New Roman"/>
              </a:rPr>
              <a:t>.......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45244" y="3976749"/>
            <a:ext cx="560705" cy="774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3850" spc="-180" dirty="0">
                <a:solidFill>
                  <a:srgbClr val="5D93B8"/>
                </a:solidFill>
                <a:latin typeface="Arial"/>
                <a:cs typeface="Arial"/>
              </a:rPr>
              <a:t>.</a:t>
            </a:r>
            <a:r>
              <a:rPr sz="3850" spc="-300" dirty="0">
                <a:solidFill>
                  <a:srgbClr val="5D93B8"/>
                </a:solidFill>
                <a:latin typeface="Arial"/>
                <a:cs typeface="Arial"/>
              </a:rPr>
              <a:t> </a:t>
            </a:r>
            <a:r>
              <a:rPr sz="4900" spc="-260" dirty="0">
                <a:solidFill>
                  <a:srgbClr val="77A5C6"/>
                </a:solidFill>
                <a:latin typeface="Times New Roman"/>
                <a:cs typeface="Times New Roman"/>
              </a:rPr>
              <a:t>.</a:t>
            </a:r>
            <a:r>
              <a:rPr sz="4900" spc="-715" dirty="0">
                <a:solidFill>
                  <a:srgbClr val="77A5C6"/>
                </a:solidFill>
                <a:latin typeface="Times New Roman"/>
                <a:cs typeface="Times New Roman"/>
              </a:rPr>
              <a:t> </a:t>
            </a:r>
            <a:r>
              <a:rPr sz="1400" spc="-235" dirty="0">
                <a:solidFill>
                  <a:srgbClr val="8EB3CD"/>
                </a:solidFill>
                <a:latin typeface="Times New Roman"/>
                <a:cs typeface="Times New Roman"/>
              </a:rPr>
              <a:t>.</a:t>
            </a:r>
            <a:r>
              <a:rPr sz="3250" spc="-1045" dirty="0">
                <a:solidFill>
                  <a:srgbClr val="B57E82"/>
                </a:solidFill>
                <a:latin typeface="Times New Roman"/>
                <a:cs typeface="Times New Roman"/>
              </a:rPr>
              <a:t>-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72168" y="4078594"/>
            <a:ext cx="567055" cy="652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3250" spc="-655" dirty="0">
                <a:solidFill>
                  <a:srgbClr val="8EB3CD"/>
                </a:solidFill>
                <a:latin typeface="Times New Roman"/>
                <a:cs typeface="Times New Roman"/>
              </a:rPr>
              <a:t>.</a:t>
            </a:r>
            <a:r>
              <a:rPr sz="1400" spc="10" dirty="0">
                <a:solidFill>
                  <a:srgbClr val="B57E82"/>
                </a:solidFill>
                <a:latin typeface="Times New Roman"/>
                <a:cs typeface="Times New Roman"/>
              </a:rPr>
              <a:t>.</a:t>
            </a:r>
            <a:r>
              <a:rPr sz="1400" spc="5" dirty="0">
                <a:solidFill>
                  <a:srgbClr val="B57E82"/>
                </a:solidFill>
                <a:latin typeface="Times New Roman"/>
                <a:cs typeface="Times New Roman"/>
              </a:rPr>
              <a:t>..</a:t>
            </a:r>
            <a:r>
              <a:rPr sz="1400" spc="-10" dirty="0">
                <a:solidFill>
                  <a:srgbClr val="B57E82"/>
                </a:solidFill>
                <a:latin typeface="Times New Roman"/>
                <a:cs typeface="Times New Roman"/>
              </a:rPr>
              <a:t>.</a:t>
            </a:r>
            <a:r>
              <a:rPr sz="3250" spc="5" dirty="0">
                <a:solidFill>
                  <a:srgbClr val="5D93B8"/>
                </a:solidFill>
                <a:latin typeface="Times New Roman"/>
                <a:cs typeface="Times New Roman"/>
              </a:rPr>
              <a:t>.</a:t>
            </a:r>
            <a:r>
              <a:rPr sz="3250" spc="-390" dirty="0">
                <a:solidFill>
                  <a:srgbClr val="5D93B8"/>
                </a:solidFill>
                <a:latin typeface="Times New Roman"/>
                <a:cs typeface="Times New Roman"/>
              </a:rPr>
              <a:t> </a:t>
            </a:r>
            <a:r>
              <a:rPr sz="4100" spc="-430" dirty="0">
                <a:solidFill>
                  <a:srgbClr val="5D93B8"/>
                </a:solidFill>
                <a:latin typeface="Arial"/>
                <a:cs typeface="Arial"/>
              </a:rPr>
              <a:t>..</a:t>
            </a:r>
            <a:endParaRPr sz="41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140371" y="4666016"/>
            <a:ext cx="113664" cy="0"/>
          </a:xfrm>
          <a:custGeom>
            <a:avLst/>
            <a:gdLst/>
            <a:ahLst/>
            <a:cxnLst/>
            <a:rect l="l" t="t" r="r" b="b"/>
            <a:pathLst>
              <a:path w="113664">
                <a:moveTo>
                  <a:pt x="0" y="0"/>
                </a:moveTo>
                <a:lnTo>
                  <a:pt x="113346" y="0"/>
                </a:lnTo>
              </a:path>
            </a:pathLst>
          </a:custGeom>
          <a:ln w="4317">
            <a:solidFill>
              <a:srgbClr val="B47D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077504" y="4320257"/>
            <a:ext cx="340360" cy="53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7475">
              <a:lnSpc>
                <a:spcPts val="2360"/>
              </a:lnSpc>
              <a:spcBef>
                <a:spcPts val="105"/>
              </a:spcBef>
            </a:pPr>
            <a:r>
              <a:rPr sz="2775" spc="-690" baseline="33033" dirty="0">
                <a:solidFill>
                  <a:srgbClr val="8EB3CD"/>
                </a:solidFill>
                <a:latin typeface="Arial"/>
                <a:cs typeface="Arial"/>
              </a:rPr>
              <a:t>:</a:t>
            </a:r>
            <a:r>
              <a:rPr sz="2450" spc="-114" dirty="0">
                <a:solidFill>
                  <a:srgbClr val="8CA3B8"/>
                </a:solidFill>
                <a:latin typeface="Times New Roman"/>
                <a:cs typeface="Times New Roman"/>
              </a:rPr>
              <a:t>,.</a:t>
            </a:r>
            <a:r>
              <a:rPr sz="2450" spc="-735" dirty="0">
                <a:solidFill>
                  <a:srgbClr val="8CA3B8"/>
                </a:solidFill>
                <a:latin typeface="Times New Roman"/>
                <a:cs typeface="Times New Roman"/>
              </a:rPr>
              <a:t>,</a:t>
            </a:r>
            <a:r>
              <a:rPr sz="2775" spc="-172" baseline="33033" dirty="0">
                <a:solidFill>
                  <a:srgbClr val="5D93B8"/>
                </a:solidFill>
                <a:latin typeface="Arial"/>
                <a:cs typeface="Arial"/>
              </a:rPr>
              <a:t>I</a:t>
            </a:r>
            <a:endParaRPr sz="2775" baseline="33033">
              <a:latin typeface="Arial"/>
              <a:cs typeface="Arial"/>
            </a:endParaRPr>
          </a:p>
          <a:p>
            <a:pPr marL="25400">
              <a:lnSpc>
                <a:spcPts val="1639"/>
              </a:lnSpc>
            </a:pPr>
            <a:r>
              <a:rPr sz="1850" spc="-335" dirty="0">
                <a:solidFill>
                  <a:srgbClr val="5D93B8"/>
                </a:solidFill>
                <a:latin typeface="Arial"/>
                <a:cs typeface="Arial"/>
              </a:rPr>
              <a:t>'</a:t>
            </a:r>
            <a:endParaRPr sz="18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814904" y="3836493"/>
            <a:ext cx="430530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650" spc="-730" dirty="0">
                <a:solidFill>
                  <a:srgbClr val="5D93B8"/>
                </a:solidFill>
                <a:latin typeface="Times New Roman"/>
                <a:cs typeface="Times New Roman"/>
              </a:rPr>
              <a:t>.</a:t>
            </a:r>
            <a:r>
              <a:rPr sz="6250" spc="290" dirty="0">
                <a:solidFill>
                  <a:srgbClr val="77A5C6"/>
                </a:solidFill>
                <a:latin typeface="Arial"/>
                <a:cs typeface="Arial"/>
              </a:rPr>
              <a:t>.</a:t>
            </a:r>
            <a:r>
              <a:rPr sz="3850" spc="-204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endParaRPr sz="38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820813" y="4615256"/>
            <a:ext cx="36703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50" spc="-130" dirty="0">
                <a:solidFill>
                  <a:srgbClr val="B57E82"/>
                </a:solidFill>
                <a:latin typeface="Times New Roman"/>
                <a:cs typeface="Times New Roman"/>
              </a:rPr>
              <a:t>........</a:t>
            </a:r>
            <a:r>
              <a:rPr sz="1250" spc="-130" dirty="0">
                <a:solidFill>
                  <a:srgbClr val="8EB3CD"/>
                </a:solidFill>
                <a:latin typeface="Times New Roman"/>
                <a:cs typeface="Times New Roman"/>
              </a:rPr>
              <a:t>.</a:t>
            </a:r>
            <a:r>
              <a:rPr sz="1250" spc="-130" dirty="0">
                <a:solidFill>
                  <a:srgbClr val="B57E82"/>
                </a:solidFill>
                <a:latin typeface="Times New Roman"/>
                <a:cs typeface="Times New Roman"/>
              </a:rPr>
              <a:t>......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152625" y="3876879"/>
            <a:ext cx="1129030" cy="11029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974725" algn="l"/>
              </a:tabLst>
            </a:pPr>
            <a:r>
              <a:rPr sz="7050" spc="55" dirty="0">
                <a:solidFill>
                  <a:srgbClr val="5D93B8"/>
                </a:solidFill>
                <a:latin typeface="Arial"/>
                <a:cs typeface="Arial"/>
              </a:rPr>
              <a:t>.</a:t>
            </a:r>
            <a:r>
              <a:rPr sz="7050" spc="-1080" dirty="0">
                <a:solidFill>
                  <a:srgbClr val="5D93B8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8EB3CD"/>
                </a:solidFill>
                <a:latin typeface="Arial"/>
                <a:cs typeface="Arial"/>
              </a:rPr>
              <a:t>:</a:t>
            </a:r>
            <a:r>
              <a:rPr sz="1700" spc="95" dirty="0">
                <a:solidFill>
                  <a:srgbClr val="8EB3CD"/>
                </a:solidFill>
                <a:latin typeface="Arial"/>
                <a:cs typeface="Arial"/>
              </a:rPr>
              <a:t> </a:t>
            </a:r>
            <a:r>
              <a:rPr sz="3700" spc="-50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r>
              <a:rPr sz="3700" dirty="0">
                <a:solidFill>
                  <a:srgbClr val="8EB3CD"/>
                </a:solidFill>
                <a:latin typeface="Arial"/>
                <a:cs typeface="Arial"/>
              </a:rPr>
              <a:t>	</a:t>
            </a:r>
            <a:r>
              <a:rPr sz="3850" spc="-50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endParaRPr sz="38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171996" y="4604941"/>
            <a:ext cx="13239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809625" algn="l"/>
                <a:tab pos="1010919" algn="l"/>
                <a:tab pos="1186815" algn="l"/>
              </a:tabLst>
            </a:pPr>
            <a:r>
              <a:rPr sz="3300" spc="-359" baseline="-17676" dirty="0">
                <a:solidFill>
                  <a:srgbClr val="B57E82"/>
                </a:solidFill>
                <a:latin typeface="Times New Roman"/>
                <a:cs typeface="Times New Roman"/>
              </a:rPr>
              <a:t>.....</a:t>
            </a:r>
            <a:r>
              <a:rPr sz="2475" spc="-359" baseline="-23569" dirty="0">
                <a:solidFill>
                  <a:srgbClr val="B57E82"/>
                </a:solidFill>
                <a:latin typeface="Times New Roman"/>
                <a:cs typeface="Times New Roman"/>
              </a:rPr>
              <a:t>-</a:t>
            </a:r>
            <a:r>
              <a:rPr sz="2475" spc="-382" baseline="-23569" dirty="0">
                <a:solidFill>
                  <a:srgbClr val="B57E82"/>
                </a:solidFill>
                <a:latin typeface="Times New Roman"/>
                <a:cs typeface="Times New Roman"/>
              </a:rPr>
              <a:t>-</a:t>
            </a:r>
            <a:r>
              <a:rPr sz="2475" spc="-457" baseline="-23569" dirty="0">
                <a:solidFill>
                  <a:srgbClr val="B57E82"/>
                </a:solidFill>
                <a:latin typeface="Times New Roman"/>
                <a:cs typeface="Times New Roman"/>
              </a:rPr>
              <a:t>-</a:t>
            </a:r>
            <a:r>
              <a:rPr sz="1100" spc="-20" dirty="0">
                <a:solidFill>
                  <a:srgbClr val="B57E82"/>
                </a:solidFill>
                <a:latin typeface="Times New Roman"/>
                <a:cs typeface="Times New Roman"/>
              </a:rPr>
              <a:t>...-····</a:t>
            </a:r>
            <a:r>
              <a:rPr sz="1100" dirty="0">
                <a:solidFill>
                  <a:srgbClr val="B57E82"/>
                </a:solidFill>
                <a:latin typeface="Times New Roman"/>
                <a:cs typeface="Times New Roman"/>
              </a:rPr>
              <a:t>	</a:t>
            </a:r>
            <a:r>
              <a:rPr sz="1100" spc="-5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r>
              <a:rPr sz="1100" dirty="0">
                <a:solidFill>
                  <a:srgbClr val="8EB3CD"/>
                </a:solidFill>
                <a:latin typeface="Times New Roman"/>
                <a:cs typeface="Times New Roman"/>
              </a:rPr>
              <a:t>	</a:t>
            </a:r>
            <a:r>
              <a:rPr sz="1100" spc="-50" dirty="0">
                <a:solidFill>
                  <a:srgbClr val="5D93B8"/>
                </a:solidFill>
                <a:latin typeface="Times New Roman"/>
                <a:cs typeface="Times New Roman"/>
              </a:rPr>
              <a:t>I</a:t>
            </a:r>
            <a:r>
              <a:rPr sz="1100" dirty="0">
                <a:solidFill>
                  <a:srgbClr val="5D93B8"/>
                </a:solidFill>
                <a:latin typeface="Times New Roman"/>
                <a:cs typeface="Times New Roman"/>
              </a:rPr>
              <a:t>	</a:t>
            </a:r>
            <a:r>
              <a:rPr sz="1100" spc="-50" dirty="0">
                <a:solidFill>
                  <a:srgbClr val="77A5C6"/>
                </a:solidFill>
                <a:latin typeface="Times New Roman"/>
                <a:cs typeface="Times New Roman"/>
              </a:rPr>
              <a:t>U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582640" y="4405420"/>
            <a:ext cx="1351280" cy="705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514350" algn="l"/>
                <a:tab pos="1159510" algn="l"/>
              </a:tabLst>
            </a:pPr>
            <a:r>
              <a:rPr sz="3850" spc="-545" dirty="0">
                <a:solidFill>
                  <a:srgbClr val="8EB3CD"/>
                </a:solidFill>
                <a:latin typeface="Arial"/>
                <a:cs typeface="Arial"/>
              </a:rPr>
              <a:t>.</a:t>
            </a:r>
            <a:r>
              <a:rPr sz="3850" dirty="0">
                <a:solidFill>
                  <a:srgbClr val="8EB3CD"/>
                </a:solidFill>
                <a:latin typeface="Arial"/>
                <a:cs typeface="Arial"/>
              </a:rPr>
              <a:t>	</a:t>
            </a:r>
            <a:r>
              <a:rPr sz="3800" spc="-459" dirty="0">
                <a:solidFill>
                  <a:srgbClr val="5D93B8"/>
                </a:solidFill>
                <a:latin typeface="Times New Roman"/>
                <a:cs typeface="Times New Roman"/>
              </a:rPr>
              <a:t>...</a:t>
            </a:r>
            <a:r>
              <a:rPr sz="3800" spc="-459" dirty="0">
                <a:solidFill>
                  <a:srgbClr val="3F80AE"/>
                </a:solidFill>
                <a:latin typeface="Times New Roman"/>
                <a:cs typeface="Times New Roman"/>
              </a:rPr>
              <a:t>.</a:t>
            </a:r>
            <a:r>
              <a:rPr sz="3800" spc="310" dirty="0">
                <a:solidFill>
                  <a:srgbClr val="3F80AE"/>
                </a:solidFill>
                <a:latin typeface="Times New Roman"/>
                <a:cs typeface="Times New Roman"/>
              </a:rPr>
              <a:t> </a:t>
            </a:r>
            <a:r>
              <a:rPr sz="3300" spc="-440" dirty="0">
                <a:solidFill>
                  <a:srgbClr val="8EB3CD"/>
                </a:solidFill>
                <a:latin typeface="Times New Roman"/>
                <a:cs typeface="Times New Roman"/>
              </a:rPr>
              <a:t>.</a:t>
            </a:r>
            <a:r>
              <a:rPr sz="3300" dirty="0">
                <a:solidFill>
                  <a:srgbClr val="8EB3CD"/>
                </a:solidFill>
                <a:latin typeface="Times New Roman"/>
                <a:cs typeface="Times New Roman"/>
              </a:rPr>
              <a:t>	</a:t>
            </a:r>
            <a:r>
              <a:rPr sz="4450" spc="-575" dirty="0">
                <a:solidFill>
                  <a:srgbClr val="77A5C6"/>
                </a:solidFill>
                <a:latin typeface="Arial"/>
                <a:cs typeface="Arial"/>
              </a:rPr>
              <a:t>..</a:t>
            </a:r>
            <a:endParaRPr sz="44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80738" y="4974129"/>
            <a:ext cx="5556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100" dirty="0">
                <a:solidFill>
                  <a:srgbClr val="B57E82"/>
                </a:solidFill>
                <a:latin typeface="Arial"/>
                <a:cs typeface="Arial"/>
              </a:rPr>
              <a:t>-----</a:t>
            </a:r>
            <a:r>
              <a:rPr sz="1100" spc="100" dirty="0">
                <a:solidFill>
                  <a:srgbClr val="939099"/>
                </a:solidFill>
                <a:latin typeface="Arial"/>
                <a:cs typeface="Arial"/>
              </a:rPr>
              <a:t>·</a:t>
            </a:r>
            <a:r>
              <a:rPr sz="1100" spc="100" dirty="0">
                <a:solidFill>
                  <a:srgbClr val="B57E82"/>
                </a:solidFill>
                <a:latin typeface="Arial"/>
                <a:cs typeface="Arial"/>
              </a:rPr>
              <a:t>-</a:t>
            </a:r>
            <a:r>
              <a:rPr sz="1100" spc="75" dirty="0">
                <a:solidFill>
                  <a:srgbClr val="B57E82"/>
                </a:solidFill>
                <a:latin typeface="Arial"/>
                <a:cs typeface="Arial"/>
              </a:rPr>
              <a:t>··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19730" y="4961399"/>
            <a:ext cx="8915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56870" algn="l"/>
                <a:tab pos="553720" algn="l"/>
              </a:tabLst>
            </a:pPr>
            <a:r>
              <a:rPr sz="1100" spc="55" dirty="0">
                <a:solidFill>
                  <a:srgbClr val="5D93B8"/>
                </a:solidFill>
                <a:latin typeface="Arial"/>
                <a:cs typeface="Arial"/>
              </a:rPr>
              <a:t>•</a:t>
            </a:r>
            <a:r>
              <a:rPr sz="1100" dirty="0">
                <a:solidFill>
                  <a:srgbClr val="5D93B8"/>
                </a:solidFill>
                <a:latin typeface="Arial"/>
                <a:cs typeface="Arial"/>
              </a:rPr>
              <a:t>	</a:t>
            </a:r>
            <a:r>
              <a:rPr sz="1100" spc="35" dirty="0">
                <a:solidFill>
                  <a:srgbClr val="8EB3CD"/>
                </a:solidFill>
                <a:latin typeface="Arial"/>
                <a:cs typeface="Arial"/>
              </a:rPr>
              <a:t>I</a:t>
            </a:r>
            <a:r>
              <a:rPr sz="1100" dirty="0">
                <a:solidFill>
                  <a:srgbClr val="8EB3CD"/>
                </a:solidFill>
                <a:latin typeface="Arial"/>
                <a:cs typeface="Arial"/>
              </a:rPr>
              <a:t>	</a:t>
            </a:r>
            <a:r>
              <a:rPr sz="1100" spc="80" dirty="0">
                <a:solidFill>
                  <a:srgbClr val="5D93B8"/>
                </a:solidFill>
                <a:latin typeface="Arial"/>
                <a:cs typeface="Arial"/>
              </a:rPr>
              <a:t>..</a:t>
            </a:r>
            <a:r>
              <a:rPr sz="1100" spc="190" dirty="0">
                <a:solidFill>
                  <a:srgbClr val="5D93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D93B8"/>
                </a:solidFill>
                <a:latin typeface="Times New Roman"/>
                <a:cs typeface="Times New Roman"/>
              </a:rPr>
              <a:t>a</a:t>
            </a:r>
            <a:r>
              <a:rPr sz="1200" spc="70" dirty="0">
                <a:solidFill>
                  <a:srgbClr val="5D93B8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921990" y="4974129"/>
            <a:ext cx="368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20" dirty="0">
                <a:solidFill>
                  <a:srgbClr val="8EB3CD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554853" y="4612623"/>
            <a:ext cx="5080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30" dirty="0">
                <a:solidFill>
                  <a:srgbClr val="696969"/>
                </a:solidFill>
                <a:latin typeface="Times New Roman"/>
                <a:cs typeface="Times New Roman"/>
              </a:rPr>
              <a:t>3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25804" y="4589795"/>
            <a:ext cx="52069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50" spc="-200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766381" y="4627768"/>
            <a:ext cx="50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95" dirty="0">
                <a:solidFill>
                  <a:srgbClr val="8EB3CD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547931" y="4881283"/>
            <a:ext cx="539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45" dirty="0">
                <a:solidFill>
                  <a:srgbClr val="696969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979259" y="5065439"/>
            <a:ext cx="539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204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083818" y="5410703"/>
            <a:ext cx="205104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75" dirty="0">
                <a:solidFill>
                  <a:srgbClr val="696969"/>
                </a:solidFill>
                <a:latin typeface="Times New Roman"/>
                <a:cs typeface="Times New Roman"/>
              </a:rPr>
              <a:t>io-</a:t>
            </a:r>
            <a:r>
              <a:rPr sz="650" spc="55" dirty="0">
                <a:solidFill>
                  <a:srgbClr val="696969"/>
                </a:solidFill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722314" y="5410703"/>
            <a:ext cx="21399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90" dirty="0">
                <a:solidFill>
                  <a:srgbClr val="696969"/>
                </a:solidFill>
                <a:latin typeface="Times New Roman"/>
                <a:cs typeface="Times New Roman"/>
              </a:rPr>
              <a:t>io-</a:t>
            </a:r>
            <a:r>
              <a:rPr sz="650" spc="75" dirty="0">
                <a:solidFill>
                  <a:srgbClr val="696969"/>
                </a:solidFill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317913" y="3280954"/>
            <a:ext cx="25082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450" spc="-25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r>
              <a:rPr sz="2700" spc="-37" baseline="10802" dirty="0">
                <a:solidFill>
                  <a:srgbClr val="5D93B8"/>
                </a:solidFill>
                <a:latin typeface="Arial"/>
                <a:cs typeface="Arial"/>
              </a:rPr>
              <a:t>•</a:t>
            </a:r>
            <a:r>
              <a:rPr sz="1600" spc="-25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294227" y="3380384"/>
            <a:ext cx="266700" cy="598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750" spc="-740" dirty="0">
                <a:solidFill>
                  <a:srgbClr val="8EB3CD"/>
                </a:solidFill>
                <a:latin typeface="Times New Roman"/>
                <a:cs typeface="Times New Roman"/>
              </a:rPr>
              <a:t>.</a:t>
            </a:r>
            <a:r>
              <a:rPr sz="2175" spc="-442" baseline="80459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r>
              <a:rPr sz="3750" spc="-185" dirty="0">
                <a:solidFill>
                  <a:srgbClr val="8EB3CD"/>
                </a:solidFill>
                <a:latin typeface="Times New Roman"/>
                <a:cs typeface="Times New Roman"/>
              </a:rPr>
              <a:t>.</a:t>
            </a:r>
            <a:r>
              <a:rPr sz="2400" spc="-997" baseline="36458" dirty="0">
                <a:solidFill>
                  <a:srgbClr val="8EB3CD"/>
                </a:solidFill>
                <a:latin typeface="Times New Roman"/>
                <a:cs typeface="Times New Roman"/>
              </a:rPr>
              <a:t>•</a:t>
            </a:r>
            <a:r>
              <a:rPr sz="2100" spc="-157" baseline="67460" dirty="0">
                <a:solidFill>
                  <a:srgbClr val="8EB3CD"/>
                </a:solidFill>
                <a:latin typeface="Arial"/>
                <a:cs typeface="Arial"/>
              </a:rPr>
              <a:t>•</a:t>
            </a:r>
            <a:endParaRPr sz="2100" baseline="6746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342614" y="3842199"/>
            <a:ext cx="9271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50" spc="-210" dirty="0">
                <a:solidFill>
                  <a:srgbClr val="8EB3CD"/>
                </a:solidFill>
                <a:latin typeface="Times New Roman"/>
                <a:cs typeface="Times New Roman"/>
              </a:rPr>
              <a:t>••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792221" y="3264491"/>
            <a:ext cx="533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60" dirty="0">
                <a:solidFill>
                  <a:srgbClr val="696969"/>
                </a:solidFill>
                <a:latin typeface="Times New Roman"/>
                <a:cs typeface="Times New Roman"/>
              </a:rPr>
              <a:t>8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554427" y="4962496"/>
            <a:ext cx="121920" cy="568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spc="-484" dirty="0">
                <a:solidFill>
                  <a:srgbClr val="3F80AE"/>
                </a:solidFill>
                <a:latin typeface="Arial"/>
                <a:cs typeface="Arial"/>
              </a:rPr>
              <a:t>•</a:t>
            </a:r>
            <a:endParaRPr sz="35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02238" y="3583855"/>
            <a:ext cx="5143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35" dirty="0">
                <a:solidFill>
                  <a:srgbClr val="696969"/>
                </a:solidFill>
                <a:latin typeface="Arial"/>
                <a:cs typeface="Arial"/>
              </a:rPr>
              <a:t>7</a:t>
            </a:r>
            <a:endParaRPr sz="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94386" y="3885659"/>
            <a:ext cx="5080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30" dirty="0">
                <a:solidFill>
                  <a:srgbClr val="696969"/>
                </a:solidFill>
                <a:latin typeface="Times New Roman"/>
                <a:cs typeface="Times New Roman"/>
              </a:rPr>
              <a:t>6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802009" y="4797437"/>
            <a:ext cx="5461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50" dirty="0">
                <a:solidFill>
                  <a:srgbClr val="828282"/>
                </a:solidFill>
                <a:latin typeface="Times New Roman"/>
                <a:cs typeface="Times New Roman"/>
              </a:rPr>
              <a:t>3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804086" y="5110435"/>
            <a:ext cx="5080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30" dirty="0">
                <a:solidFill>
                  <a:srgbClr val="696969"/>
                </a:solidFill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482037" y="5410703"/>
            <a:ext cx="20955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55" dirty="0">
                <a:solidFill>
                  <a:srgbClr val="696969"/>
                </a:solidFill>
                <a:latin typeface="Times New Roman"/>
                <a:cs typeface="Times New Roman"/>
              </a:rPr>
              <a:t>10</a:t>
            </a:r>
            <a:r>
              <a:rPr sz="650" spc="55" dirty="0">
                <a:solidFill>
                  <a:srgbClr val="939099"/>
                </a:solidFill>
                <a:latin typeface="Times New Roman"/>
                <a:cs typeface="Times New Roman"/>
              </a:rPr>
              <a:t>-</a:t>
            </a:r>
            <a:r>
              <a:rPr sz="650" spc="15" dirty="0">
                <a:solidFill>
                  <a:srgbClr val="696969"/>
                </a:solidFill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173787" y="5388314"/>
            <a:ext cx="14922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494949"/>
                </a:solidFill>
                <a:latin typeface="Times New Roman"/>
                <a:cs typeface="Times New Roman"/>
              </a:rPr>
              <a:t>i</a:t>
            </a:r>
            <a:r>
              <a:rPr sz="950" spc="-25" dirty="0">
                <a:solidFill>
                  <a:srgbClr val="696969"/>
                </a:solidFill>
                <a:latin typeface="Times New Roman"/>
                <a:cs typeface="Times New Roman"/>
              </a:rPr>
              <a:t>o</a:t>
            </a:r>
            <a:r>
              <a:rPr sz="950" spc="-25" dirty="0">
                <a:solidFill>
                  <a:srgbClr val="939099"/>
                </a:solidFill>
                <a:latin typeface="Times New Roman"/>
                <a:cs typeface="Times New Roman"/>
              </a:rPr>
              <a:t>•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829975" y="5426507"/>
            <a:ext cx="11430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solidFill>
                  <a:srgbClr val="494949"/>
                </a:solidFill>
                <a:latin typeface="Times New Roman"/>
                <a:cs typeface="Times New Roman"/>
              </a:rPr>
              <a:t>10'</a:t>
            </a:r>
            <a:endParaRPr sz="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0038"/>
            <a:ext cx="10058400" cy="5689600"/>
            <a:chOff x="0" y="1010038"/>
            <a:chExt cx="10058400" cy="568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50" y="1017940"/>
              <a:ext cx="5029249" cy="56655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150" y="3269948"/>
              <a:ext cx="268011" cy="410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150" y="4692268"/>
              <a:ext cx="268011" cy="4108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010038"/>
              <a:ext cx="5029200" cy="5689600"/>
            </a:xfrm>
            <a:custGeom>
              <a:avLst/>
              <a:gdLst/>
              <a:ahLst/>
              <a:cxnLst/>
              <a:rect l="l" t="t" r="r" b="b"/>
              <a:pathLst>
                <a:path w="5029200" h="5689600">
                  <a:moveTo>
                    <a:pt x="0" y="3941"/>
                  </a:moveTo>
                  <a:lnTo>
                    <a:pt x="5029200" y="3941"/>
                  </a:lnTo>
                </a:path>
                <a:path w="5029200" h="5689600">
                  <a:moveTo>
                    <a:pt x="3941" y="5675586"/>
                  </a:moveTo>
                  <a:lnTo>
                    <a:pt x="3941" y="0"/>
                  </a:lnTo>
                </a:path>
              </a:pathLst>
            </a:custGeom>
            <a:ln w="7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62238" y="2550885"/>
              <a:ext cx="3665854" cy="2789555"/>
            </a:xfrm>
            <a:custGeom>
              <a:avLst/>
              <a:gdLst/>
              <a:ahLst/>
              <a:cxnLst/>
              <a:rect l="l" t="t" r="r" b="b"/>
              <a:pathLst>
                <a:path w="3665854" h="2789554">
                  <a:moveTo>
                    <a:pt x="7882" y="0"/>
                  </a:moveTo>
                  <a:lnTo>
                    <a:pt x="3665446" y="0"/>
                  </a:lnTo>
                </a:path>
                <a:path w="3665854" h="2789554">
                  <a:moveTo>
                    <a:pt x="7882" y="2789327"/>
                  </a:moveTo>
                  <a:lnTo>
                    <a:pt x="7882" y="0"/>
                  </a:lnTo>
                </a:path>
                <a:path w="3665854" h="2789554">
                  <a:moveTo>
                    <a:pt x="0" y="2789327"/>
                  </a:moveTo>
                  <a:lnTo>
                    <a:pt x="3665446" y="2789327"/>
                  </a:lnTo>
                </a:path>
              </a:pathLst>
            </a:custGeom>
            <a:ln w="157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3497" y="1994939"/>
            <a:ext cx="3751579" cy="502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79758C"/>
                </a:solidFill>
                <a:latin typeface="Times New Roman"/>
                <a:cs typeface="Times New Roman"/>
              </a:rPr>
              <a:t>Problem</a:t>
            </a:r>
            <a:r>
              <a:rPr sz="1350" b="1" spc="30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79758C"/>
                </a:solidFill>
                <a:latin typeface="Times New Roman"/>
                <a:cs typeface="Times New Roman"/>
              </a:rPr>
              <a:t>with</a:t>
            </a:r>
            <a:r>
              <a:rPr sz="1350" b="1" spc="17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79758C"/>
                </a:solidFill>
                <a:latin typeface="Times New Roman"/>
                <a:cs typeface="Times New Roman"/>
              </a:rPr>
              <a:t>using</a:t>
            </a:r>
            <a:r>
              <a:rPr sz="1350" b="1" spc="19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79758C"/>
                </a:solidFill>
                <a:latin typeface="Times New Roman"/>
                <a:cs typeface="Times New Roman"/>
              </a:rPr>
              <a:t>min_threshold</a:t>
            </a:r>
            <a:r>
              <a:rPr sz="1350" b="1" spc="380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79758C"/>
                </a:solidFill>
                <a:latin typeface="Times New Roman"/>
                <a:cs typeface="Times New Roman"/>
              </a:rPr>
              <a:t>directly</a:t>
            </a:r>
            <a:endParaRPr sz="135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spcBef>
                <a:spcPts val="810"/>
              </a:spcBef>
            </a:pP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min_threshold</a:t>
            </a:r>
            <a:r>
              <a:rPr sz="950" spc="-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is</a:t>
            </a:r>
            <a:r>
              <a:rPr sz="950" spc="2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a</a:t>
            </a:r>
            <a:r>
              <a:rPr sz="950" spc="6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79758C"/>
                </a:solidFill>
                <a:latin typeface="Times New Roman"/>
                <a:cs typeface="Times New Roman"/>
              </a:rPr>
              <a:t>discrete</a:t>
            </a:r>
            <a:r>
              <a:rPr sz="1100" i="1" spc="8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100" i="1" spc="-60" dirty="0">
                <a:solidFill>
                  <a:srgbClr val="79758C"/>
                </a:solidFill>
                <a:latin typeface="Times New Roman"/>
                <a:cs typeface="Times New Roman"/>
              </a:rPr>
              <a:t>label</a:t>
            </a:r>
            <a:r>
              <a:rPr sz="1100" i="1" spc="110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chosen</a:t>
            </a:r>
            <a:r>
              <a:rPr sz="950" spc="12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79758C"/>
                </a:solidFill>
                <a:latin typeface="Arial"/>
                <a:cs typeface="Arial"/>
              </a:rPr>
              <a:t>from</a:t>
            </a:r>
            <a:r>
              <a:rPr sz="950" spc="-1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79758C"/>
                </a:solidFill>
                <a:latin typeface="Arial"/>
                <a:cs typeface="Arial"/>
              </a:rPr>
              <a:t>a</a:t>
            </a:r>
            <a:r>
              <a:rPr sz="950" spc="-7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coarse</a:t>
            </a:r>
            <a:r>
              <a:rPr sz="950" spc="2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ladder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48963" y="2333398"/>
            <a:ext cx="3589654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4F4F4F"/>
                </a:solidFill>
                <a:latin typeface="Arial"/>
                <a:cs typeface="Arial"/>
              </a:rPr>
              <a:t>Fidelity</a:t>
            </a:r>
            <a:r>
              <a:rPr sz="1050" spc="19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F4F4F"/>
                </a:solidFill>
                <a:latin typeface="Arial"/>
                <a:cs typeface="Arial"/>
              </a:rPr>
              <a:t>vs</a:t>
            </a:r>
            <a:r>
              <a:rPr sz="1050" spc="-1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F4F4F"/>
                </a:solidFill>
                <a:latin typeface="Arial"/>
                <a:cs typeface="Arial"/>
              </a:rPr>
              <a:t>Threshold</a:t>
            </a:r>
            <a:r>
              <a:rPr sz="1050" spc="19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626262"/>
                </a:solidFill>
                <a:latin typeface="Arial"/>
                <a:cs typeface="Arial"/>
              </a:rPr>
              <a:t>(5</a:t>
            </a:r>
            <a:r>
              <a:rPr sz="1050" dirty="0">
                <a:solidFill>
                  <a:srgbClr val="383838"/>
                </a:solidFill>
                <a:latin typeface="Arial"/>
                <a:cs typeface="Arial"/>
              </a:rPr>
              <a:t>th</a:t>
            </a:r>
            <a:r>
              <a:rPr sz="1050" spc="190" dirty="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F4F4F"/>
                </a:solidFill>
                <a:latin typeface="Arial"/>
                <a:cs typeface="Arial"/>
              </a:rPr>
              <a:t>Degree</a:t>
            </a:r>
            <a:r>
              <a:rPr sz="1050" spc="8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F4F4F"/>
                </a:solidFill>
                <a:latin typeface="Arial"/>
                <a:cs typeface="Arial"/>
              </a:rPr>
              <a:t>Polynomial</a:t>
            </a:r>
            <a:r>
              <a:rPr sz="1050" spc="170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F4F4F"/>
                </a:solidFill>
                <a:latin typeface="Arial"/>
                <a:cs typeface="Arial"/>
              </a:rPr>
              <a:t>Regression)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41046" y="2597449"/>
            <a:ext cx="1962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0" dirty="0">
                <a:solidFill>
                  <a:srgbClr val="626262"/>
                </a:solidFill>
                <a:latin typeface="Times New Roman"/>
                <a:cs typeface="Times New Roman"/>
              </a:rPr>
              <a:t>l.</a:t>
            </a:r>
            <a:r>
              <a:rPr sz="900" spc="40" dirty="0">
                <a:solidFill>
                  <a:srgbClr val="79758C"/>
                </a:solidFill>
                <a:latin typeface="Times New Roman"/>
                <a:cs typeface="Times New Roman"/>
              </a:rPr>
              <a:t>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74264" y="2450607"/>
            <a:ext cx="53911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0525" algn="l"/>
              </a:tabLst>
            </a:pPr>
            <a:r>
              <a:rPr sz="2550" spc="110" dirty="0">
                <a:solidFill>
                  <a:srgbClr val="621866"/>
                </a:solidFill>
                <a:latin typeface="Arial"/>
                <a:cs typeface="Arial"/>
              </a:rPr>
              <a:t>•</a:t>
            </a:r>
            <a:r>
              <a:rPr sz="2550" dirty="0">
                <a:solidFill>
                  <a:srgbClr val="621866"/>
                </a:solidFill>
                <a:latin typeface="Arial"/>
                <a:cs typeface="Arial"/>
              </a:rPr>
              <a:t>	</a:t>
            </a:r>
            <a:r>
              <a:rPr sz="2550" spc="100" dirty="0">
                <a:solidFill>
                  <a:srgbClr val="82790E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37538" y="2417244"/>
            <a:ext cx="504825" cy="4457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93700" algn="l"/>
              </a:tabLst>
            </a:pPr>
            <a:r>
              <a:rPr sz="4125" spc="-75" baseline="-5050" dirty="0">
                <a:solidFill>
                  <a:srgbClr val="7031B1"/>
                </a:solidFill>
                <a:latin typeface="Arial"/>
                <a:cs typeface="Arial"/>
              </a:rPr>
              <a:t>•</a:t>
            </a:r>
            <a:r>
              <a:rPr sz="4125" baseline="-5050" dirty="0">
                <a:solidFill>
                  <a:srgbClr val="7031B1"/>
                </a:solidFill>
                <a:latin typeface="Arial"/>
                <a:cs typeface="Arial"/>
              </a:rPr>
              <a:t>	</a:t>
            </a:r>
            <a:r>
              <a:rPr sz="2250" spc="-50" dirty="0">
                <a:solidFill>
                  <a:srgbClr val="DF2FC1"/>
                </a:solidFill>
                <a:latin typeface="Times New Roman"/>
                <a:cs typeface="Times New Roman"/>
              </a:rPr>
              <a:t>•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0674" y="2539722"/>
            <a:ext cx="10223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b="1" spc="-15" dirty="0">
                <a:solidFill>
                  <a:srgbClr val="67AFA1"/>
                </a:solidFill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65556" y="2480898"/>
            <a:ext cx="16395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1955" algn="l"/>
                <a:tab pos="771525" algn="l"/>
                <a:tab pos="1149985" algn="l"/>
                <a:tab pos="1528445" algn="l"/>
              </a:tabLst>
            </a:pPr>
            <a:r>
              <a:rPr sz="1500" spc="-50" dirty="0">
                <a:solidFill>
                  <a:srgbClr val="CD805D"/>
                </a:solidFill>
                <a:latin typeface="Arial"/>
                <a:cs typeface="Arial"/>
              </a:rPr>
              <a:t>I</a:t>
            </a:r>
            <a:r>
              <a:rPr sz="1500" dirty="0">
                <a:solidFill>
                  <a:srgbClr val="CD805D"/>
                </a:solidFill>
                <a:latin typeface="Arial"/>
                <a:cs typeface="Arial"/>
              </a:rPr>
              <a:t>	</a:t>
            </a:r>
            <a:r>
              <a:rPr sz="3225" spc="-75" baseline="1291" dirty="0">
                <a:solidFill>
                  <a:srgbClr val="A35BA1"/>
                </a:solidFill>
                <a:latin typeface="Arial"/>
                <a:cs typeface="Arial"/>
              </a:rPr>
              <a:t>•</a:t>
            </a:r>
            <a:r>
              <a:rPr sz="3225" baseline="1291" dirty="0">
                <a:solidFill>
                  <a:srgbClr val="A35BA1"/>
                </a:solidFill>
                <a:latin typeface="Arial"/>
                <a:cs typeface="Arial"/>
              </a:rPr>
              <a:t>	</a:t>
            </a:r>
            <a:r>
              <a:rPr sz="2250" spc="-50" dirty="0">
                <a:solidFill>
                  <a:srgbClr val="A35BA1"/>
                </a:solidFill>
                <a:latin typeface="Arial"/>
                <a:cs typeface="Arial"/>
              </a:rPr>
              <a:t>•</a:t>
            </a:r>
            <a:r>
              <a:rPr sz="2250" dirty="0">
                <a:solidFill>
                  <a:srgbClr val="A35BA1"/>
                </a:solidFill>
                <a:latin typeface="Arial"/>
                <a:cs typeface="Arial"/>
              </a:rPr>
              <a:t>	</a:t>
            </a:r>
            <a:r>
              <a:rPr sz="2250" spc="-50" dirty="0">
                <a:solidFill>
                  <a:srgbClr val="A35BA1"/>
                </a:solidFill>
                <a:latin typeface="Arial"/>
                <a:cs typeface="Arial"/>
              </a:rPr>
              <a:t>•</a:t>
            </a:r>
            <a:r>
              <a:rPr sz="2250" dirty="0">
                <a:solidFill>
                  <a:srgbClr val="A35BA1"/>
                </a:solidFill>
                <a:latin typeface="Arial"/>
                <a:cs typeface="Arial"/>
              </a:rPr>
              <a:t>	</a:t>
            </a:r>
            <a:r>
              <a:rPr sz="2250" spc="-50" dirty="0">
                <a:solidFill>
                  <a:srgbClr val="A35BA1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03010" y="2591522"/>
            <a:ext cx="502284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160" algn="l"/>
              </a:tabLst>
            </a:pPr>
            <a:r>
              <a:rPr sz="2200" spc="-50" dirty="0">
                <a:solidFill>
                  <a:srgbClr val="BC797B"/>
                </a:solidFill>
                <a:latin typeface="Times New Roman"/>
                <a:cs typeface="Times New Roman"/>
              </a:rPr>
              <a:t>•</a:t>
            </a:r>
            <a:r>
              <a:rPr sz="2200" dirty="0">
                <a:solidFill>
                  <a:srgbClr val="BC797B"/>
                </a:solidFill>
                <a:latin typeface="Times New Roman"/>
                <a:cs typeface="Times New Roman"/>
              </a:rPr>
              <a:t>	</a:t>
            </a:r>
            <a:r>
              <a:rPr sz="3375" spc="-75" baseline="1234" dirty="0">
                <a:solidFill>
                  <a:srgbClr val="BC797B"/>
                </a:solidFill>
                <a:latin typeface="Arial"/>
                <a:cs typeface="Arial"/>
              </a:rPr>
              <a:t>•</a:t>
            </a:r>
            <a:endParaRPr sz="3375" baseline="1234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64075" y="2722122"/>
            <a:ext cx="920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30" dirty="0">
                <a:solidFill>
                  <a:srgbClr val="BC797B"/>
                </a:solidFill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0318" y="2555745"/>
            <a:ext cx="318706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>
              <a:lnSpc>
                <a:spcPct val="100000"/>
              </a:lnSpc>
              <a:spcBef>
                <a:spcPts val="100"/>
              </a:spcBef>
            </a:pPr>
            <a:r>
              <a:rPr sz="1600" b="1" spc="-325" dirty="0">
                <a:solidFill>
                  <a:srgbClr val="79758C"/>
                </a:solidFill>
                <a:latin typeface="Courier New"/>
                <a:cs typeface="Courier New"/>
              </a:rPr>
              <a:t>{l,2,4,8,</a:t>
            </a:r>
            <a:r>
              <a:rPr sz="1600" b="1" spc="-525" dirty="0">
                <a:solidFill>
                  <a:srgbClr val="79758C"/>
                </a:solidFill>
                <a:latin typeface="Courier New"/>
                <a:cs typeface="Courier New"/>
              </a:rPr>
              <a:t> </a:t>
            </a:r>
            <a:r>
              <a:rPr sz="1600" b="1" spc="-325" dirty="0">
                <a:solidFill>
                  <a:srgbClr val="79758C"/>
                </a:solidFill>
                <a:latin typeface="Courier New"/>
                <a:cs typeface="Courier New"/>
              </a:rPr>
              <a:t>16,32,64,</a:t>
            </a:r>
            <a:r>
              <a:rPr sz="1600" b="1" spc="-535" dirty="0">
                <a:solidFill>
                  <a:srgbClr val="79758C"/>
                </a:solidFill>
                <a:latin typeface="Courier New"/>
                <a:cs typeface="Courier New"/>
              </a:rPr>
              <a:t> </a:t>
            </a:r>
            <a:r>
              <a:rPr sz="1600" b="1" spc="-305" dirty="0">
                <a:solidFill>
                  <a:srgbClr val="79758C"/>
                </a:solidFill>
                <a:latin typeface="Courier New"/>
                <a:cs typeface="Courier New"/>
              </a:rPr>
              <a:t>128,256}</a:t>
            </a:r>
            <a:endParaRPr sz="1600">
              <a:latin typeface="Courier New"/>
              <a:cs typeface="Courier New"/>
            </a:endParaRPr>
          </a:p>
          <a:p>
            <a:pPr marL="12700" marR="5080" indent="1905">
              <a:lnSpc>
                <a:spcPct val="114599"/>
              </a:lnSpc>
              <a:spcBef>
                <a:spcPts val="870"/>
              </a:spcBef>
            </a:pPr>
            <a:r>
              <a:rPr sz="950" spc="-20" dirty="0">
                <a:solidFill>
                  <a:srgbClr val="79758C"/>
                </a:solidFill>
                <a:latin typeface="Arial"/>
                <a:cs typeface="Arial"/>
              </a:rPr>
              <a:t>Small</a:t>
            </a:r>
            <a:r>
              <a:rPr sz="950" spc="-3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79758C"/>
                </a:solidFill>
                <a:latin typeface="Arial"/>
                <a:cs typeface="Arial"/>
              </a:rPr>
              <a:t>changes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in</a:t>
            </a:r>
            <a:r>
              <a:rPr sz="950" spc="16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circuit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behavior</a:t>
            </a:r>
            <a:r>
              <a:rPr sz="950" spc="10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can</a:t>
            </a:r>
            <a:r>
              <a:rPr sz="950" spc="1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30" dirty="0">
                <a:solidFill>
                  <a:srgbClr val="79758C"/>
                </a:solidFill>
                <a:latin typeface="Arial"/>
                <a:cs typeface="Arial"/>
              </a:rPr>
              <a:t>cause</a:t>
            </a:r>
            <a:r>
              <a:rPr sz="950" spc="-4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large</a:t>
            </a:r>
            <a:r>
              <a:rPr sz="950" spc="7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jumps</a:t>
            </a:r>
            <a:r>
              <a:rPr sz="950" spc="3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79758C"/>
                </a:solidFill>
                <a:latin typeface="Arial"/>
                <a:cs typeface="Arial"/>
              </a:rPr>
              <a:t>in 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min_threshold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32593" y="3095261"/>
            <a:ext cx="2546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85" dirty="0">
                <a:solidFill>
                  <a:srgbClr val="79758C"/>
                </a:solidFill>
                <a:latin typeface="Times New Roman"/>
                <a:cs typeface="Times New Roman"/>
              </a:rPr>
              <a:t>0.8</a:t>
            </a:r>
            <a:r>
              <a:rPr sz="900" spc="85" dirty="0">
                <a:solidFill>
                  <a:srgbClr val="626262"/>
                </a:solidFill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59439" y="3089336"/>
            <a:ext cx="58737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15290" algn="l"/>
              </a:tabLst>
            </a:pPr>
            <a:r>
              <a:rPr sz="3225" spc="284" baseline="-9043" dirty="0">
                <a:solidFill>
                  <a:srgbClr val="5E5DED"/>
                </a:solidFill>
                <a:latin typeface="Arial"/>
                <a:cs typeface="Arial"/>
              </a:rPr>
              <a:t>•</a:t>
            </a:r>
            <a:r>
              <a:rPr sz="3225" baseline="-9043" dirty="0">
                <a:solidFill>
                  <a:srgbClr val="5E5DED"/>
                </a:solidFill>
                <a:latin typeface="Arial"/>
                <a:cs typeface="Arial"/>
              </a:rPr>
              <a:t>	</a:t>
            </a:r>
            <a:r>
              <a:rPr sz="2250" spc="200" dirty="0">
                <a:solidFill>
                  <a:srgbClr val="5E5DE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24642" y="3143111"/>
            <a:ext cx="1555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250" dirty="0">
                <a:solidFill>
                  <a:srgbClr val="BC797B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87092" y="2412643"/>
            <a:ext cx="169545" cy="1172845"/>
          </a:xfrm>
          <a:prstGeom prst="rect">
            <a:avLst/>
          </a:prstGeom>
        </p:spPr>
        <p:txBody>
          <a:bodyPr vert="horz" wrap="square" lIns="0" tIns="233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2550" spc="60" dirty="0">
                <a:solidFill>
                  <a:srgbClr val="F4C464"/>
                </a:solidFill>
                <a:latin typeface="Times New Roman"/>
                <a:cs typeface="Times New Roman"/>
              </a:rPr>
              <a:t>•</a:t>
            </a:r>
            <a:endParaRPr sz="25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1535"/>
              </a:spcBef>
            </a:pPr>
            <a:r>
              <a:rPr sz="2250" spc="254" dirty="0">
                <a:solidFill>
                  <a:srgbClr val="5E5DE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11389" y="2605789"/>
            <a:ext cx="166370" cy="1176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">
              <a:lnSpc>
                <a:spcPts val="2290"/>
              </a:lnSpc>
              <a:spcBef>
                <a:spcPts val="105"/>
              </a:spcBef>
            </a:pPr>
            <a:r>
              <a:rPr sz="2200" spc="-20" dirty="0">
                <a:solidFill>
                  <a:srgbClr val="AAAC66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350"/>
              </a:lnSpc>
            </a:pPr>
            <a:r>
              <a:rPr sz="2250" spc="5" dirty="0">
                <a:solidFill>
                  <a:srgbClr val="66F7F4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1714"/>
              </a:spcBef>
            </a:pPr>
            <a:r>
              <a:rPr sz="2250" spc="254" dirty="0">
                <a:solidFill>
                  <a:srgbClr val="AAAC66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38611" y="3580602"/>
            <a:ext cx="399415" cy="45910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325"/>
              </a:spcBef>
            </a:pPr>
            <a:r>
              <a:rPr sz="900" spc="-25" dirty="0">
                <a:solidFill>
                  <a:srgbClr val="626262"/>
                </a:solidFill>
                <a:latin typeface="Times New Roman"/>
                <a:cs typeface="Times New Roman"/>
              </a:rPr>
              <a:t>0</a:t>
            </a:r>
            <a:r>
              <a:rPr sz="900" spc="-25" dirty="0">
                <a:solidFill>
                  <a:srgbClr val="79758C"/>
                </a:solidFill>
                <a:latin typeface="Times New Roman"/>
                <a:cs typeface="Times New Roman"/>
              </a:rPr>
              <a:t>.</a:t>
            </a:r>
            <a:r>
              <a:rPr sz="900" spc="-25" dirty="0">
                <a:solidFill>
                  <a:srgbClr val="626262"/>
                </a:solidFill>
                <a:latin typeface="Times New Roman"/>
                <a:cs typeface="Times New Roman"/>
              </a:rPr>
              <a:t>6</a:t>
            </a:r>
            <a:endParaRPr sz="900">
              <a:latin typeface="Times New Roman"/>
              <a:cs typeface="Times New Roman"/>
            </a:endParaRPr>
          </a:p>
          <a:p>
            <a:pPr marL="38100">
              <a:lnSpc>
                <a:spcPts val="1090"/>
              </a:lnSpc>
              <a:spcBef>
                <a:spcPts val="285"/>
              </a:spcBef>
            </a:pPr>
            <a:r>
              <a:rPr sz="1200" spc="44" baseline="52083" dirty="0">
                <a:solidFill>
                  <a:srgbClr val="79758C"/>
                </a:solidFill>
                <a:latin typeface="Times New Roman"/>
                <a:cs typeface="Times New Roman"/>
              </a:rPr>
              <a:t>&gt;</a:t>
            </a:r>
            <a:r>
              <a:rPr sz="1200" spc="-1447" baseline="52083" dirty="0">
                <a:solidFill>
                  <a:srgbClr val="79758C"/>
                </a:solidFill>
                <a:latin typeface="Times New Roman"/>
                <a:cs typeface="Times New Roman"/>
              </a:rPr>
              <a:t>-</a:t>
            </a:r>
            <a:r>
              <a:rPr sz="1150" i="1" spc="150" dirty="0">
                <a:solidFill>
                  <a:srgbClr val="979797"/>
                </a:solidFill>
                <a:latin typeface="Times New Roman"/>
                <a:cs typeface="Times New Roman"/>
              </a:rPr>
              <a:t>·</a:t>
            </a:r>
            <a:r>
              <a:rPr sz="1150" i="1" spc="140" dirty="0">
                <a:solidFill>
                  <a:srgbClr val="79758C"/>
                </a:solidFill>
                <a:latin typeface="Times New Roman"/>
                <a:cs typeface="Times New Roman"/>
              </a:rPr>
              <a:t>'</a:t>
            </a:r>
            <a:r>
              <a:rPr sz="1150" i="1" spc="-375" dirty="0">
                <a:solidFill>
                  <a:srgbClr val="79758C"/>
                </a:solidFill>
                <a:latin typeface="Times New Roman"/>
                <a:cs typeface="Times New Roman"/>
              </a:rPr>
              <a:t>=</a:t>
            </a:r>
            <a:endParaRPr sz="1150">
              <a:latin typeface="Times New Roman"/>
              <a:cs typeface="Times New Roman"/>
            </a:endParaRPr>
          </a:p>
          <a:p>
            <a:pPr marL="47625">
              <a:lnSpc>
                <a:spcPts val="730"/>
              </a:lnSpc>
            </a:pPr>
            <a:r>
              <a:rPr sz="850" spc="-25" dirty="0">
                <a:solidFill>
                  <a:srgbClr val="79758C"/>
                </a:solidFill>
                <a:latin typeface="Arial"/>
                <a:cs typeface="Arial"/>
              </a:rPr>
              <a:t>Oi</a:t>
            </a:r>
            <a:endParaRPr sz="8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83493" y="3740354"/>
            <a:ext cx="12700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25" dirty="0">
                <a:solidFill>
                  <a:srgbClr val="E91F0A"/>
                </a:solidFill>
                <a:latin typeface="Arial"/>
                <a:cs typeface="Arial"/>
              </a:rPr>
              <a:t>•</a:t>
            </a:r>
            <a:endParaRPr sz="2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76009" y="3768888"/>
            <a:ext cx="12255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25" dirty="0">
                <a:solidFill>
                  <a:srgbClr val="5E5DED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0788" y="3633679"/>
            <a:ext cx="3650615" cy="52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75" dirty="0">
                <a:solidFill>
                  <a:srgbClr val="79758C"/>
                </a:solidFill>
                <a:latin typeface="Times New Roman"/>
                <a:cs typeface="Times New Roman"/>
              </a:rPr>
              <a:t>Observed</a:t>
            </a:r>
            <a:r>
              <a:rPr sz="1450" b="1" spc="114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spc="70" dirty="0">
                <a:solidFill>
                  <a:srgbClr val="79758C"/>
                </a:solidFill>
                <a:latin typeface="Times New Roman"/>
                <a:cs typeface="Times New Roman"/>
              </a:rPr>
              <a:t>structure</a:t>
            </a:r>
            <a:r>
              <a:rPr sz="1450" b="1" spc="110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79758C"/>
                </a:solidFill>
                <a:latin typeface="Times New Roman"/>
                <a:cs typeface="Times New Roman"/>
              </a:rPr>
              <a:t>in</a:t>
            </a:r>
            <a:r>
              <a:rPr sz="1450" b="1" spc="3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79758C"/>
                </a:solidFill>
                <a:latin typeface="Times New Roman"/>
                <a:cs typeface="Times New Roman"/>
              </a:rPr>
              <a:t>the</a:t>
            </a:r>
            <a:r>
              <a:rPr sz="1450" b="1" spc="38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spc="70" dirty="0">
                <a:solidFill>
                  <a:srgbClr val="79758C"/>
                </a:solidFill>
                <a:latin typeface="Times New Roman"/>
                <a:cs typeface="Times New Roman"/>
              </a:rPr>
              <a:t>data</a:t>
            </a:r>
            <a:endParaRPr sz="1450">
              <a:latin typeface="Times New Roman"/>
              <a:cs typeface="Times New Roman"/>
            </a:endParaRPr>
          </a:p>
          <a:p>
            <a:pPr marL="387985">
              <a:lnSpc>
                <a:spcPct val="100000"/>
              </a:lnSpc>
              <a:spcBef>
                <a:spcPts val="850"/>
              </a:spcBef>
            </a:pP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Fidelity </a:t>
            </a:r>
            <a:r>
              <a:rPr sz="950" spc="-20" dirty="0">
                <a:solidFill>
                  <a:srgbClr val="79758C"/>
                </a:solidFill>
                <a:latin typeface="Arial"/>
                <a:cs typeface="Arial"/>
              </a:rPr>
              <a:t>increases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79758C"/>
                </a:solidFill>
                <a:latin typeface="Times New Roman"/>
                <a:cs typeface="Times New Roman"/>
              </a:rPr>
              <a:t>smoothly</a:t>
            </a:r>
            <a:r>
              <a:rPr sz="1100" i="1" spc="-3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100" i="1" spc="-40" dirty="0">
                <a:solidFill>
                  <a:srgbClr val="79758C"/>
                </a:solidFill>
                <a:latin typeface="Times New Roman"/>
                <a:cs typeface="Times New Roman"/>
              </a:rPr>
              <a:t>and</a:t>
            </a:r>
            <a:r>
              <a:rPr sz="1100" i="1" spc="3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100" i="1" spc="-65" dirty="0">
                <a:solidFill>
                  <a:srgbClr val="79758C"/>
                </a:solidFill>
                <a:latin typeface="Times New Roman"/>
                <a:cs typeface="Times New Roman"/>
              </a:rPr>
              <a:t>monotonically</a:t>
            </a:r>
            <a:r>
              <a:rPr sz="1100" i="1" spc="60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950" spc="60" dirty="0">
                <a:solidFill>
                  <a:srgbClr val="79758C"/>
                </a:solidFill>
                <a:latin typeface="Arial"/>
                <a:cs typeface="Arial"/>
              </a:rPr>
              <a:t>with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threshold</a:t>
            </a:r>
            <a:endParaRPr sz="9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15908" y="3871172"/>
            <a:ext cx="145415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50" spc="-20" dirty="0">
                <a:solidFill>
                  <a:srgbClr val="824680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73771" y="3985309"/>
            <a:ext cx="107950" cy="18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ts val="560"/>
              </a:lnSpc>
              <a:spcBef>
                <a:spcPts val="100"/>
              </a:spcBef>
            </a:pPr>
            <a:r>
              <a:rPr sz="550" spc="-25" dirty="0">
                <a:solidFill>
                  <a:srgbClr val="626262"/>
                </a:solidFill>
                <a:latin typeface="Arial"/>
                <a:cs typeface="Arial"/>
              </a:rPr>
              <a:t>"C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ts val="680"/>
              </a:lnSpc>
            </a:pPr>
            <a:r>
              <a:rPr sz="650" spc="-25" dirty="0">
                <a:solidFill>
                  <a:srgbClr val="79758C"/>
                </a:solidFill>
                <a:latin typeface="Arial"/>
                <a:cs typeface="Arial"/>
              </a:rPr>
              <a:t>lI: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32593" y="4106689"/>
            <a:ext cx="2470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solidFill>
                  <a:srgbClr val="626262"/>
                </a:solidFill>
                <a:latin typeface="Times New Roman"/>
                <a:cs typeface="Times New Roman"/>
              </a:rPr>
              <a:t>0</a:t>
            </a:r>
            <a:r>
              <a:rPr sz="900" spc="70" dirty="0">
                <a:solidFill>
                  <a:srgbClr val="79758C"/>
                </a:solidFill>
                <a:latin typeface="Times New Roman"/>
                <a:cs typeface="Times New Roman"/>
              </a:rPr>
              <a:t>.</a:t>
            </a:r>
            <a:r>
              <a:rPr sz="900" spc="70" dirty="0">
                <a:solidFill>
                  <a:srgbClr val="626262"/>
                </a:solidFill>
                <a:latin typeface="Times New Roman"/>
                <a:cs typeface="Times New Roman"/>
              </a:rPr>
              <a:t>4</a:t>
            </a:r>
            <a:r>
              <a:rPr sz="900" spc="70" dirty="0">
                <a:solidFill>
                  <a:srgbClr val="79758C"/>
                </a:solidFill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623" y="4250458"/>
            <a:ext cx="390461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40" dirty="0">
                <a:solidFill>
                  <a:srgbClr val="79758C"/>
                </a:solidFill>
                <a:latin typeface="Arial"/>
                <a:cs typeface="Arial"/>
              </a:rPr>
              <a:t>Each</a:t>
            </a:r>
            <a:r>
              <a:rPr sz="950" spc="6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circuit</a:t>
            </a:r>
            <a:r>
              <a:rPr sz="950" spc="14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exhibits</a:t>
            </a:r>
            <a:r>
              <a:rPr sz="950" spc="15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a</a:t>
            </a:r>
            <a:r>
              <a:rPr sz="950" spc="4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clear</a:t>
            </a:r>
            <a:r>
              <a:rPr sz="950" spc="10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transition</a:t>
            </a:r>
            <a:r>
              <a:rPr sz="950" spc="5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region</a:t>
            </a:r>
            <a:r>
              <a:rPr sz="950" spc="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rather</a:t>
            </a:r>
            <a:r>
              <a:rPr sz="950" spc="21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than</a:t>
            </a:r>
            <a:r>
              <a:rPr sz="950" spc="2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a</a:t>
            </a:r>
            <a:r>
              <a:rPr sz="950" spc="5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sharp</a:t>
            </a:r>
            <a:r>
              <a:rPr sz="950" spc="229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79758C"/>
                </a:solidFill>
                <a:latin typeface="Arial"/>
                <a:cs typeface="Arial"/>
              </a:rPr>
              <a:t>jump</a:t>
            </a:r>
            <a:endParaRPr sz="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18935" y="4141808"/>
            <a:ext cx="13525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55" dirty="0">
                <a:solidFill>
                  <a:srgbClr val="F4C464"/>
                </a:solidFill>
                <a:latin typeface="Arial"/>
                <a:cs typeface="Arial"/>
              </a:rPr>
              <a:t>•</a:t>
            </a:r>
            <a:endParaRPr sz="2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5497" y="4519119"/>
            <a:ext cx="349821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This</a:t>
            </a:r>
            <a:r>
              <a:rPr sz="950" spc="9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transition</a:t>
            </a:r>
            <a:r>
              <a:rPr sz="950" spc="7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shifts</a:t>
            </a:r>
            <a:r>
              <a:rPr sz="950" spc="11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left</a:t>
            </a:r>
            <a:r>
              <a:rPr sz="950" spc="-2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79758C"/>
                </a:solidFill>
                <a:latin typeface="Arial"/>
                <a:cs typeface="Arial"/>
              </a:rPr>
              <a:t>or</a:t>
            </a:r>
            <a:r>
              <a:rPr sz="950" spc="26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right</a:t>
            </a:r>
            <a:r>
              <a:rPr sz="950" spc="9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depending</a:t>
            </a:r>
            <a:r>
              <a:rPr sz="950" spc="2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on</a:t>
            </a:r>
            <a:r>
              <a:rPr sz="950" spc="254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circuit</a:t>
            </a:r>
            <a:r>
              <a:rPr sz="950" spc="10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difficulty</a:t>
            </a:r>
            <a:endParaRPr sz="9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0911" y="3317614"/>
            <a:ext cx="130810" cy="140398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80"/>
              </a:spcBef>
            </a:pPr>
            <a:r>
              <a:rPr sz="2150" spc="245" dirty="0">
                <a:solidFill>
                  <a:srgbClr val="AAAC66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r>
              <a:rPr sz="2650" spc="-75" dirty="0">
                <a:solidFill>
                  <a:srgbClr val="BD66E8"/>
                </a:solidFill>
                <a:latin typeface="Arial"/>
                <a:cs typeface="Arial"/>
              </a:rPr>
              <a:t>•</a:t>
            </a:r>
            <a:endParaRPr sz="2650">
              <a:latin typeface="Arial"/>
              <a:cs typeface="Arial"/>
            </a:endParaRPr>
          </a:p>
          <a:p>
            <a:pPr marL="1905">
              <a:lnSpc>
                <a:spcPct val="100000"/>
              </a:lnSpc>
              <a:spcBef>
                <a:spcPts val="254"/>
              </a:spcBef>
            </a:pPr>
            <a:r>
              <a:rPr sz="2200" spc="60" dirty="0">
                <a:solidFill>
                  <a:srgbClr val="BC797B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32821" y="4634572"/>
            <a:ext cx="1771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5" dirty="0">
                <a:solidFill>
                  <a:srgbClr val="4F4F4F"/>
                </a:solidFill>
                <a:latin typeface="Times New Roman"/>
                <a:cs typeface="Times New Roman"/>
              </a:rPr>
              <a:t>0</a:t>
            </a:r>
            <a:r>
              <a:rPr sz="850" spc="-25" dirty="0">
                <a:solidFill>
                  <a:srgbClr val="79758C"/>
                </a:solidFill>
                <a:latin typeface="Times New Roman"/>
                <a:cs typeface="Times New Roman"/>
              </a:rPr>
              <a:t>.2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32593" y="5133921"/>
            <a:ext cx="1720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26262"/>
                </a:solidFill>
                <a:latin typeface="Times New Roman"/>
                <a:cs typeface="Times New Roman"/>
              </a:rPr>
              <a:t>0</a:t>
            </a:r>
            <a:r>
              <a:rPr sz="900" spc="-25" dirty="0">
                <a:solidFill>
                  <a:srgbClr val="979797"/>
                </a:solidFill>
                <a:latin typeface="Times New Roman"/>
                <a:cs typeface="Times New Roman"/>
              </a:rPr>
              <a:t>.</a:t>
            </a:r>
            <a:r>
              <a:rPr sz="900" spc="-25" dirty="0">
                <a:solidFill>
                  <a:srgbClr val="79758C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45949" y="4803583"/>
            <a:ext cx="205740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135" baseline="-24509" dirty="0">
                <a:solidFill>
                  <a:srgbClr val="9A9152"/>
                </a:solidFill>
                <a:latin typeface="Arial"/>
                <a:cs typeface="Arial"/>
              </a:rPr>
              <a:t>I</a:t>
            </a:r>
            <a:r>
              <a:rPr sz="2750" spc="-90" dirty="0">
                <a:solidFill>
                  <a:srgbClr val="9A9152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45566" y="4892916"/>
            <a:ext cx="155575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240" dirty="0">
                <a:solidFill>
                  <a:srgbClr val="BA85A1"/>
                </a:solidFill>
                <a:latin typeface="Arial"/>
                <a:cs typeface="Arial"/>
              </a:rPr>
              <a:t>•</a:t>
            </a:r>
            <a:endParaRPr sz="3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26184" y="4844847"/>
            <a:ext cx="14859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825" spc="-1439" baseline="-26143" dirty="0">
                <a:solidFill>
                  <a:srgbClr val="C4A0AF"/>
                </a:solidFill>
                <a:latin typeface="Arial"/>
                <a:cs typeface="Arial"/>
              </a:rPr>
              <a:t>•</a:t>
            </a:r>
            <a:r>
              <a:rPr sz="2200" spc="-65" dirty="0">
                <a:solidFill>
                  <a:srgbClr val="AAAC66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03468" y="5000030"/>
            <a:ext cx="129539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45" dirty="0">
                <a:solidFill>
                  <a:srgbClr val="5E5DED"/>
                </a:solidFill>
                <a:latin typeface="Times New Roman"/>
                <a:cs typeface="Times New Roman"/>
              </a:rPr>
              <a:t>•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49285" y="5095948"/>
            <a:ext cx="59372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950" spc="-45" dirty="0">
                <a:solidFill>
                  <a:srgbClr val="79758C"/>
                </a:solidFill>
                <a:latin typeface="Arial"/>
                <a:cs typeface="Arial"/>
              </a:rPr>
              <a:t>CPU/S</a:t>
            </a:r>
            <a:r>
              <a:rPr sz="950" spc="-45" dirty="0">
                <a:solidFill>
                  <a:srgbClr val="4F4F4F"/>
                </a:solidFill>
                <a:latin typeface="Arial"/>
                <a:cs typeface="Arial"/>
              </a:rPr>
              <a:t>ing</a:t>
            </a:r>
            <a:r>
              <a:rPr sz="950" spc="-45" dirty="0">
                <a:solidFill>
                  <a:srgbClr val="79758C"/>
                </a:solidFill>
                <a:latin typeface="Arial"/>
                <a:cs typeface="Arial"/>
              </a:rPr>
              <a:t>le</a:t>
            </a:r>
            <a:endParaRPr sz="950">
              <a:latin typeface="Arial"/>
              <a:cs typeface="Arial"/>
            </a:endParaRPr>
          </a:p>
          <a:p>
            <a:pPr marL="92710">
              <a:lnSpc>
                <a:spcPts val="1750"/>
              </a:lnSpc>
            </a:pPr>
            <a:r>
              <a:rPr sz="1750" spc="-45" dirty="0">
                <a:solidFill>
                  <a:srgbClr val="79758C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10962" y="5378876"/>
            <a:ext cx="857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626262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661664" y="5385241"/>
            <a:ext cx="825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0" dirty="0">
                <a:solidFill>
                  <a:srgbClr val="79758C"/>
                </a:solidFill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18839" y="5378876"/>
            <a:ext cx="857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626262"/>
                </a:solidFill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172490" y="5378876"/>
            <a:ext cx="857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626262"/>
                </a:solidFill>
                <a:latin typeface="Times New Roman"/>
                <a:cs typeface="Times New Roman"/>
              </a:rPr>
              <a:t>6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927286" y="5378876"/>
            <a:ext cx="857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0" dirty="0">
                <a:solidFill>
                  <a:srgbClr val="79758C"/>
                </a:solidFill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8061" y="5043270"/>
            <a:ext cx="4091304" cy="1235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spc="50" dirty="0">
                <a:solidFill>
                  <a:srgbClr val="79758C"/>
                </a:solidFill>
                <a:latin typeface="Times New Roman"/>
                <a:cs typeface="Times New Roman"/>
              </a:rPr>
              <a:t>Why</a:t>
            </a:r>
            <a:r>
              <a:rPr sz="1550" b="1" spc="2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79758C"/>
                </a:solidFill>
                <a:latin typeface="Times New Roman"/>
                <a:cs typeface="Times New Roman"/>
              </a:rPr>
              <a:t>fidelity</a:t>
            </a:r>
            <a:r>
              <a:rPr sz="1450" b="1" spc="114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spc="70" dirty="0">
                <a:solidFill>
                  <a:srgbClr val="79758C"/>
                </a:solidFill>
                <a:latin typeface="Times New Roman"/>
                <a:cs typeface="Times New Roman"/>
              </a:rPr>
              <a:t>mapping</a:t>
            </a:r>
            <a:r>
              <a:rPr sz="1450" b="1" spc="23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79758C"/>
                </a:solidFill>
                <a:latin typeface="Times New Roman"/>
                <a:cs typeface="Times New Roman"/>
              </a:rPr>
              <a:t>is</a:t>
            </a:r>
            <a:r>
              <a:rPr sz="1450" b="1" spc="114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450" b="1" spc="95" dirty="0">
                <a:solidFill>
                  <a:srgbClr val="79758C"/>
                </a:solidFill>
                <a:latin typeface="Times New Roman"/>
                <a:cs typeface="Times New Roman"/>
              </a:rPr>
              <a:t>better</a:t>
            </a:r>
            <a:endParaRPr sz="1450">
              <a:latin typeface="Times New Roman"/>
              <a:cs typeface="Times New Roman"/>
            </a:endParaRPr>
          </a:p>
          <a:p>
            <a:pPr marL="384810" marR="339090" indent="-1270">
              <a:lnSpc>
                <a:spcPct val="110300"/>
              </a:lnSpc>
              <a:spcBef>
                <a:spcPts val="695"/>
              </a:spcBef>
            </a:pP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Mapping</a:t>
            </a:r>
            <a:r>
              <a:rPr sz="950" spc="1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features</a:t>
            </a:r>
            <a:r>
              <a:rPr sz="950" spc="-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--.</a:t>
            </a:r>
            <a:r>
              <a:rPr sz="950" spc="46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79758C"/>
                </a:solidFill>
                <a:latin typeface="Times New Roman"/>
                <a:cs typeface="Times New Roman"/>
              </a:rPr>
              <a:t>fidelity</a:t>
            </a:r>
            <a:r>
              <a:rPr sz="1100" i="1" spc="-75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950" spc="-20" dirty="0">
                <a:solidFill>
                  <a:srgbClr val="79758C"/>
                </a:solidFill>
                <a:latin typeface="Arial"/>
                <a:cs typeface="Arial"/>
              </a:rPr>
              <a:t>curve</a:t>
            </a:r>
            <a:r>
              <a:rPr sz="950" spc="-6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79758C"/>
                </a:solidFill>
                <a:latin typeface="Times New Roman"/>
                <a:cs typeface="Times New Roman"/>
              </a:rPr>
              <a:t>shape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preserves</a:t>
            </a:r>
            <a:r>
              <a:rPr sz="950" spc="2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continuous information</a:t>
            </a:r>
            <a:endParaRPr sz="950">
              <a:latin typeface="Arial"/>
              <a:cs typeface="Arial"/>
            </a:endParaRPr>
          </a:p>
          <a:p>
            <a:pPr marL="389890" marR="5080">
              <a:lnSpc>
                <a:spcPts val="2120"/>
              </a:lnSpc>
              <a:spcBef>
                <a:spcPts val="90"/>
              </a:spcBef>
            </a:pP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The</a:t>
            </a:r>
            <a:r>
              <a:rPr sz="950" spc="16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79758C"/>
                </a:solidFill>
                <a:latin typeface="Times New Roman"/>
                <a:cs typeface="Times New Roman"/>
              </a:rPr>
              <a:t>phase</a:t>
            </a:r>
            <a:r>
              <a:rPr sz="1100" i="1" spc="-10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1100" i="1" spc="-35" dirty="0">
                <a:solidFill>
                  <a:srgbClr val="79758C"/>
                </a:solidFill>
                <a:latin typeface="Times New Roman"/>
                <a:cs typeface="Times New Roman"/>
              </a:rPr>
              <a:t>shift</a:t>
            </a:r>
            <a:r>
              <a:rPr sz="1100" i="1" spc="40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of</a:t>
            </a:r>
            <a:r>
              <a:rPr sz="950" spc="21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the</a:t>
            </a:r>
            <a:r>
              <a:rPr sz="950" spc="37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fidelity</a:t>
            </a:r>
            <a:r>
              <a:rPr sz="950" spc="6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curve</a:t>
            </a:r>
            <a:r>
              <a:rPr sz="950" spc="-2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captures</a:t>
            </a:r>
            <a:r>
              <a:rPr sz="950" spc="1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intrinsic</a:t>
            </a:r>
            <a:r>
              <a:rPr sz="950" spc="65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difficulty</a:t>
            </a:r>
            <a:r>
              <a:rPr sz="950" spc="500" dirty="0">
                <a:solidFill>
                  <a:srgbClr val="79758C"/>
                </a:solidFill>
                <a:latin typeface="Arial"/>
                <a:cs typeface="Arial"/>
              </a:rPr>
              <a:t> 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This</a:t>
            </a:r>
            <a:r>
              <a:rPr sz="950" spc="14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reduces</a:t>
            </a:r>
            <a:r>
              <a:rPr sz="950" spc="14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discretization</a:t>
            </a:r>
            <a:r>
              <a:rPr sz="950" spc="3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noise</a:t>
            </a:r>
            <a:r>
              <a:rPr sz="950" spc="7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and</a:t>
            </a:r>
            <a:r>
              <a:rPr sz="950" spc="6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improves</a:t>
            </a:r>
            <a:r>
              <a:rPr sz="950" spc="12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79758C"/>
                </a:solidFill>
                <a:latin typeface="Arial"/>
                <a:cs typeface="Arial"/>
              </a:rPr>
              <a:t>correlation</a:t>
            </a:r>
            <a:r>
              <a:rPr sz="950" spc="90" dirty="0">
                <a:solidFill>
                  <a:srgbClr val="79758C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79758C"/>
                </a:solidFill>
                <a:latin typeface="Arial"/>
                <a:cs typeface="Arial"/>
              </a:rPr>
              <a:t>analysis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303183" y="1125523"/>
            <a:ext cx="4259580" cy="8204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200" b="1" u="none" spc="-1265" dirty="0">
                <a:solidFill>
                  <a:srgbClr val="79758C"/>
                </a:solidFill>
                <a:latin typeface="Times New Roman"/>
                <a:cs typeface="Times New Roman"/>
              </a:rPr>
              <a:t>FIDELITY</a:t>
            </a:r>
            <a:r>
              <a:rPr sz="5200" b="1" u="none" spc="370" dirty="0">
                <a:solidFill>
                  <a:srgbClr val="79758C"/>
                </a:solidFill>
                <a:latin typeface="Times New Roman"/>
                <a:cs typeface="Times New Roman"/>
              </a:rPr>
              <a:t> </a:t>
            </a:r>
            <a:r>
              <a:rPr sz="5200" b="1" u="none" spc="-1260" dirty="0">
                <a:solidFill>
                  <a:srgbClr val="79758C"/>
                </a:solidFill>
                <a:latin typeface="Times New Roman"/>
                <a:cs typeface="Times New Roman"/>
              </a:rPr>
              <a:t>MAPPING</a:t>
            </a:r>
            <a:endParaRPr sz="5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2513" y="1010038"/>
            <a:ext cx="6195886" cy="57050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868" y="1183250"/>
            <a:ext cx="3396615" cy="675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250" b="1" u="none" spc="-925" dirty="0">
                <a:solidFill>
                  <a:srgbClr val="777293"/>
                </a:solidFill>
                <a:latin typeface="Times New Roman"/>
                <a:cs typeface="Times New Roman"/>
              </a:rPr>
              <a:t>LOGISTIC</a:t>
            </a:r>
            <a:r>
              <a:rPr sz="4250" b="1" u="none" spc="15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4250" b="1" u="none" spc="-965" dirty="0">
                <a:solidFill>
                  <a:srgbClr val="777293"/>
                </a:solidFill>
                <a:latin typeface="Times New Roman"/>
                <a:cs typeface="Times New Roman"/>
              </a:rPr>
              <a:t>FITTING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827" y="2323302"/>
            <a:ext cx="2598420" cy="1151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b="1" spc="135" dirty="0">
                <a:solidFill>
                  <a:srgbClr val="777293"/>
                </a:solidFill>
                <a:latin typeface="Arial"/>
                <a:cs typeface="Arial"/>
              </a:rPr>
              <a:t>Method</a:t>
            </a:r>
            <a:endParaRPr sz="1750">
              <a:latin typeface="Arial"/>
              <a:cs typeface="Arial"/>
            </a:endParaRPr>
          </a:p>
          <a:p>
            <a:pPr marL="389255" marR="5080" indent="14604">
              <a:lnSpc>
                <a:spcPct val="103699"/>
              </a:lnSpc>
              <a:spcBef>
                <a:spcPts val="915"/>
              </a:spcBef>
            </a:pPr>
            <a:r>
              <a:rPr sz="1350" spc="-10" dirty="0">
                <a:solidFill>
                  <a:srgbClr val="777293"/>
                </a:solidFill>
                <a:latin typeface="Times New Roman"/>
                <a:cs typeface="Times New Roman"/>
              </a:rPr>
              <a:t>Fit</a:t>
            </a:r>
            <a:r>
              <a:rPr sz="1350" spc="3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77293"/>
                </a:solidFill>
                <a:latin typeface="Times New Roman"/>
                <a:cs typeface="Times New Roman"/>
              </a:rPr>
              <a:t>logistic</a:t>
            </a:r>
            <a:r>
              <a:rPr sz="1350" spc="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curves</a:t>
            </a:r>
            <a:r>
              <a:rPr sz="1350" spc="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to</a:t>
            </a:r>
            <a:r>
              <a:rPr sz="1350" spc="12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fidelity</a:t>
            </a:r>
            <a:r>
              <a:rPr sz="1350" spc="3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777293"/>
                </a:solidFill>
                <a:latin typeface="Times New Roman"/>
                <a:cs typeface="Times New Roman"/>
              </a:rPr>
              <a:t>vs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threshold</a:t>
            </a:r>
            <a:r>
              <a:rPr sz="1350" spc="44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per</a:t>
            </a:r>
            <a:r>
              <a:rPr sz="1350" spc="18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77293"/>
                </a:solidFill>
                <a:latin typeface="Times New Roman"/>
                <a:cs typeface="Times New Roman"/>
              </a:rPr>
              <a:t>circuit</a:t>
            </a:r>
            <a:endParaRPr sz="135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  <a:spcBef>
                <a:spcPts val="865"/>
              </a:spcBef>
            </a:pP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Extract</a:t>
            </a:r>
            <a:r>
              <a:rPr sz="1350" spc="21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phase-shift</a:t>
            </a:r>
            <a:r>
              <a:rPr sz="1350" spc="8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77293"/>
                </a:solidFill>
                <a:latin typeface="Times New Roman"/>
                <a:cs typeface="Times New Roman"/>
              </a:rPr>
              <a:t>location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383" y="3998950"/>
            <a:ext cx="3117215" cy="151511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750" b="1" spc="45" dirty="0">
                <a:solidFill>
                  <a:srgbClr val="777293"/>
                </a:solidFill>
                <a:latin typeface="Arial"/>
                <a:cs typeface="Arial"/>
              </a:rPr>
              <a:t>Result</a:t>
            </a:r>
            <a:endParaRPr sz="1750">
              <a:latin typeface="Arial"/>
              <a:cs typeface="Arial"/>
            </a:endParaRPr>
          </a:p>
          <a:p>
            <a:pPr marL="382905" marR="413384" indent="13335">
              <a:lnSpc>
                <a:spcPct val="107500"/>
              </a:lnSpc>
              <a:spcBef>
                <a:spcPts val="795"/>
              </a:spcBef>
            </a:pP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Phase</a:t>
            </a:r>
            <a:r>
              <a:rPr sz="1350" spc="1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shift</a:t>
            </a:r>
            <a:r>
              <a:rPr sz="1350" spc="12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correlates</a:t>
            </a:r>
            <a:r>
              <a:rPr sz="1350" spc="20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77293"/>
                </a:solidFill>
                <a:latin typeface="Times New Roman"/>
                <a:cs typeface="Times New Roman"/>
              </a:rPr>
              <a:t>extremely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strongly</a:t>
            </a:r>
            <a:r>
              <a:rPr sz="1350" spc="8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with</a:t>
            </a:r>
            <a:r>
              <a:rPr sz="1350" spc="16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77293"/>
                </a:solidFill>
                <a:latin typeface="Times New Roman"/>
                <a:cs typeface="Times New Roman"/>
              </a:rPr>
              <a:t>min_threshold</a:t>
            </a:r>
            <a:endParaRPr sz="1350">
              <a:latin typeface="Times New Roman"/>
              <a:cs typeface="Times New Roman"/>
            </a:endParaRPr>
          </a:p>
          <a:p>
            <a:pPr marL="377190" marR="5080" indent="3175">
              <a:lnSpc>
                <a:spcPct val="103699"/>
              </a:lnSpc>
              <a:spcBef>
                <a:spcPts val="805"/>
              </a:spcBef>
            </a:pP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Structural</a:t>
            </a:r>
            <a:r>
              <a:rPr sz="1350" spc="27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features</a:t>
            </a:r>
            <a:r>
              <a:rPr sz="1350" spc="280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predict</a:t>
            </a:r>
            <a:r>
              <a:rPr sz="1350" spc="254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77293"/>
                </a:solidFill>
                <a:latin typeface="Times New Roman"/>
                <a:cs typeface="Times New Roman"/>
              </a:rPr>
              <a:t>phase</a:t>
            </a:r>
            <a:r>
              <a:rPr sz="1350" spc="155" dirty="0">
                <a:solidFill>
                  <a:srgbClr val="777293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77293"/>
                </a:solidFill>
                <a:latin typeface="Times New Roman"/>
                <a:cs typeface="Times New Roman"/>
              </a:rPr>
              <a:t>shift accurately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6488" y="2066713"/>
            <a:ext cx="52069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5" dirty="0">
                <a:solidFill>
                  <a:srgbClr val="6493B6"/>
                </a:solidFill>
                <a:latin typeface="Arial"/>
                <a:cs typeface="Arial"/>
              </a:rPr>
              <a:t>-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05641" y="2168560"/>
            <a:ext cx="88265" cy="0"/>
          </a:xfrm>
          <a:custGeom>
            <a:avLst/>
            <a:gdLst/>
            <a:ahLst/>
            <a:cxnLst/>
            <a:rect l="l" t="t" r="r" b="b"/>
            <a:pathLst>
              <a:path w="88265">
                <a:moveTo>
                  <a:pt x="0" y="0"/>
                </a:moveTo>
                <a:lnTo>
                  <a:pt x="88122" y="0"/>
                </a:lnTo>
              </a:path>
            </a:pathLst>
          </a:custGeom>
          <a:ln w="480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56263" y="2066713"/>
            <a:ext cx="38544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9A9A9A"/>
                </a:solidFill>
                <a:latin typeface="Arial"/>
                <a:cs typeface="Arial"/>
              </a:rPr>
              <a:t>Esomooon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92368" y="2540820"/>
            <a:ext cx="5334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20" dirty="0">
                <a:solidFill>
                  <a:srgbClr val="898787"/>
                </a:solidFill>
                <a:latin typeface="Arial"/>
                <a:cs typeface="Arial"/>
              </a:rPr>
              <a:t>-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92368" y="2256355"/>
            <a:ext cx="718185" cy="5886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00025" marR="5080" indent="-187960">
              <a:lnSpc>
                <a:spcPct val="108200"/>
              </a:lnSpc>
              <a:spcBef>
                <a:spcPts val="40"/>
              </a:spcBef>
              <a:tabLst>
                <a:tab pos="208279" algn="l"/>
              </a:tabLst>
            </a:pPr>
            <a:r>
              <a:rPr sz="600" spc="-50" dirty="0">
                <a:solidFill>
                  <a:srgbClr val="E69C5B"/>
                </a:solidFill>
                <a:latin typeface="Arial"/>
                <a:cs typeface="Arial"/>
              </a:rPr>
              <a:t>-</a:t>
            </a:r>
            <a:r>
              <a:rPr sz="600" dirty="0">
                <a:solidFill>
                  <a:srgbClr val="E69C5B"/>
                </a:solidFill>
                <a:latin typeface="Arial"/>
                <a:cs typeface="Arial"/>
              </a:rPr>
              <a:t>		</a:t>
            </a:r>
            <a:r>
              <a:rPr sz="600" b="1" spc="-10" dirty="0">
                <a:solidFill>
                  <a:srgbClr val="9A9A9A"/>
                </a:solidFill>
                <a:latin typeface="Arial"/>
                <a:cs typeface="Arial"/>
              </a:rPr>
              <a:t>Gt•phSt6te</a:t>
            </a:r>
            <a:r>
              <a:rPr sz="600" b="1" spc="50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9A9A9A"/>
                </a:solidFill>
                <a:latin typeface="Arial"/>
                <a:cs typeface="Arial"/>
              </a:rPr>
              <a:t>Ground_State</a:t>
            </a:r>
            <a:r>
              <a:rPr sz="600" b="1" spc="50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550" b="1" spc="-20" dirty="0">
                <a:solidFill>
                  <a:srgbClr val="898787"/>
                </a:solidFill>
                <a:latin typeface="Arial"/>
                <a:cs typeface="Arial"/>
              </a:rPr>
              <a:t>PtltttOllO</a:t>
            </a:r>
            <a:r>
              <a:rPr sz="550" b="1" spc="-20" dirty="0">
                <a:solidFill>
                  <a:srgbClr val="9A9A9A"/>
                </a:solidFill>
                <a:latin typeface="Arial"/>
                <a:cs typeface="Arial"/>
              </a:rPr>
              <a:t>_</a:t>
            </a:r>
            <a:r>
              <a:rPr sz="550" b="1" spc="-20" dirty="0">
                <a:solidFill>
                  <a:srgbClr val="898787"/>
                </a:solidFill>
                <a:latin typeface="Arial"/>
                <a:cs typeface="Arial"/>
              </a:rPr>
              <a:t>0A0A</a:t>
            </a:r>
            <a:r>
              <a:rPr sz="550" b="1" spc="500" dirty="0">
                <a:solidFill>
                  <a:srgbClr val="898787"/>
                </a:solidFill>
                <a:latin typeface="Arial"/>
                <a:cs typeface="Arial"/>
              </a:rPr>
              <a:t> </a:t>
            </a:r>
            <a:r>
              <a:rPr sz="600" b="1" spc="-20" dirty="0">
                <a:solidFill>
                  <a:srgbClr val="898787"/>
                </a:solidFill>
                <a:latin typeface="Arial"/>
                <a:cs typeface="Arial"/>
              </a:rPr>
              <a:t>Ptlrtfoho</a:t>
            </a:r>
            <a:r>
              <a:rPr sz="600" b="1" spc="-20" dirty="0">
                <a:solidFill>
                  <a:srgbClr val="AFAFAF"/>
                </a:solidFill>
                <a:latin typeface="Arial"/>
                <a:cs typeface="Arial"/>
              </a:rPr>
              <a:t>_</a:t>
            </a:r>
            <a:r>
              <a:rPr sz="600" b="1" spc="-20" dirty="0">
                <a:solidFill>
                  <a:srgbClr val="9A9A9A"/>
                </a:solidFill>
                <a:latin typeface="Arial"/>
                <a:cs typeface="Arial"/>
              </a:rPr>
              <a:t>VOE</a:t>
            </a:r>
            <a:r>
              <a:rPr sz="600" b="1" spc="50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9A9A9A"/>
                </a:solidFill>
                <a:latin typeface="Arial"/>
                <a:cs typeface="Arial"/>
              </a:rPr>
              <a:t>Mc•</a:t>
            </a:r>
            <a:r>
              <a:rPr sz="600" b="1" dirty="0">
                <a:solidFill>
                  <a:srgbClr val="AFAFAF"/>
                </a:solidFill>
                <a:latin typeface="Arial"/>
                <a:cs typeface="Arial"/>
              </a:rPr>
              <a:t>..</a:t>
            </a:r>
            <a:r>
              <a:rPr sz="600" b="1" dirty="0">
                <a:solidFill>
                  <a:srgbClr val="9A9A9A"/>
                </a:solidFill>
                <a:latin typeface="Arial"/>
                <a:cs typeface="Arial"/>
              </a:rPr>
              <a:t>C</a:t>
            </a:r>
            <a:r>
              <a:rPr sz="600" b="1" dirty="0">
                <a:solidFill>
                  <a:srgbClr val="AFAFAF"/>
                </a:solidFill>
                <a:latin typeface="Arial"/>
                <a:cs typeface="Arial"/>
              </a:rPr>
              <a:t>.</a:t>
            </a:r>
            <a:r>
              <a:rPr sz="600" b="1" spc="18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9A9A9A"/>
                </a:solidFill>
                <a:latin typeface="Arial"/>
                <a:cs typeface="Arial"/>
              </a:rPr>
              <a:t>ell</a:t>
            </a:r>
            <a:r>
              <a:rPr sz="600" b="1" spc="50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898787"/>
                </a:solidFill>
                <a:latin typeface="Arial"/>
                <a:cs typeface="Arial"/>
              </a:rPr>
              <a:t>()N</a:t>
            </a:r>
            <a:r>
              <a:rPr sz="500" spc="-20" dirty="0">
                <a:solidFill>
                  <a:srgbClr val="707070"/>
                </a:solidFill>
                <a:latin typeface="Arial"/>
                <a:cs typeface="Arial"/>
              </a:rPr>
              <a:t>N</a:t>
            </a:r>
            <a:endParaRPr sz="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80484" y="2928008"/>
            <a:ext cx="60515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55" dirty="0">
                <a:solidFill>
                  <a:srgbClr val="898787"/>
                </a:solidFill>
                <a:latin typeface="Arial"/>
                <a:cs typeface="Arial"/>
              </a:rPr>
              <a:t>'IWot.ocolR.ondom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0038"/>
            <a:ext cx="10078085" cy="5705475"/>
            <a:chOff x="0" y="1010038"/>
            <a:chExt cx="10078085" cy="5705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50" y="1010038"/>
              <a:ext cx="5029249" cy="568928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10038"/>
              <a:ext cx="9727565" cy="5705475"/>
            </a:xfrm>
            <a:custGeom>
              <a:avLst/>
              <a:gdLst/>
              <a:ahLst/>
              <a:cxnLst/>
              <a:rect l="l" t="t" r="r" b="b"/>
              <a:pathLst>
                <a:path w="9727565" h="5705475">
                  <a:moveTo>
                    <a:pt x="0" y="3941"/>
                  </a:moveTo>
                  <a:lnTo>
                    <a:pt x="5013434" y="3941"/>
                  </a:lnTo>
                </a:path>
                <a:path w="9727565" h="5705475">
                  <a:moveTo>
                    <a:pt x="3941" y="5691351"/>
                  </a:moveTo>
                  <a:lnTo>
                    <a:pt x="3941" y="0"/>
                  </a:lnTo>
                </a:path>
                <a:path w="9727565" h="5705475">
                  <a:moveTo>
                    <a:pt x="6779172" y="1411013"/>
                  </a:moveTo>
                  <a:lnTo>
                    <a:pt x="9727323" y="1411013"/>
                  </a:lnTo>
                </a:path>
              </a:pathLst>
            </a:custGeom>
            <a:ln w="78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959766" y="2242716"/>
              <a:ext cx="118745" cy="2631440"/>
            </a:xfrm>
            <a:custGeom>
              <a:avLst/>
              <a:gdLst/>
              <a:ahLst/>
              <a:cxnLst/>
              <a:rect l="l" t="t" r="r" b="b"/>
              <a:pathLst>
                <a:path w="118745" h="2631440">
                  <a:moveTo>
                    <a:pt x="0" y="0"/>
                  </a:moveTo>
                  <a:lnTo>
                    <a:pt x="118240" y="0"/>
                  </a:lnTo>
                  <a:lnTo>
                    <a:pt x="118240" y="2631292"/>
                  </a:lnTo>
                  <a:lnTo>
                    <a:pt x="0" y="2631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0635" y="2416555"/>
              <a:ext cx="0" cy="2038985"/>
            </a:xfrm>
            <a:custGeom>
              <a:avLst/>
              <a:gdLst/>
              <a:ahLst/>
              <a:cxnLst/>
              <a:rect l="l" t="t" r="r" b="b"/>
              <a:pathLst>
                <a:path h="2038985">
                  <a:moveTo>
                    <a:pt x="0" y="2038658"/>
                  </a:moveTo>
                  <a:lnTo>
                    <a:pt x="0" y="0"/>
                  </a:lnTo>
                </a:path>
              </a:pathLst>
            </a:custGeom>
            <a:ln w="157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27226" y="2416555"/>
              <a:ext cx="0" cy="2197100"/>
            </a:xfrm>
            <a:custGeom>
              <a:avLst/>
              <a:gdLst/>
              <a:ahLst/>
              <a:cxnLst/>
              <a:rect l="l" t="t" r="r" b="b"/>
              <a:pathLst>
                <a:path h="2197100">
                  <a:moveTo>
                    <a:pt x="0" y="2196694"/>
                  </a:moveTo>
                  <a:lnTo>
                    <a:pt x="0" y="0"/>
                  </a:lnTo>
                </a:path>
              </a:pathLst>
            </a:custGeom>
            <a:ln w="7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3529" y="1203444"/>
            <a:ext cx="4185920" cy="735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50" b="1" u="none" spc="-1185" dirty="0">
                <a:solidFill>
                  <a:srgbClr val="706990"/>
                </a:solidFill>
                <a:latin typeface="Times New Roman"/>
                <a:cs typeface="Times New Roman"/>
              </a:rPr>
              <a:t>METRIC</a:t>
            </a:r>
            <a:r>
              <a:rPr sz="4650" b="1" u="none" spc="265" dirty="0">
                <a:solidFill>
                  <a:srgbClr val="706990"/>
                </a:solidFill>
                <a:latin typeface="Times New Roman"/>
                <a:cs typeface="Times New Roman"/>
              </a:rPr>
              <a:t> </a:t>
            </a:r>
            <a:r>
              <a:rPr sz="4650" b="1" u="none" spc="-715" dirty="0">
                <a:solidFill>
                  <a:srgbClr val="706990"/>
                </a:solidFill>
                <a:latin typeface="Times New Roman"/>
                <a:cs typeface="Times New Roman"/>
              </a:rPr>
              <a:t>VlllDATION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989" y="2186337"/>
            <a:ext cx="4324985" cy="63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706990"/>
                </a:solidFill>
                <a:latin typeface="Times New Roman"/>
                <a:cs typeface="Times New Roman"/>
              </a:rPr>
              <a:t>Validation</a:t>
            </a:r>
            <a:r>
              <a:rPr sz="1150" spc="110" dirty="0">
                <a:solidFill>
                  <a:srgbClr val="706990"/>
                </a:solidFill>
                <a:latin typeface="Times New Roman"/>
                <a:cs typeface="Times New Roman"/>
              </a:rPr>
              <a:t>  </a:t>
            </a:r>
            <a:r>
              <a:rPr sz="1150" spc="-20" dirty="0">
                <a:solidFill>
                  <a:srgbClr val="7E7993"/>
                </a:solidFill>
                <a:latin typeface="Times New Roman"/>
                <a:cs typeface="Times New Roman"/>
              </a:rPr>
              <a:t>goaJ</a:t>
            </a:r>
            <a:endParaRPr sz="1150">
              <a:latin typeface="Times New Roman"/>
              <a:cs typeface="Times New Roman"/>
            </a:endParaRPr>
          </a:p>
          <a:p>
            <a:pPr marL="395605" marR="5080" indent="-5080">
              <a:lnSpc>
                <a:spcPct val="103699"/>
              </a:lnSpc>
              <a:spcBef>
                <a:spcPts val="790"/>
              </a:spcBef>
            </a:pPr>
            <a:r>
              <a:rPr sz="1050" spc="-40" dirty="0">
                <a:solidFill>
                  <a:srgbClr val="8E899E"/>
                </a:solidFill>
                <a:latin typeface="Times New Roman"/>
                <a:cs typeface="Times New Roman"/>
              </a:rPr>
              <a:t>Verify</a:t>
            </a:r>
            <a:r>
              <a:rPr sz="1050" spc="12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that</a:t>
            </a:r>
            <a:r>
              <a:rPr sz="1050" spc="5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55" dirty="0">
                <a:solidFill>
                  <a:srgbClr val="8E899E"/>
                </a:solidFill>
                <a:latin typeface="Times New Roman"/>
                <a:cs typeface="Times New Roman"/>
              </a:rPr>
              <a:t>our</a:t>
            </a:r>
            <a:r>
              <a:rPr sz="1050" spc="9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compounded</a:t>
            </a:r>
            <a:r>
              <a:rPr sz="1050" spc="22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structural</a:t>
            </a:r>
            <a:r>
              <a:rPr sz="1050" spc="16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metric</a:t>
            </a:r>
            <a:r>
              <a:rPr sz="1050" spc="4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captures</a:t>
            </a:r>
            <a:r>
              <a:rPr sz="1050" spc="13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intrinsic</a:t>
            </a:r>
            <a:r>
              <a:rPr sz="1050" spc="5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circuit </a:t>
            </a:r>
            <a:r>
              <a:rPr sz="1050" spc="-25" dirty="0">
                <a:solidFill>
                  <a:srgbClr val="8E899E"/>
                </a:solidFill>
                <a:latin typeface="Times New Roman"/>
                <a:cs typeface="Times New Roman"/>
              </a:rPr>
              <a:t>difficulty</a:t>
            </a:r>
            <a:r>
              <a:rPr sz="1050" spc="8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consistently</a:t>
            </a:r>
            <a:r>
              <a:rPr sz="1050" spc="7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across</a:t>
            </a:r>
            <a:r>
              <a:rPr sz="1050" spc="-1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different</a:t>
            </a:r>
            <a:r>
              <a:rPr sz="1050" spc="6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circuit</a:t>
            </a:r>
            <a:r>
              <a:rPr sz="1050" spc="6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types.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576" y="3076165"/>
            <a:ext cx="4235450" cy="1434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90" dirty="0">
                <a:solidFill>
                  <a:srgbClr val="706990"/>
                </a:solidFill>
                <a:latin typeface="Arial"/>
                <a:cs typeface="Arial"/>
              </a:rPr>
              <a:t>Approach</a:t>
            </a:r>
            <a:endParaRPr sz="1050">
              <a:latin typeface="Arial"/>
              <a:cs typeface="Arial"/>
            </a:endParaRPr>
          </a:p>
          <a:p>
            <a:pPr marL="393065" marR="5080">
              <a:lnSpc>
                <a:spcPct val="167900"/>
              </a:lnSpc>
              <a:spcBef>
                <a:spcPts val="65"/>
              </a:spcBef>
            </a:pP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Compare</a:t>
            </a:r>
            <a:r>
              <a:rPr sz="1050" spc="12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the</a:t>
            </a:r>
            <a:r>
              <a:rPr sz="1050" spc="9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compound</a:t>
            </a:r>
            <a:r>
              <a:rPr sz="1050" spc="16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feature</a:t>
            </a:r>
            <a:r>
              <a:rPr sz="1050" spc="13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80" dirty="0">
                <a:solidFill>
                  <a:srgbClr val="8E899E"/>
                </a:solidFill>
                <a:latin typeface="Times New Roman"/>
                <a:cs typeface="Times New Roman"/>
              </a:rPr>
              <a:t>(enta</a:t>
            </a:r>
            <a:r>
              <a:rPr sz="1050" spc="80" dirty="0">
                <a:solidFill>
                  <a:srgbClr val="706990"/>
                </a:solidFill>
                <a:latin typeface="Times New Roman"/>
                <a:cs typeface="Times New Roman"/>
              </a:rPr>
              <a:t>nglement</a:t>
            </a:r>
            <a:r>
              <a:rPr sz="1050" spc="450" dirty="0">
                <a:solidFill>
                  <a:srgbClr val="706990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706990"/>
                </a:solidFill>
                <a:latin typeface="Times New Roman"/>
                <a:cs typeface="Times New Roman"/>
              </a:rPr>
              <a:t>progress</a:t>
            </a:r>
            <a:r>
              <a:rPr sz="1050" spc="65" dirty="0">
                <a:solidFill>
                  <a:srgbClr val="8E899E"/>
                </a:solidFill>
                <a:latin typeface="Times New Roman"/>
                <a:cs typeface="Times New Roman"/>
              </a:rPr>
              <a:t>)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against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fidelity-based</a:t>
            </a:r>
            <a:r>
              <a:rPr sz="1050" spc="-3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phase-shift</a:t>
            </a:r>
            <a:r>
              <a:rPr sz="1050" spc="8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measurements</a:t>
            </a:r>
            <a:endParaRPr sz="1050">
              <a:latin typeface="Times New Roman"/>
              <a:cs typeface="Times New Roman"/>
            </a:endParaRPr>
          </a:p>
          <a:p>
            <a:pPr marL="397510">
              <a:lnSpc>
                <a:spcPct val="100000"/>
              </a:lnSpc>
              <a:spcBef>
                <a:spcPts val="855"/>
              </a:spcBef>
            </a:pP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minimum</a:t>
            </a:r>
            <a:r>
              <a:rPr sz="1050" spc="12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threshold</a:t>
            </a:r>
            <a:r>
              <a:rPr sz="1050" spc="7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outcomes</a:t>
            </a:r>
            <a:endParaRPr sz="1050">
              <a:latin typeface="Times New Roman"/>
              <a:cs typeface="Times New Roman"/>
            </a:endParaRPr>
          </a:p>
          <a:p>
            <a:pPr marL="402590" marR="158750" indent="1270">
              <a:lnSpc>
                <a:spcPct val="103699"/>
              </a:lnSpc>
              <a:spcBef>
                <a:spcPts val="805"/>
              </a:spcBef>
            </a:pPr>
            <a:r>
              <a:rPr sz="1050" spc="-20" dirty="0">
                <a:solidFill>
                  <a:srgbClr val="7E7993"/>
                </a:solidFill>
                <a:latin typeface="Times New Roman"/>
                <a:cs typeface="Times New Roman"/>
              </a:rPr>
              <a:t>Evaluate</a:t>
            </a:r>
            <a:r>
              <a:rPr sz="1050" spc="8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correlation</a:t>
            </a:r>
            <a:r>
              <a:rPr sz="1050" spc="14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across</a:t>
            </a:r>
            <a:r>
              <a:rPr sz="1050" spc="4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all</a:t>
            </a:r>
            <a:r>
              <a:rPr sz="1050" spc="254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spc="65" dirty="0">
                <a:solidFill>
                  <a:srgbClr val="7E7993"/>
                </a:solidFill>
                <a:latin typeface="Times New Roman"/>
                <a:cs typeface="Times New Roman"/>
              </a:rPr>
              <a:t>circuit</a:t>
            </a:r>
            <a:r>
              <a:rPr sz="1050" spc="25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06990"/>
                </a:solidFill>
                <a:latin typeface="Times New Roman"/>
                <a:cs typeface="Times New Roman"/>
              </a:rPr>
              <a:t>families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,</a:t>
            </a:r>
            <a:r>
              <a:rPr sz="1050" spc="7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50" dirty="0">
                <a:solidFill>
                  <a:srgbClr val="8E899E"/>
                </a:solidFill>
                <a:latin typeface="Times New Roman"/>
                <a:cs typeface="Times New Roman"/>
              </a:rPr>
              <a:t>not</a:t>
            </a:r>
            <a:r>
              <a:rPr sz="1050" spc="18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just</a:t>
            </a:r>
            <a:r>
              <a:rPr sz="1050" spc="1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individual instances.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940" y="4874480"/>
            <a:ext cx="4013835" cy="106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706990"/>
                </a:solidFill>
                <a:latin typeface="Arial"/>
                <a:cs typeface="Arial"/>
              </a:rPr>
              <a:t>Key</a:t>
            </a:r>
            <a:r>
              <a:rPr sz="1100" spc="135" dirty="0">
                <a:solidFill>
                  <a:srgbClr val="706990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706990"/>
                </a:solidFill>
                <a:latin typeface="Times New Roman"/>
                <a:cs typeface="Times New Roman"/>
              </a:rPr>
              <a:t>result</a:t>
            </a:r>
            <a:endParaRPr sz="1200">
              <a:latin typeface="Times New Roman"/>
              <a:cs typeface="Times New Roman"/>
            </a:endParaRPr>
          </a:p>
          <a:p>
            <a:pPr marL="387985" marR="29845" indent="-3810">
              <a:lnSpc>
                <a:spcPts val="1240"/>
              </a:lnSpc>
              <a:spcBef>
                <a:spcPts val="885"/>
              </a:spcBef>
            </a:pP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Strong</a:t>
            </a:r>
            <a:r>
              <a:rPr sz="1050" spc="9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correlation</a:t>
            </a:r>
            <a:r>
              <a:rPr sz="1050" spc="21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observed</a:t>
            </a:r>
            <a:r>
              <a:rPr sz="1050" spc="29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between</a:t>
            </a:r>
            <a:r>
              <a:rPr sz="1050" spc="225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the</a:t>
            </a:r>
            <a:r>
              <a:rPr sz="1050" spc="16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compound</a:t>
            </a:r>
            <a:r>
              <a:rPr sz="1050" spc="24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feature</a:t>
            </a:r>
            <a:r>
              <a:rPr sz="1050" spc="-2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spc="-25" dirty="0">
                <a:solidFill>
                  <a:srgbClr val="7E7993"/>
                </a:solidFill>
                <a:latin typeface="Times New Roman"/>
                <a:cs typeface="Times New Roman"/>
              </a:rPr>
              <a:t>and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fidelity-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derived</a:t>
            </a:r>
            <a:r>
              <a:rPr sz="1050" spc="1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25" dirty="0">
                <a:solidFill>
                  <a:srgbClr val="8E899E"/>
                </a:solidFill>
                <a:latin typeface="Times New Roman"/>
                <a:cs typeface="Times New Roman"/>
              </a:rPr>
              <a:t>difficulty</a:t>
            </a:r>
            <a:r>
              <a:rPr sz="1050" spc="8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measures.</a:t>
            </a:r>
            <a:endParaRPr sz="1050">
              <a:latin typeface="Times New Roman"/>
              <a:cs typeface="Times New Roman"/>
            </a:endParaRPr>
          </a:p>
          <a:p>
            <a:pPr marL="389255">
              <a:lnSpc>
                <a:spcPts val="1250"/>
              </a:lnSpc>
              <a:spcBef>
                <a:spcPts val="885"/>
              </a:spcBef>
            </a:pP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The</a:t>
            </a:r>
            <a:r>
              <a:rPr sz="1050" spc="19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mapping</a:t>
            </a:r>
            <a:r>
              <a:rPr sz="1050" spc="8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holds</a:t>
            </a:r>
            <a:r>
              <a:rPr sz="1050" spc="8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across</a:t>
            </a:r>
            <a:r>
              <a:rPr sz="1050" spc="-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diverse</a:t>
            </a:r>
            <a:r>
              <a:rPr sz="1050" spc="2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circuit</a:t>
            </a:r>
            <a:r>
              <a:rPr sz="1050" spc="5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classes</a:t>
            </a:r>
            <a:r>
              <a:rPr sz="1050" spc="7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8E899E"/>
                </a:solidFill>
                <a:latin typeface="Times New Roman"/>
                <a:cs typeface="Times New Roman"/>
              </a:rPr>
              <a:t>(e.g.,</a:t>
            </a:r>
            <a:r>
              <a:rPr sz="1050" spc="-10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GHZ,</a:t>
            </a:r>
            <a:r>
              <a:rPr sz="1050" spc="-10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706990"/>
                </a:solidFill>
                <a:latin typeface="Arial"/>
                <a:cs typeface="Arial"/>
              </a:rPr>
              <a:t>QFT,</a:t>
            </a:r>
            <a:endParaRPr sz="1050">
              <a:latin typeface="Arial"/>
              <a:cs typeface="Arial"/>
            </a:endParaRPr>
          </a:p>
          <a:p>
            <a:pPr marL="396240">
              <a:lnSpc>
                <a:spcPts val="1250"/>
              </a:lnSpc>
            </a:pP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Grover;</a:t>
            </a:r>
            <a:r>
              <a:rPr sz="1050" spc="-114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7E7993"/>
                </a:solidFill>
                <a:latin typeface="Times New Roman"/>
                <a:cs typeface="Times New Roman"/>
              </a:rPr>
              <a:t>QAOA),</a:t>
            </a:r>
            <a:r>
              <a:rPr sz="1050" spc="-70" dirty="0">
                <a:solidFill>
                  <a:srgbClr val="7E7993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not</a:t>
            </a:r>
            <a:r>
              <a:rPr sz="1050" spc="19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just</a:t>
            </a:r>
            <a:r>
              <a:rPr sz="1050" spc="-3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within</a:t>
            </a:r>
            <a:r>
              <a:rPr sz="1050" spc="1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8E899E"/>
                </a:solidFill>
                <a:latin typeface="Times New Roman"/>
                <a:cs typeface="Times New Roman"/>
              </a:rPr>
              <a:t>a</a:t>
            </a:r>
            <a:r>
              <a:rPr sz="1050" spc="8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20" dirty="0">
                <a:solidFill>
                  <a:srgbClr val="8E899E"/>
                </a:solidFill>
                <a:latin typeface="Times New Roman"/>
                <a:cs typeface="Times New Roman"/>
              </a:rPr>
              <a:t>single</a:t>
            </a:r>
            <a:r>
              <a:rPr sz="1050" spc="-3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1050" spc="-10" dirty="0">
                <a:solidFill>
                  <a:srgbClr val="8E899E"/>
                </a:solidFill>
                <a:latin typeface="Times New Roman"/>
                <a:cs typeface="Times New Roman"/>
              </a:rPr>
              <a:t>family.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06678" y="3247151"/>
            <a:ext cx="12192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8E899E"/>
                </a:solidFill>
                <a:latin typeface="Courier New"/>
                <a:cs typeface="Courier New"/>
              </a:rPr>
              <a:t>06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19013" y="3631046"/>
            <a:ext cx="1422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35" dirty="0">
                <a:solidFill>
                  <a:srgbClr val="8E899E"/>
                </a:solidFill>
                <a:latin typeface="Courier New"/>
                <a:cs typeface="Courier New"/>
              </a:rPr>
              <a:t>O•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25200" y="2439414"/>
            <a:ext cx="1530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E899E"/>
                </a:solidFill>
                <a:latin typeface="Courier New"/>
                <a:cs typeface="Courier New"/>
              </a:rPr>
              <a:t>LO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3290" y="4230703"/>
            <a:ext cx="14986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775" spc="-1095" baseline="-22522" dirty="0">
                <a:solidFill>
                  <a:srgbClr val="B17254"/>
                </a:solidFill>
                <a:latin typeface="Times New Roman"/>
                <a:cs typeface="Times New Roman"/>
              </a:rPr>
              <a:t>•</a:t>
            </a:r>
            <a:r>
              <a:rPr sz="1750" spc="-80" dirty="0">
                <a:solidFill>
                  <a:srgbClr val="EB6466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79711" y="4344621"/>
            <a:ext cx="9588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45" dirty="0">
                <a:solidFill>
                  <a:srgbClr val="F0C669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12653" y="2820235"/>
            <a:ext cx="16510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5" dirty="0">
                <a:solidFill>
                  <a:srgbClr val="8E899E"/>
                </a:solidFill>
                <a:latin typeface="Arial"/>
                <a:cs typeface="Arial"/>
              </a:rPr>
              <a:t>o.a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73023" y="2524138"/>
            <a:ext cx="4552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50" baseline="-31481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2250" spc="-22" baseline="-31481" dirty="0">
                <a:solidFill>
                  <a:srgbClr val="7470CA"/>
                </a:solidFill>
                <a:latin typeface="Arial"/>
                <a:cs typeface="Arial"/>
              </a:rPr>
              <a:t> </a:t>
            </a:r>
            <a:r>
              <a:rPr sz="2400" baseline="-45138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2400" spc="179" baseline="-45138" dirty="0">
                <a:solidFill>
                  <a:srgbClr val="7470CA"/>
                </a:solidFill>
                <a:latin typeface="Arial"/>
                <a:cs typeface="Arial"/>
              </a:rPr>
              <a:t> </a:t>
            </a:r>
            <a:r>
              <a:rPr sz="2100" spc="-345" baseline="-49603" dirty="0">
                <a:solidFill>
                  <a:srgbClr val="7470CA"/>
                </a:solidFill>
                <a:latin typeface="Arial"/>
                <a:cs typeface="Arial"/>
              </a:rPr>
              <a:t>"</a:t>
            </a:r>
            <a:r>
              <a:rPr sz="2100" spc="-225" baseline="-49603" dirty="0">
                <a:solidFill>
                  <a:srgbClr val="7470CA"/>
                </a:solidFill>
                <a:latin typeface="Arial"/>
                <a:cs typeface="Arial"/>
              </a:rPr>
              <a:t> </a:t>
            </a:r>
            <a:r>
              <a:rPr sz="1250" spc="-80" dirty="0">
                <a:solidFill>
                  <a:srgbClr val="7470CA"/>
                </a:solidFill>
                <a:latin typeface="Arial"/>
                <a:cs typeface="Arial"/>
              </a:rPr>
              <a:t>,,-</a:t>
            </a:r>
            <a:endParaRPr sz="1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68252" y="2753290"/>
            <a:ext cx="57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0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5004" y="2824406"/>
            <a:ext cx="57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0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47879" y="2876426"/>
            <a:ext cx="6032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15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endParaRPr sz="1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35431" y="2577256"/>
            <a:ext cx="106680" cy="652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100" spc="-505" dirty="0">
                <a:solidFill>
                  <a:srgbClr val="605EE4"/>
                </a:solidFill>
                <a:latin typeface="Arial"/>
                <a:cs typeface="Arial"/>
              </a:rPr>
              <a:t>.</a:t>
            </a:r>
            <a:endParaRPr sz="4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41485" y="2982003"/>
            <a:ext cx="23495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-175" dirty="0">
                <a:solidFill>
                  <a:srgbClr val="EB6466"/>
                </a:solidFill>
                <a:latin typeface="Arial"/>
                <a:cs typeface="Arial"/>
              </a:rPr>
              <a:t>.</a:t>
            </a:r>
            <a:r>
              <a:rPr sz="2775" spc="-262" baseline="-16516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2100" spc="-175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2625" spc="-262" baseline="19047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endParaRPr sz="2625" baseline="19047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35884" y="3176035"/>
            <a:ext cx="682625" cy="682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spc="277" baseline="-50347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6450" spc="-157" baseline="-23901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1400" spc="-405" dirty="0">
                <a:solidFill>
                  <a:srgbClr val="E63131"/>
                </a:solidFill>
                <a:latin typeface="Times New Roman"/>
                <a:cs typeface="Times New Roman"/>
              </a:rPr>
              <a:t>•</a:t>
            </a:r>
            <a:r>
              <a:rPr sz="2625" spc="-577" baseline="-26984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6450" spc="-1275" baseline="-23901" dirty="0">
                <a:solidFill>
                  <a:srgbClr val="EB6466"/>
                </a:solidFill>
                <a:latin typeface="Arial"/>
                <a:cs typeface="Arial"/>
              </a:rPr>
              <a:t>.</a:t>
            </a:r>
            <a:r>
              <a:rPr sz="2625" spc="-375" baseline="-9523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1400" spc="50" dirty="0">
                <a:solidFill>
                  <a:srgbClr val="7470CA"/>
                </a:solidFill>
                <a:latin typeface="Times New Roman"/>
                <a:cs typeface="Times New Roman"/>
              </a:rPr>
              <a:t>/</a:t>
            </a:r>
            <a:r>
              <a:rPr sz="1400" spc="150" dirty="0">
                <a:solidFill>
                  <a:srgbClr val="7470CA"/>
                </a:solidFill>
                <a:latin typeface="Times New Roman"/>
                <a:cs typeface="Times New Roman"/>
              </a:rPr>
              <a:t>  </a:t>
            </a:r>
            <a:r>
              <a:rPr sz="1950" spc="175" dirty="0">
                <a:solidFill>
                  <a:srgbClr val="8046AC"/>
                </a:solidFill>
                <a:latin typeface="Arial"/>
                <a:cs typeface="Arial"/>
              </a:rPr>
              <a:t>:</a:t>
            </a:r>
            <a:endParaRPr sz="1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75365" y="4023501"/>
            <a:ext cx="17843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40" dirty="0">
                <a:solidFill>
                  <a:srgbClr val="7470CA"/>
                </a:solidFill>
                <a:latin typeface="Arial"/>
                <a:cs typeface="Arial"/>
              </a:rPr>
              <a:t>,,</a:t>
            </a:r>
            <a:r>
              <a:rPr sz="2050" spc="-140" dirty="0">
                <a:solidFill>
                  <a:srgbClr val="7470CA"/>
                </a:solidFill>
                <a:latin typeface="Times New Roman"/>
                <a:cs typeface="Times New Roman"/>
              </a:rPr>
              <a:t>..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34933" y="3756157"/>
            <a:ext cx="600710" cy="659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4150" spc="-25" dirty="0">
                <a:solidFill>
                  <a:srgbClr val="EB6466"/>
                </a:solidFill>
                <a:latin typeface="Arial"/>
                <a:cs typeface="Arial"/>
              </a:rPr>
              <a:t>.</a:t>
            </a:r>
            <a:r>
              <a:rPr sz="2400" spc="-37" baseline="32986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2400" spc="-37" baseline="46875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3700" spc="-25" dirty="0">
                <a:solidFill>
                  <a:srgbClr val="EF7B4B"/>
                </a:solidFill>
                <a:latin typeface="Arial"/>
                <a:cs typeface="Arial"/>
              </a:rPr>
              <a:t>,</a:t>
            </a:r>
            <a:r>
              <a:rPr sz="3700" spc="-320" dirty="0">
                <a:solidFill>
                  <a:srgbClr val="EF7B4B"/>
                </a:solidFill>
                <a:latin typeface="Arial"/>
                <a:cs typeface="Arial"/>
              </a:rPr>
              <a:t> </a:t>
            </a:r>
            <a:r>
              <a:rPr sz="2400" spc="-75" baseline="67708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endParaRPr sz="2400" baseline="67708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66366" y="3811032"/>
            <a:ext cx="242570" cy="735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650" spc="-340" dirty="0">
                <a:solidFill>
                  <a:srgbClr val="B52B59"/>
                </a:solidFill>
                <a:latin typeface="Times New Roman"/>
                <a:cs typeface="Times New Roman"/>
              </a:rPr>
              <a:t>.</a:t>
            </a:r>
            <a:r>
              <a:rPr sz="3450" spc="-340" dirty="0">
                <a:solidFill>
                  <a:srgbClr val="7470CA"/>
                </a:solidFill>
                <a:latin typeface="Times New Roman"/>
                <a:cs typeface="Times New Roman"/>
              </a:rPr>
              <a:t>-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83053" y="4131053"/>
            <a:ext cx="421640" cy="59880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  <a:tabLst>
                <a:tab pos="310515" algn="l"/>
              </a:tabLst>
            </a:pPr>
            <a:r>
              <a:rPr sz="3750" spc="-615" dirty="0">
                <a:solidFill>
                  <a:srgbClr val="E63131"/>
                </a:solidFill>
                <a:latin typeface="Arial"/>
                <a:cs typeface="Arial"/>
              </a:rPr>
              <a:t>•</a:t>
            </a:r>
            <a:r>
              <a:rPr sz="3750" dirty="0">
                <a:solidFill>
                  <a:srgbClr val="E63131"/>
                </a:solidFill>
                <a:latin typeface="Arial"/>
                <a:cs typeface="Arial"/>
              </a:rPr>
              <a:t>	</a:t>
            </a:r>
            <a:r>
              <a:rPr sz="2750" spc="-145" dirty="0">
                <a:solidFill>
                  <a:srgbClr val="CD624B"/>
                </a:solidFill>
                <a:latin typeface="Arial"/>
                <a:cs typeface="Arial"/>
              </a:rPr>
              <a:t>•</a:t>
            </a:r>
            <a:endParaRPr sz="27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43241" y="2092174"/>
            <a:ext cx="161861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29565" algn="l"/>
              </a:tabLst>
            </a:pPr>
            <a:r>
              <a:rPr sz="1800" spc="-75" baseline="2314" dirty="0">
                <a:solidFill>
                  <a:srgbClr val="A53372"/>
                </a:solidFill>
                <a:latin typeface="Arial"/>
                <a:cs typeface="Arial"/>
              </a:rPr>
              <a:t>I</a:t>
            </a:r>
            <a:r>
              <a:rPr sz="1800" baseline="2314" dirty="0">
                <a:solidFill>
                  <a:srgbClr val="A53372"/>
                </a:solidFill>
                <a:latin typeface="Arial"/>
                <a:cs typeface="Arial"/>
              </a:rPr>
              <a:t>	</a:t>
            </a:r>
            <a:r>
              <a:rPr sz="1200" dirty="0">
                <a:solidFill>
                  <a:srgbClr val="A37489"/>
                </a:solidFill>
                <a:latin typeface="Arial"/>
                <a:cs typeface="Arial"/>
              </a:rPr>
              <a:t>I</a:t>
            </a:r>
            <a:r>
              <a:rPr sz="1200" spc="25" dirty="0">
                <a:solidFill>
                  <a:srgbClr val="A37489"/>
                </a:solidFill>
                <a:latin typeface="Arial"/>
                <a:cs typeface="Arial"/>
              </a:rPr>
              <a:t> </a:t>
            </a:r>
            <a:r>
              <a:rPr sz="5175" spc="-780" baseline="-12882" dirty="0">
                <a:solidFill>
                  <a:srgbClr val="7470CA"/>
                </a:solidFill>
                <a:latin typeface="Times New Roman"/>
                <a:cs typeface="Times New Roman"/>
              </a:rPr>
              <a:t>-</a:t>
            </a:r>
            <a:r>
              <a:rPr sz="5175" spc="-705" baseline="-12882" dirty="0">
                <a:solidFill>
                  <a:srgbClr val="7470CA"/>
                </a:solidFill>
                <a:latin typeface="Times New Roman"/>
                <a:cs typeface="Times New Roman"/>
              </a:rPr>
              <a:t>-</a:t>
            </a:r>
            <a:r>
              <a:rPr sz="1200" spc="-215" dirty="0">
                <a:solidFill>
                  <a:srgbClr val="C36B8C"/>
                </a:solidFill>
                <a:latin typeface="Arial"/>
                <a:cs typeface="Arial"/>
              </a:rPr>
              <a:t>:</a:t>
            </a:r>
            <a:r>
              <a:rPr sz="6000" spc="-322" baseline="-11111" dirty="0">
                <a:solidFill>
                  <a:srgbClr val="7E7993"/>
                </a:solidFill>
                <a:latin typeface="Times New Roman"/>
                <a:cs typeface="Times New Roman"/>
              </a:rPr>
              <a:t>.</a:t>
            </a:r>
            <a:r>
              <a:rPr sz="1200" spc="-215" dirty="0">
                <a:solidFill>
                  <a:srgbClr val="7470CA"/>
                </a:solidFill>
                <a:latin typeface="Arial"/>
                <a:cs typeface="Arial"/>
              </a:rPr>
              <a:t>-</a:t>
            </a:r>
            <a:r>
              <a:rPr sz="1200" spc="210" dirty="0">
                <a:solidFill>
                  <a:srgbClr val="7470CA"/>
                </a:solidFill>
                <a:latin typeface="Arial"/>
                <a:cs typeface="Arial"/>
              </a:rPr>
              <a:t>--</a:t>
            </a:r>
            <a:r>
              <a:rPr sz="1200" spc="215" dirty="0">
                <a:solidFill>
                  <a:srgbClr val="BA4F79"/>
                </a:solidFill>
                <a:latin typeface="Arial"/>
                <a:cs typeface="Arial"/>
              </a:rPr>
              <a:t>•</a:t>
            </a:r>
            <a:r>
              <a:rPr sz="1200" spc="215" dirty="0">
                <a:solidFill>
                  <a:srgbClr val="7470CA"/>
                </a:solidFill>
                <a:latin typeface="Arial"/>
                <a:cs typeface="Arial"/>
              </a:rPr>
              <a:t>-</a:t>
            </a:r>
            <a:r>
              <a:rPr sz="1200" spc="210" dirty="0">
                <a:solidFill>
                  <a:srgbClr val="605EE4"/>
                </a:solidFill>
                <a:latin typeface="Arial"/>
                <a:cs typeface="Arial"/>
              </a:rPr>
              <a:t>-</a:t>
            </a:r>
            <a:r>
              <a:rPr sz="1200" spc="210" dirty="0">
                <a:solidFill>
                  <a:srgbClr val="905DAE"/>
                </a:solidFill>
                <a:latin typeface="Arial"/>
                <a:cs typeface="Arial"/>
              </a:rPr>
              <a:t>-</a:t>
            </a:r>
            <a:r>
              <a:rPr sz="1200" spc="195" dirty="0">
                <a:solidFill>
                  <a:srgbClr val="905DAE"/>
                </a:solidFill>
                <a:latin typeface="Arial"/>
                <a:cs typeface="Arial"/>
              </a:rPr>
              <a:t>:-</a:t>
            </a:r>
            <a:r>
              <a:rPr sz="1200" spc="210" dirty="0">
                <a:solidFill>
                  <a:srgbClr val="625EAC"/>
                </a:solidFill>
                <a:latin typeface="Arial"/>
                <a:cs typeface="Arial"/>
              </a:rPr>
              <a:t>-</a:t>
            </a:r>
            <a:r>
              <a:rPr sz="1200" spc="210" dirty="0">
                <a:solidFill>
                  <a:srgbClr val="7470CA"/>
                </a:solidFill>
                <a:latin typeface="Arial"/>
                <a:cs typeface="Arial"/>
              </a:rPr>
              <a:t>-</a:t>
            </a:r>
            <a:r>
              <a:rPr sz="1200" spc="125" dirty="0">
                <a:solidFill>
                  <a:srgbClr val="905DAE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77293" y="2348324"/>
            <a:ext cx="12509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60" dirty="0">
                <a:solidFill>
                  <a:srgbClr val="E63131"/>
                </a:solidFill>
                <a:latin typeface="Times New Roman"/>
                <a:cs typeface="Times New Roman"/>
              </a:rPr>
              <a:t>•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71493" y="2471898"/>
            <a:ext cx="11557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0">
              <a:lnSpc>
                <a:spcPts val="1739"/>
              </a:lnSpc>
              <a:spcBef>
                <a:spcPts val="105"/>
              </a:spcBef>
            </a:pPr>
            <a:r>
              <a:rPr sz="1700" spc="45" dirty="0">
                <a:solidFill>
                  <a:srgbClr val="EB6466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800"/>
              </a:lnSpc>
            </a:pPr>
            <a:r>
              <a:rPr sz="1750" spc="55" dirty="0">
                <a:solidFill>
                  <a:srgbClr val="EB6466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78799" y="2351616"/>
            <a:ext cx="118110" cy="777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50" dirty="0">
                <a:solidFill>
                  <a:srgbClr val="E20E0F"/>
                </a:solidFill>
                <a:latin typeface="Times New Roman"/>
                <a:cs typeface="Times New Roman"/>
              </a:rPr>
              <a:t>•</a:t>
            </a:r>
            <a:endParaRPr sz="190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1590"/>
              </a:spcBef>
            </a:pPr>
            <a:r>
              <a:rPr sz="1700" spc="50" dirty="0">
                <a:solidFill>
                  <a:srgbClr val="EB6466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86614" y="2348324"/>
            <a:ext cx="124460" cy="819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55" dirty="0">
                <a:solidFill>
                  <a:srgbClr val="E63131"/>
                </a:solidFill>
                <a:latin typeface="Arial"/>
                <a:cs typeface="Arial"/>
              </a:rPr>
              <a:t>•</a:t>
            </a:r>
            <a:endParaRPr sz="20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745"/>
              </a:spcBef>
            </a:pPr>
            <a:r>
              <a:rPr sz="1700" spc="50" dirty="0">
                <a:solidFill>
                  <a:srgbClr val="EB6466"/>
                </a:solidFill>
                <a:latin typeface="Times New Roman"/>
                <a:cs typeface="Times New Roman"/>
              </a:rPr>
              <a:t>•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53895" y="2884328"/>
            <a:ext cx="110489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55" dirty="0">
                <a:solidFill>
                  <a:srgbClr val="605EE4"/>
                </a:solidFill>
                <a:latin typeface="Arial"/>
                <a:cs typeface="Arial"/>
              </a:rPr>
              <a:t>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54338" y="3105577"/>
            <a:ext cx="436245" cy="42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3180" algn="r">
              <a:lnSpc>
                <a:spcPts val="1530"/>
              </a:lnSpc>
              <a:spcBef>
                <a:spcPts val="105"/>
              </a:spcBef>
              <a:tabLst>
                <a:tab pos="276860" algn="l"/>
              </a:tabLst>
            </a:pPr>
            <a:r>
              <a:rPr sz="1700" spc="-50" dirty="0">
                <a:solidFill>
                  <a:srgbClr val="EB6466"/>
                </a:solidFill>
                <a:latin typeface="Times New Roman"/>
                <a:cs typeface="Times New Roman"/>
              </a:rPr>
              <a:t>•</a:t>
            </a:r>
            <a:r>
              <a:rPr sz="1700" dirty="0">
                <a:solidFill>
                  <a:srgbClr val="EB6466"/>
                </a:solidFill>
                <a:latin typeface="Times New Roman"/>
                <a:cs typeface="Times New Roman"/>
              </a:rPr>
              <a:t>	</a:t>
            </a:r>
            <a:r>
              <a:rPr sz="2625" spc="7" baseline="-15873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endParaRPr sz="2625" baseline="-15873">
              <a:latin typeface="Arial"/>
              <a:cs typeface="Arial"/>
            </a:endParaRPr>
          </a:p>
          <a:p>
            <a:pPr marR="112395" algn="r">
              <a:lnSpc>
                <a:spcPts val="1650"/>
              </a:lnSpc>
            </a:pPr>
            <a:r>
              <a:rPr sz="2775" spc="-37" baseline="-18018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r>
              <a:rPr sz="1750" spc="-25" dirty="0">
                <a:solidFill>
                  <a:srgbClr val="7470CA"/>
                </a:solidFill>
                <a:latin typeface="Arial"/>
                <a:cs typeface="Arial"/>
              </a:rPr>
              <a:t>,</a:t>
            </a:r>
            <a:endParaRPr sz="17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87140" y="3339338"/>
            <a:ext cx="11747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55" dirty="0">
                <a:solidFill>
                  <a:srgbClr val="E20E0F"/>
                </a:solidFill>
                <a:latin typeface="Times New Roman"/>
                <a:cs typeface="Times New Roman"/>
              </a:rPr>
              <a:t>•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362599" y="3364800"/>
            <a:ext cx="1079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50" dirty="0">
                <a:solidFill>
                  <a:srgbClr val="605EE4"/>
                </a:solidFill>
                <a:latin typeface="Times New Roman"/>
                <a:cs typeface="Times New Roman"/>
              </a:rPr>
              <a:t>•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21088" y="4038866"/>
            <a:ext cx="1466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8E899E"/>
                </a:solidFill>
                <a:latin typeface="Times New Roman"/>
                <a:cs typeface="Times New Roman"/>
              </a:rPr>
              <a:t>0</a:t>
            </a:r>
            <a:r>
              <a:rPr sz="750" spc="-25" dirty="0">
                <a:solidFill>
                  <a:srgbClr val="AAAAAA"/>
                </a:solidFill>
                <a:latin typeface="Times New Roman"/>
                <a:cs typeface="Times New Roman"/>
              </a:rPr>
              <a:t>.</a:t>
            </a:r>
            <a:r>
              <a:rPr sz="750" spc="-25" dirty="0">
                <a:solidFill>
                  <a:srgbClr val="8E899E"/>
                </a:solidFill>
                <a:latin typeface="Times New Roman"/>
                <a:cs typeface="Times New Roman"/>
              </a:rPr>
              <a:t>2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70913" y="4147076"/>
            <a:ext cx="1022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5" dirty="0">
                <a:solidFill>
                  <a:srgbClr val="F0C669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44247" y="4290187"/>
            <a:ext cx="1127760" cy="25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175895">
              <a:lnSpc>
                <a:spcPct val="100000"/>
              </a:lnSpc>
              <a:spcBef>
                <a:spcPts val="100"/>
              </a:spcBef>
              <a:buClr>
                <a:srgbClr val="605EE4"/>
              </a:buClr>
              <a:buChar char="•"/>
              <a:tabLst>
                <a:tab pos="241300" algn="l"/>
                <a:tab pos="241935" algn="l"/>
              </a:tabLst>
            </a:pPr>
            <a:r>
              <a:rPr sz="700" spc="-10" dirty="0">
                <a:solidFill>
                  <a:srgbClr val="8E899E"/>
                </a:solidFill>
                <a:latin typeface="Times New Roman"/>
                <a:cs typeface="Times New Roman"/>
              </a:rPr>
              <a:t>O'IJ/S1ngle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00" dirty="0">
                <a:solidFill>
                  <a:srgbClr val="7470CA"/>
                </a:solidFill>
                <a:latin typeface="Times New Roman"/>
                <a:cs typeface="Times New Roman"/>
              </a:rPr>
              <a:t>-</a:t>
            </a:r>
            <a:r>
              <a:rPr sz="700" spc="310" dirty="0">
                <a:solidFill>
                  <a:srgbClr val="7470CA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7470CA"/>
                </a:solidFill>
                <a:latin typeface="Times New Roman"/>
                <a:cs typeface="Times New Roman"/>
              </a:rPr>
              <a:t>-</a:t>
            </a:r>
            <a:r>
              <a:rPr sz="700" spc="350" dirty="0">
                <a:solidFill>
                  <a:srgbClr val="7470CA"/>
                </a:solidFill>
                <a:latin typeface="Times New Roman"/>
                <a:cs typeface="Times New Roman"/>
              </a:rPr>
              <a:t>  </a:t>
            </a:r>
            <a:r>
              <a:rPr sz="700" dirty="0">
                <a:solidFill>
                  <a:srgbClr val="8E899E"/>
                </a:solidFill>
                <a:latin typeface="Times New Roman"/>
                <a:cs typeface="Times New Roman"/>
              </a:rPr>
              <a:t>CPU/Single</a:t>
            </a:r>
            <a:r>
              <a:rPr sz="700" spc="10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8E899E"/>
                </a:solidFill>
                <a:latin typeface="Times New Roman"/>
                <a:cs typeface="Times New Roman"/>
              </a:rPr>
              <a:t>logtStK</a:t>
            </a:r>
            <a:r>
              <a:rPr sz="700" spc="-5" dirty="0">
                <a:solidFill>
                  <a:srgbClr val="8E899E"/>
                </a:solidFill>
                <a:latin typeface="Times New Roman"/>
                <a:cs typeface="Times New Roman"/>
              </a:rPr>
              <a:t> </a:t>
            </a:r>
            <a:r>
              <a:rPr sz="750" spc="-25" dirty="0">
                <a:solidFill>
                  <a:srgbClr val="8E899E"/>
                </a:solidFill>
                <a:latin typeface="Times New Roman"/>
                <a:cs typeface="Times New Roman"/>
              </a:rPr>
              <a:t>lit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03485" y="1010038"/>
            <a:ext cx="5455285" cy="5689600"/>
            <a:chOff x="4603485" y="1010038"/>
            <a:chExt cx="5455285" cy="568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3485" y="1010038"/>
              <a:ext cx="5454914" cy="56892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6145" y="2132092"/>
              <a:ext cx="3752254" cy="9798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34509" y="1085575"/>
            <a:ext cx="2764790" cy="8966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00" b="1" u="none" spc="-1525" dirty="0">
                <a:solidFill>
                  <a:srgbClr val="6B6491"/>
                </a:solidFill>
                <a:latin typeface="Times New Roman"/>
                <a:cs typeface="Times New Roman"/>
              </a:rPr>
              <a:t>EVOLUTION</a:t>
            </a:r>
            <a:endParaRPr sz="5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7642" y="3645574"/>
            <a:ext cx="2549525" cy="147320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150" b="1" spc="-245" dirty="0">
                <a:solidFill>
                  <a:srgbClr val="6B6491"/>
                </a:solidFill>
                <a:latin typeface="Arial"/>
                <a:cs typeface="Arial"/>
              </a:rPr>
              <a:t>Stage</a:t>
            </a:r>
            <a:r>
              <a:rPr sz="2150" b="1" spc="-265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6B6491"/>
                </a:solidFill>
                <a:latin typeface="Arial"/>
                <a:cs typeface="Arial"/>
              </a:rPr>
              <a:t>2-</a:t>
            </a:r>
            <a:r>
              <a:rPr sz="2150" b="1" spc="120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150" b="1" spc="-320" dirty="0">
                <a:solidFill>
                  <a:srgbClr val="6B6491"/>
                </a:solidFill>
                <a:latin typeface="Arial"/>
                <a:cs typeface="Arial"/>
              </a:rPr>
              <a:t>Random</a:t>
            </a:r>
            <a:r>
              <a:rPr sz="2150" b="1" spc="-370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150" b="1" spc="-200" dirty="0">
                <a:solidFill>
                  <a:srgbClr val="6B6491"/>
                </a:solidFill>
                <a:latin typeface="Arial"/>
                <a:cs typeface="Arial"/>
              </a:rPr>
              <a:t>Forest</a:t>
            </a:r>
            <a:endParaRPr sz="2150">
              <a:latin typeface="Arial"/>
              <a:cs typeface="Arial"/>
            </a:endParaRPr>
          </a:p>
          <a:p>
            <a:pPr marL="405130">
              <a:lnSpc>
                <a:spcPct val="100000"/>
              </a:lnSpc>
              <a:spcBef>
                <a:spcPts val="830"/>
              </a:spcBef>
              <a:tabLst>
                <a:tab pos="641985" algn="l"/>
              </a:tabLst>
            </a:pPr>
            <a:r>
              <a:rPr sz="1350" spc="-434" dirty="0">
                <a:solidFill>
                  <a:srgbClr val="7E7995"/>
                </a:solidFill>
                <a:latin typeface="Times New Roman"/>
                <a:cs typeface="Times New Roman"/>
              </a:rPr>
              <a:t>D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	</a:t>
            </a:r>
            <a:r>
              <a:rPr sz="1350" spc="-40" dirty="0">
                <a:solidFill>
                  <a:srgbClr val="6B6491"/>
                </a:solidFill>
                <a:latin typeface="Times New Roman"/>
                <a:cs typeface="Times New Roman"/>
              </a:rPr>
              <a:t>Minimal</a:t>
            </a:r>
            <a:r>
              <a:rPr sz="1350" spc="135" dirty="0">
                <a:solidFill>
                  <a:srgbClr val="6B6491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baseline</a:t>
            </a:r>
            <a:r>
              <a:rPr sz="1350" spc="-60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version</a:t>
            </a:r>
            <a:endParaRPr sz="1350">
              <a:latin typeface="Times New Roman"/>
              <a:cs typeface="Times New Roman"/>
            </a:endParaRPr>
          </a:p>
          <a:p>
            <a:pPr marL="405130" marR="208279">
              <a:lnSpc>
                <a:spcPct val="153600"/>
              </a:lnSpc>
              <a:spcBef>
                <a:spcPts val="65"/>
              </a:spcBef>
            </a:pP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D</a:t>
            </a:r>
            <a:r>
              <a:rPr sz="1350" spc="175" dirty="0">
                <a:solidFill>
                  <a:srgbClr val="7E7995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Captures</a:t>
            </a:r>
            <a:r>
              <a:rPr sz="1350" spc="235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nonlinearities 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D</a:t>
            </a:r>
            <a:r>
              <a:rPr sz="1350" spc="100" dirty="0">
                <a:solidFill>
                  <a:srgbClr val="7E7995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6B6491"/>
                </a:solidFill>
                <a:latin typeface="Times New Roman"/>
                <a:cs typeface="Times New Roman"/>
              </a:rPr>
              <a:t>Improved</a:t>
            </a:r>
            <a:r>
              <a:rPr sz="1350" spc="140" dirty="0">
                <a:solidFill>
                  <a:srgbClr val="6B6491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6B6491"/>
                </a:solidFill>
                <a:latin typeface="Times New Roman"/>
                <a:cs typeface="Times New Roman"/>
              </a:rPr>
              <a:t>robustness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2708" y="2171631"/>
            <a:ext cx="254698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0" dirty="0">
                <a:solidFill>
                  <a:srgbClr val="242324"/>
                </a:solidFill>
                <a:latin typeface="Times New Roman"/>
                <a:cs typeface="Times New Roman"/>
              </a:rPr>
              <a:t>Random </a:t>
            </a:r>
            <a:r>
              <a:rPr sz="1700" spc="75" dirty="0">
                <a:solidFill>
                  <a:srgbClr val="444244"/>
                </a:solidFill>
                <a:latin typeface="Times New Roman"/>
                <a:cs typeface="Times New Roman"/>
              </a:rPr>
              <a:t>Fo</a:t>
            </a:r>
            <a:r>
              <a:rPr sz="1700" spc="75" dirty="0">
                <a:solidFill>
                  <a:srgbClr val="242324"/>
                </a:solidFill>
                <a:latin typeface="Times New Roman"/>
                <a:cs typeface="Times New Roman"/>
              </a:rPr>
              <a:t>r</a:t>
            </a:r>
            <a:r>
              <a:rPr sz="1700" spc="75" dirty="0">
                <a:solidFill>
                  <a:srgbClr val="444244"/>
                </a:solidFill>
                <a:latin typeface="Times New Roman"/>
                <a:cs typeface="Times New Roman"/>
              </a:rPr>
              <a:t>es</a:t>
            </a:r>
            <a:r>
              <a:rPr sz="1700" spc="75" dirty="0">
                <a:solidFill>
                  <a:srgbClr val="242324"/>
                </a:solidFill>
                <a:latin typeface="Times New Roman"/>
                <a:cs typeface="Times New Roman"/>
              </a:rPr>
              <a:t>t </a:t>
            </a:r>
            <a:r>
              <a:rPr sz="1700" spc="-10" dirty="0">
                <a:solidFill>
                  <a:srgbClr val="44424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324"/>
                </a:solidFill>
                <a:latin typeface="Times New Roman"/>
                <a:cs typeface="Times New Roman"/>
              </a:rPr>
              <a:t>implified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642" y="2106442"/>
            <a:ext cx="210312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b="1" spc="-254" dirty="0">
                <a:solidFill>
                  <a:srgbClr val="6B6491"/>
                </a:solidFill>
                <a:latin typeface="Arial"/>
                <a:cs typeface="Arial"/>
              </a:rPr>
              <a:t>Stage</a:t>
            </a:r>
            <a:r>
              <a:rPr sz="2150" b="1" spc="-380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150" b="1" spc="90" dirty="0">
                <a:solidFill>
                  <a:srgbClr val="6B6491"/>
                </a:solidFill>
                <a:latin typeface="Arial"/>
                <a:cs typeface="Arial"/>
              </a:rPr>
              <a:t>1-</a:t>
            </a:r>
            <a:r>
              <a:rPr sz="2150" b="1" spc="-265" dirty="0">
                <a:solidFill>
                  <a:srgbClr val="6B6491"/>
                </a:solidFill>
                <a:latin typeface="Arial"/>
                <a:cs typeface="Arial"/>
              </a:rPr>
              <a:t>Regression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271" y="2457656"/>
            <a:ext cx="2176780" cy="9652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815"/>
              </a:spcBef>
              <a:tabLst>
                <a:tab pos="259715" algn="l"/>
              </a:tabLst>
            </a:pPr>
            <a:r>
              <a:rPr sz="1350" spc="-50" dirty="0">
                <a:solidFill>
                  <a:srgbClr val="7E7995"/>
                </a:solidFill>
                <a:latin typeface="Times New Roman"/>
                <a:cs typeface="Times New Roman"/>
              </a:rPr>
              <a:t>D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	Linear</a:t>
            </a:r>
            <a:r>
              <a:rPr sz="1350" spc="5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regression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450" dirty="0">
                <a:solidFill>
                  <a:srgbClr val="7E7995"/>
                </a:solidFill>
                <a:latin typeface="Arial"/>
                <a:cs typeface="Arial"/>
              </a:rPr>
              <a:t>D</a:t>
            </a:r>
            <a:r>
              <a:rPr sz="1450" spc="475" dirty="0">
                <a:solidFill>
                  <a:srgbClr val="7E7995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Interpretable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450" spc="50" dirty="0">
                <a:solidFill>
                  <a:srgbClr val="7E7995"/>
                </a:solidFill>
                <a:latin typeface="Arial"/>
                <a:cs typeface="Arial"/>
              </a:rPr>
              <a:t>D</a:t>
            </a:r>
            <a:r>
              <a:rPr sz="1450" spc="195" dirty="0">
                <a:solidFill>
                  <a:srgbClr val="7E7995"/>
                </a:solidFill>
                <a:latin typeface="Arial"/>
                <a:cs typeface="Arial"/>
              </a:rPr>
              <a:t>  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Underestimates</a:t>
            </a:r>
            <a:r>
              <a:rPr sz="1350" spc="-25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frequently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7542" y="2824626"/>
            <a:ext cx="11626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43434"/>
                </a:solidFill>
                <a:latin typeface="Times New Roman"/>
                <a:cs typeface="Times New Roman"/>
              </a:rPr>
              <a:t>Random</a:t>
            </a:r>
            <a:r>
              <a:rPr sz="1350" spc="235" dirty="0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sz="1350" spc="40" dirty="0">
                <a:solidFill>
                  <a:srgbClr val="444244"/>
                </a:solidFill>
                <a:latin typeface="Times New Roman"/>
                <a:cs typeface="Times New Roman"/>
              </a:rPr>
              <a:t>Fore</a:t>
            </a:r>
            <a:r>
              <a:rPr sz="1350" spc="40" dirty="0">
                <a:solidFill>
                  <a:srgbClr val="696969"/>
                </a:solidFill>
                <a:latin typeface="Times New Roman"/>
                <a:cs typeface="Times New Roman"/>
              </a:rPr>
              <a:t>s</a:t>
            </a:r>
            <a:r>
              <a:rPr sz="1350" spc="40" dirty="0">
                <a:solidFill>
                  <a:srgbClr val="343434"/>
                </a:solidFill>
                <a:latin typeface="Times New Roman"/>
                <a:cs typeface="Times New Roman"/>
              </a:rPr>
              <a:t>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51088" y="3602293"/>
            <a:ext cx="2019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C0C0C"/>
                </a:solidFill>
                <a:latin typeface="Arial"/>
                <a:cs typeface="Arial"/>
              </a:rPr>
              <a:t>•••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2151" y="4017795"/>
            <a:ext cx="4724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696969"/>
                </a:solidFill>
                <a:latin typeface="Times New Roman"/>
                <a:cs typeface="Times New Roman"/>
              </a:rPr>
              <a:t>Tre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e</a:t>
            </a:r>
            <a:r>
              <a:rPr sz="1350" dirty="0">
                <a:solidFill>
                  <a:srgbClr val="696969"/>
                </a:solidFill>
                <a:latin typeface="Times New Roman"/>
                <a:cs typeface="Times New Roman"/>
              </a:rPr>
              <a:t>-</a:t>
            </a:r>
            <a:r>
              <a:rPr sz="1350" spc="-50" dirty="0">
                <a:solidFill>
                  <a:srgbClr val="696969"/>
                </a:solidFill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45038" y="3978285"/>
            <a:ext cx="48450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565456"/>
                </a:solidFill>
                <a:latin typeface="Times New Roman"/>
                <a:cs typeface="Times New Roman"/>
              </a:rPr>
              <a:t>Tr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c</a:t>
            </a:r>
            <a:r>
              <a:rPr sz="1350" spc="-10" dirty="0">
                <a:solidFill>
                  <a:srgbClr val="696969"/>
                </a:solidFill>
                <a:latin typeface="Times New Roman"/>
                <a:cs typeface="Times New Roman"/>
              </a:rPr>
              <a:t>c-</a:t>
            </a:r>
            <a:r>
              <a:rPr sz="1350" spc="-50" dirty="0">
                <a:solidFill>
                  <a:srgbClr val="696969"/>
                </a:solidFill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05353" y="3970384"/>
            <a:ext cx="476884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7E7995"/>
                </a:solidFill>
                <a:latin typeface="Times New Roman"/>
                <a:cs typeface="Times New Roman"/>
              </a:rPr>
              <a:t>T</a:t>
            </a:r>
            <a:r>
              <a:rPr sz="1350" spc="-25" dirty="0">
                <a:solidFill>
                  <a:srgbClr val="696969"/>
                </a:solidFill>
                <a:latin typeface="Times New Roman"/>
                <a:cs typeface="Times New Roman"/>
              </a:rPr>
              <a:t>re</a:t>
            </a:r>
            <a:r>
              <a:rPr sz="1350" spc="-25" dirty="0">
                <a:solidFill>
                  <a:srgbClr val="7E7995"/>
                </a:solidFill>
                <a:latin typeface="Times New Roman"/>
                <a:cs typeface="Times New Roman"/>
              </a:rPr>
              <a:t>e</a:t>
            </a:r>
            <a:r>
              <a:rPr sz="1350" spc="-25" dirty="0">
                <a:solidFill>
                  <a:srgbClr val="696969"/>
                </a:solidFill>
                <a:latin typeface="Times New Roman"/>
                <a:cs typeface="Times New Roman"/>
              </a:rPr>
              <a:t>-</a:t>
            </a:r>
            <a:r>
              <a:rPr sz="1350" spc="-50" dirty="0">
                <a:solidFill>
                  <a:srgbClr val="696969"/>
                </a:solidFill>
                <a:latin typeface="Times New Roman"/>
                <a:cs typeface="Times New Roman"/>
              </a:rPr>
              <a:t>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43654" y="4491901"/>
            <a:ext cx="962660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25"/>
              </a:lnSpc>
              <a:spcBef>
                <a:spcPts val="100"/>
              </a:spcBef>
            </a:pP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C</a:t>
            </a:r>
            <a:r>
              <a:rPr sz="1350" spc="-10" dirty="0">
                <a:solidFill>
                  <a:srgbClr val="444244"/>
                </a:solidFill>
                <a:latin typeface="Times New Roman"/>
                <a:cs typeface="Times New Roman"/>
              </a:rPr>
              <a:t>l</a:t>
            </a:r>
            <a:r>
              <a:rPr sz="1350" spc="-10" dirty="0">
                <a:solidFill>
                  <a:srgbClr val="696969"/>
                </a:solidFill>
                <a:latin typeface="Times New Roman"/>
                <a:cs typeface="Times New Roman"/>
              </a:rPr>
              <a:t>a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ss</a:t>
            </a:r>
            <a:r>
              <a:rPr sz="1350" spc="-10" dirty="0">
                <a:solidFill>
                  <a:srgbClr val="696969"/>
                </a:solidFill>
                <a:latin typeface="Times New Roman"/>
                <a:cs typeface="Times New Roman"/>
              </a:rPr>
              <a:t>-</a:t>
            </a:r>
            <a:r>
              <a:rPr sz="1350" spc="-50" dirty="0">
                <a:solidFill>
                  <a:srgbClr val="696969"/>
                </a:solidFill>
                <a:latin typeface="Times New Roman"/>
                <a:cs typeface="Times New Roman"/>
              </a:rPr>
              <a:t>A</a:t>
            </a:r>
            <a:endParaRPr sz="1350">
              <a:latin typeface="Times New Roman"/>
              <a:cs typeface="Times New Roman"/>
            </a:endParaRPr>
          </a:p>
          <a:p>
            <a:pPr marL="242570">
              <a:lnSpc>
                <a:spcPts val="2705"/>
              </a:lnSpc>
              <a:tabLst>
                <a:tab pos="666750" algn="l"/>
              </a:tabLst>
            </a:pPr>
            <a:r>
              <a:rPr sz="2500" spc="869" dirty="0">
                <a:solidFill>
                  <a:srgbClr val="696969"/>
                </a:solidFill>
                <a:latin typeface="Arial"/>
                <a:cs typeface="Arial"/>
              </a:rPr>
              <a:t>l</a:t>
            </a:r>
            <a:r>
              <a:rPr sz="2500" dirty="0">
                <a:solidFill>
                  <a:srgbClr val="696969"/>
                </a:solidFill>
                <a:latin typeface="Arial"/>
                <a:cs typeface="Arial"/>
              </a:rPr>
              <a:t>	</a:t>
            </a:r>
            <a:r>
              <a:rPr sz="2500" spc="1330" dirty="0">
                <a:solidFill>
                  <a:srgbClr val="C6C6C6"/>
                </a:solidFill>
                <a:latin typeface="Arial"/>
                <a:cs typeface="Arial"/>
              </a:rPr>
              <a:t>-</a:t>
            </a:r>
            <a:endParaRPr sz="25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09287" y="5324411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>
                <a:moveTo>
                  <a:pt x="0" y="0"/>
                </a:moveTo>
                <a:lnTo>
                  <a:pt x="23647" y="0"/>
                </a:lnTo>
              </a:path>
            </a:pathLst>
          </a:custGeom>
          <a:ln w="12730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64162" y="4436589"/>
            <a:ext cx="2792730" cy="95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805">
              <a:lnSpc>
                <a:spcPts val="1530"/>
              </a:lnSpc>
              <a:spcBef>
                <a:spcPts val="100"/>
              </a:spcBef>
              <a:tabLst>
                <a:tab pos="2244725" algn="l"/>
              </a:tabLst>
            </a:pPr>
            <a:r>
              <a:rPr sz="1350" u="heavy" spc="-10" dirty="0">
                <a:solidFill>
                  <a:srgbClr val="7E7995"/>
                </a:solidFill>
                <a:uFill>
                  <a:solidFill>
                    <a:srgbClr val="565456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350" u="heavy" spc="-10" dirty="0">
                <a:solidFill>
                  <a:srgbClr val="444244"/>
                </a:solidFill>
                <a:uFill>
                  <a:solidFill>
                    <a:srgbClr val="565456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350" u="heavy" spc="-10" dirty="0">
                <a:solidFill>
                  <a:srgbClr val="696969"/>
                </a:solidFill>
                <a:uFill>
                  <a:solidFill>
                    <a:srgbClr val="565456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350" u="heavy" spc="-10" dirty="0">
                <a:solidFill>
                  <a:srgbClr val="7E7995"/>
                </a:solidFill>
                <a:uFill>
                  <a:solidFill>
                    <a:srgbClr val="565456"/>
                  </a:solidFill>
                </a:uFill>
                <a:latin typeface="Times New Roman"/>
                <a:cs typeface="Times New Roman"/>
              </a:rPr>
              <a:t>ss</a:t>
            </a:r>
            <a:r>
              <a:rPr sz="1350" u="heavy" spc="-10" dirty="0">
                <a:solidFill>
                  <a:srgbClr val="565456"/>
                </a:solidFill>
                <a:uFill>
                  <a:solidFill>
                    <a:srgbClr val="565456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1350" u="heavy" spc="-50" dirty="0">
                <a:solidFill>
                  <a:srgbClr val="565456"/>
                </a:solidFill>
                <a:uFill>
                  <a:solidFill>
                    <a:srgbClr val="565456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1350" dirty="0">
                <a:solidFill>
                  <a:srgbClr val="565456"/>
                </a:solidFill>
                <a:latin typeface="Times New Roman"/>
                <a:cs typeface="Times New Roman"/>
              </a:rPr>
              <a:t>	</a:t>
            </a:r>
            <a:r>
              <a:rPr sz="1350" spc="-25" dirty="0">
                <a:solidFill>
                  <a:srgbClr val="7E7995"/>
                </a:solidFill>
                <a:latin typeface="Times New Roman"/>
                <a:cs typeface="Times New Roman"/>
              </a:rPr>
              <a:t>C</a:t>
            </a:r>
            <a:r>
              <a:rPr sz="1350" spc="-25" dirty="0">
                <a:solidFill>
                  <a:srgbClr val="565456"/>
                </a:solidFill>
                <a:latin typeface="Times New Roman"/>
                <a:cs typeface="Times New Roman"/>
              </a:rPr>
              <a:t>la</a:t>
            </a:r>
            <a:r>
              <a:rPr sz="1350" spc="-25" dirty="0">
                <a:solidFill>
                  <a:srgbClr val="909090"/>
                </a:solidFill>
                <a:latin typeface="Times New Roman"/>
                <a:cs typeface="Times New Roman"/>
              </a:rPr>
              <a:t>ss</a:t>
            </a:r>
            <a:r>
              <a:rPr sz="1350" spc="-25" dirty="0">
                <a:solidFill>
                  <a:srgbClr val="696969"/>
                </a:solidFill>
                <a:latin typeface="Times New Roman"/>
                <a:cs typeface="Times New Roman"/>
              </a:rPr>
              <a:t>-</a:t>
            </a:r>
            <a:r>
              <a:rPr sz="1350" spc="-50" dirty="0">
                <a:solidFill>
                  <a:srgbClr val="696969"/>
                </a:solidFill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3090"/>
              </a:lnSpc>
              <a:tabLst>
                <a:tab pos="1714500" algn="l"/>
              </a:tabLst>
            </a:pPr>
            <a:r>
              <a:rPr sz="2650" spc="355" dirty="0">
                <a:solidFill>
                  <a:srgbClr val="7E7995"/>
                </a:solidFill>
                <a:latin typeface="Arial"/>
                <a:cs typeface="Arial"/>
              </a:rPr>
              <a:t>I</a:t>
            </a:r>
            <a:r>
              <a:rPr sz="1300" u="heavy" spc="355" dirty="0">
                <a:solidFill>
                  <a:srgbClr val="696969"/>
                </a:solidFill>
                <a:uFill>
                  <a:solidFill>
                    <a:srgbClr val="AFAFAF"/>
                  </a:solidFill>
                </a:uFill>
                <a:latin typeface="Arial"/>
                <a:cs typeface="Arial"/>
              </a:rPr>
              <a:t>Majorir</a:t>
            </a:r>
            <a:r>
              <a:rPr sz="1300" u="heavy" spc="355" dirty="0">
                <a:solidFill>
                  <a:srgbClr val="7E7995"/>
                </a:solidFill>
                <a:uFill>
                  <a:solidFill>
                    <a:srgbClr val="AFAFAF"/>
                  </a:solidFill>
                </a:uFill>
                <a:latin typeface="Arial"/>
                <a:cs typeface="Arial"/>
              </a:rPr>
              <a:t>y</a:t>
            </a:r>
            <a:r>
              <a:rPr sz="1300" u="heavy" spc="355" dirty="0">
                <a:solidFill>
                  <a:srgbClr val="565456"/>
                </a:solidFill>
                <a:uFill>
                  <a:solidFill>
                    <a:srgbClr val="AFAFAF"/>
                  </a:solidFill>
                </a:uFill>
                <a:latin typeface="Arial"/>
                <a:cs typeface="Arial"/>
              </a:rPr>
              <a:t>-</a:t>
            </a:r>
            <a:r>
              <a:rPr sz="1300" u="heavy" spc="434" dirty="0">
                <a:solidFill>
                  <a:srgbClr val="565456"/>
                </a:solidFill>
                <a:uFill>
                  <a:solidFill>
                    <a:srgbClr val="AFAFAF"/>
                  </a:solidFill>
                </a:uFill>
                <a:latin typeface="Arial"/>
                <a:cs typeface="Arial"/>
              </a:rPr>
              <a:t>Vot</a:t>
            </a:r>
            <a:r>
              <a:rPr sz="1300" u="heavy" dirty="0">
                <a:solidFill>
                  <a:srgbClr val="565456"/>
                </a:solidFill>
                <a:uFill>
                  <a:solidFill>
                    <a:srgbClr val="AFAFAF"/>
                  </a:solidFill>
                </a:uFill>
                <a:latin typeface="Arial"/>
                <a:cs typeface="Arial"/>
              </a:rPr>
              <a:t>	</a:t>
            </a:r>
            <a:r>
              <a:rPr sz="1300" u="heavy" spc="405" dirty="0">
                <a:solidFill>
                  <a:srgbClr val="AFAFAF"/>
                </a:solidFill>
                <a:uFill>
                  <a:solidFill>
                    <a:srgbClr val="AFAFAF"/>
                  </a:solidFill>
                </a:uFill>
                <a:latin typeface="Arial"/>
                <a:cs typeface="Arial"/>
              </a:rPr>
              <a:t>1</a:t>
            </a:r>
            <a:r>
              <a:rPr sz="1300" spc="405" dirty="0">
                <a:solidFill>
                  <a:srgbClr val="AFAFAF"/>
                </a:solidFill>
                <a:latin typeface="Arial"/>
                <a:cs typeface="Arial"/>
              </a:rPr>
              <a:t>-</a:t>
            </a:r>
            <a:r>
              <a:rPr sz="1300" u="heavy" spc="305" dirty="0">
                <a:solidFill>
                  <a:srgbClr val="AFAFAF"/>
                </a:solidFill>
                <a:uFill>
                  <a:solidFill>
                    <a:srgbClr val="7E7995"/>
                  </a:solidFill>
                </a:uFill>
                <a:latin typeface="Arial"/>
                <a:cs typeface="Arial"/>
              </a:rPr>
              <a:t>-----</a:t>
            </a:r>
            <a:r>
              <a:rPr sz="1300" u="heavy" spc="409" dirty="0">
                <a:solidFill>
                  <a:srgbClr val="7E7995"/>
                </a:solidFill>
                <a:uFill>
                  <a:solidFill>
                    <a:srgbClr val="7E7995"/>
                  </a:solidFill>
                </a:uFill>
                <a:latin typeface="Arial"/>
                <a:cs typeface="Arial"/>
              </a:rPr>
              <a:t>J</a:t>
            </a:r>
            <a:endParaRPr sz="1300">
              <a:latin typeface="Arial"/>
              <a:cs typeface="Arial"/>
            </a:endParaRPr>
          </a:p>
          <a:p>
            <a:pPr marL="205740">
              <a:lnSpc>
                <a:spcPct val="100000"/>
              </a:lnSpc>
              <a:spcBef>
                <a:spcPts val="270"/>
              </a:spcBef>
            </a:pPr>
            <a:r>
              <a:rPr sz="1350" u="heavy" spc="-20" dirty="0">
                <a:solidFill>
                  <a:srgbClr val="AFAFAF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!</a:t>
            </a:r>
            <a:r>
              <a:rPr sz="1350" u="heavy" spc="-20" dirty="0">
                <a:solidFill>
                  <a:srgbClr val="696969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Fina</a:t>
            </a:r>
            <a:r>
              <a:rPr sz="1350" u="heavy" spc="-20" dirty="0">
                <a:solidFill>
                  <a:srgbClr val="444244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350" u="heavy" spc="-20" dirty="0">
                <a:solidFill>
                  <a:srgbClr val="696969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1350" u="heavy" spc="-10" dirty="0">
                <a:solidFill>
                  <a:srgbClr val="7E7995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350" u="heavy" spc="-10" dirty="0">
                <a:solidFill>
                  <a:srgbClr val="444244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350" u="heavy" spc="-10" dirty="0">
                <a:solidFill>
                  <a:srgbClr val="696969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350" u="heavy" spc="-10" dirty="0">
                <a:solidFill>
                  <a:srgbClr val="7E7995"/>
                </a:solidFill>
                <a:uFill>
                  <a:solidFill>
                    <a:srgbClr val="7E7995"/>
                  </a:solidFill>
                </a:uFill>
                <a:latin typeface="Times New Roman"/>
                <a:cs typeface="Times New Roman"/>
              </a:rPr>
              <a:t>ss</a:t>
            </a:r>
            <a:r>
              <a:rPr sz="2000" spc="-10" dirty="0">
                <a:solidFill>
                  <a:srgbClr val="AFAFAF"/>
                </a:solidFill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5525" y="5344457"/>
            <a:ext cx="3436620" cy="1157605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150" b="1" spc="-254" dirty="0">
                <a:solidFill>
                  <a:srgbClr val="6B6491"/>
                </a:solidFill>
                <a:latin typeface="Arial"/>
                <a:cs typeface="Arial"/>
              </a:rPr>
              <a:t>Stage</a:t>
            </a:r>
            <a:r>
              <a:rPr sz="2150" b="1" spc="-225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6B6491"/>
                </a:solidFill>
                <a:latin typeface="Arial"/>
                <a:cs typeface="Arial"/>
              </a:rPr>
              <a:t>3-</a:t>
            </a:r>
            <a:r>
              <a:rPr sz="2150" b="1" spc="185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150" b="1" spc="-220" dirty="0">
                <a:solidFill>
                  <a:srgbClr val="6B6491"/>
                </a:solidFill>
                <a:latin typeface="Arial"/>
                <a:cs typeface="Arial"/>
              </a:rPr>
              <a:t>Full</a:t>
            </a:r>
            <a:r>
              <a:rPr sz="2150" b="1" spc="-365" dirty="0">
                <a:solidFill>
                  <a:srgbClr val="6B6491"/>
                </a:solidFill>
                <a:latin typeface="Arial"/>
                <a:cs typeface="Arial"/>
              </a:rPr>
              <a:t> </a:t>
            </a:r>
            <a:r>
              <a:rPr sz="2150" b="1" spc="-490" dirty="0">
                <a:solidFill>
                  <a:srgbClr val="6B6491"/>
                </a:solidFill>
                <a:latin typeface="Arial"/>
                <a:cs typeface="Arial"/>
              </a:rPr>
              <a:t>RF</a:t>
            </a:r>
            <a:endParaRPr sz="2150">
              <a:latin typeface="Arial"/>
              <a:cs typeface="Arial"/>
            </a:endParaRPr>
          </a:p>
          <a:p>
            <a:pPr marL="397510">
              <a:lnSpc>
                <a:spcPct val="100000"/>
              </a:lnSpc>
              <a:spcBef>
                <a:spcPts val="830"/>
              </a:spcBef>
              <a:tabLst>
                <a:tab pos="633730" algn="l"/>
              </a:tabLst>
            </a:pPr>
            <a:r>
              <a:rPr sz="1350" spc="-365" dirty="0">
                <a:solidFill>
                  <a:srgbClr val="7E7995"/>
                </a:solidFill>
                <a:latin typeface="Times New Roman"/>
                <a:cs typeface="Times New Roman"/>
              </a:rPr>
              <a:t>D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	</a:t>
            </a:r>
            <a:r>
              <a:rPr sz="1350" spc="-40" dirty="0">
                <a:solidFill>
                  <a:srgbClr val="6B6491"/>
                </a:solidFill>
                <a:latin typeface="Times New Roman"/>
                <a:cs typeface="Times New Roman"/>
              </a:rPr>
              <a:t>Full</a:t>
            </a:r>
            <a:r>
              <a:rPr sz="1350" spc="140" dirty="0">
                <a:solidFill>
                  <a:srgbClr val="6B6491"/>
                </a:solidFill>
                <a:latin typeface="Times New Roman"/>
                <a:cs typeface="Times New Roman"/>
              </a:rPr>
              <a:t> </a:t>
            </a:r>
            <a:r>
              <a:rPr sz="1350" spc="75" dirty="0">
                <a:solidFill>
                  <a:srgbClr val="7E7995"/>
                </a:solidFill>
                <a:latin typeface="Times New Roman"/>
                <a:cs typeface="Times New Roman"/>
              </a:rPr>
              <a:t>Forest+</a:t>
            </a:r>
            <a:r>
              <a:rPr sz="1350" spc="40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Selected</a:t>
            </a:r>
            <a:r>
              <a:rPr sz="1350" spc="55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features</a:t>
            </a:r>
            <a:endParaRPr sz="1350">
              <a:latin typeface="Times New Roman"/>
              <a:cs typeface="Times New Roman"/>
            </a:endParaRPr>
          </a:p>
          <a:p>
            <a:pPr marL="397510">
              <a:lnSpc>
                <a:spcPct val="100000"/>
              </a:lnSpc>
              <a:spcBef>
                <a:spcPts val="935"/>
              </a:spcBef>
            </a:pPr>
            <a:r>
              <a:rPr sz="1350" spc="65" dirty="0">
                <a:solidFill>
                  <a:srgbClr val="7E7995"/>
                </a:solidFill>
                <a:latin typeface="Times New Roman"/>
                <a:cs typeface="Times New Roman"/>
              </a:rPr>
              <a:t>D</a:t>
            </a:r>
            <a:r>
              <a:rPr sz="1350" spc="480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Balance</a:t>
            </a:r>
            <a:r>
              <a:rPr sz="1350" spc="20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of</a:t>
            </a:r>
            <a:r>
              <a:rPr sz="1350" spc="-55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7E7995"/>
                </a:solidFill>
                <a:latin typeface="Times New Roman"/>
                <a:cs typeface="Times New Roman"/>
              </a:rPr>
              <a:t>flexibility</a:t>
            </a:r>
            <a:r>
              <a:rPr sz="1350" spc="55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7E7995"/>
                </a:solidFill>
                <a:latin typeface="Times New Roman"/>
                <a:cs typeface="Times New Roman"/>
              </a:rPr>
              <a:t>and</a:t>
            </a:r>
            <a:r>
              <a:rPr sz="1350" spc="20" dirty="0">
                <a:solidFill>
                  <a:srgbClr val="7E7995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7E7995"/>
                </a:solidFill>
                <a:latin typeface="Times New Roman"/>
                <a:cs typeface="Times New Roman"/>
              </a:rPr>
              <a:t>generalization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0038"/>
            <a:ext cx="10058400" cy="5705475"/>
            <a:chOff x="0" y="1010038"/>
            <a:chExt cx="10058400" cy="5705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10038"/>
              <a:ext cx="10058400" cy="124848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41" y="2258519"/>
              <a:ext cx="0" cy="4457065"/>
            </a:xfrm>
            <a:custGeom>
              <a:avLst/>
              <a:gdLst/>
              <a:ahLst/>
              <a:cxnLst/>
              <a:rect l="l" t="t" r="r" b="b"/>
              <a:pathLst>
                <a:path h="4457065">
                  <a:moveTo>
                    <a:pt x="0" y="4456603"/>
                  </a:moveTo>
                  <a:lnTo>
                    <a:pt x="0" y="0"/>
                  </a:lnTo>
                </a:path>
              </a:pathLst>
            </a:custGeom>
            <a:ln w="78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7181" y="2472118"/>
            <a:ext cx="4110354" cy="110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50" spc="65" dirty="0">
                <a:solidFill>
                  <a:srgbClr val="7C7795"/>
                </a:solidFill>
                <a:latin typeface="Times New Roman"/>
                <a:cs typeface="Times New Roman"/>
              </a:rPr>
              <a:t>Motivation</a:t>
            </a:r>
            <a:endParaRPr sz="1450">
              <a:latin typeface="Times New Roman"/>
              <a:cs typeface="Times New Roman"/>
            </a:endParaRPr>
          </a:p>
          <a:p>
            <a:pPr marL="12700" marR="54610">
              <a:lnSpc>
                <a:spcPct val="162300"/>
              </a:lnSpc>
              <a:spcBef>
                <a:spcPts val="5"/>
              </a:spcBef>
            </a:pPr>
            <a:r>
              <a:rPr sz="1150" spc="50" dirty="0">
                <a:solidFill>
                  <a:srgbClr val="7C7795"/>
                </a:solidFill>
                <a:latin typeface="Times New Roman"/>
                <a:cs typeface="Times New Roman"/>
              </a:rPr>
              <a:t>The</a:t>
            </a:r>
            <a:r>
              <a:rPr sz="1150" spc="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regression</a:t>
            </a:r>
            <a:r>
              <a:rPr sz="1150" spc="1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model</a:t>
            </a:r>
            <a:r>
              <a:rPr sz="1150" spc="4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outputs</a:t>
            </a:r>
            <a:r>
              <a:rPr sz="1150" spc="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a 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continuous</a:t>
            </a:r>
            <a:r>
              <a:rPr sz="1150" spc="3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threshold</a:t>
            </a:r>
            <a:r>
              <a:rPr sz="1150" spc="9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100" dirty="0">
                <a:solidFill>
                  <a:srgbClr val="7C7795"/>
                </a:solidFill>
                <a:latin typeface="Times New Roman"/>
                <a:cs typeface="Times New Roman"/>
              </a:rPr>
              <a:t>estimate </a:t>
            </a:r>
            <a:r>
              <a:rPr sz="1150" spc="50" dirty="0">
                <a:solidFill>
                  <a:srgbClr val="7C7795"/>
                </a:solidFill>
                <a:latin typeface="Times New Roman"/>
                <a:cs typeface="Times New Roman"/>
              </a:rPr>
              <a:t>The</a:t>
            </a:r>
            <a:r>
              <a:rPr sz="1150" spc="-9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simulator</a:t>
            </a:r>
            <a:r>
              <a:rPr sz="1150" spc="4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only</a:t>
            </a:r>
            <a:r>
              <a:rPr sz="1150" spc="-4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accepts</a:t>
            </a:r>
            <a:r>
              <a:rPr sz="1150" spc="-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100" dirty="0">
                <a:solidFill>
                  <a:srgbClr val="7C7795"/>
                </a:solidFill>
                <a:latin typeface="Times New Roman"/>
                <a:cs typeface="Times New Roman"/>
              </a:rPr>
              <a:t>discrete</a:t>
            </a: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threshold</a:t>
            </a:r>
            <a:r>
              <a:rPr sz="1150" spc="1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rungs</a:t>
            </a:r>
            <a:endParaRPr sz="115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860"/>
              </a:spcBef>
            </a:pP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Rounding</a:t>
            </a:r>
            <a:r>
              <a:rPr sz="1150" spc="9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35" dirty="0">
                <a:solidFill>
                  <a:srgbClr val="7C7795"/>
                </a:solidFill>
                <a:latin typeface="Times New Roman"/>
                <a:cs typeface="Times New Roman"/>
              </a:rPr>
              <a:t>naively</a:t>
            </a:r>
            <a:r>
              <a:rPr sz="1150" spc="1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can</a:t>
            </a:r>
            <a:r>
              <a:rPr sz="1150" spc="10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underestimate</a:t>
            </a:r>
            <a:r>
              <a:rPr sz="1150" spc="6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threshold,</a:t>
            </a:r>
            <a:r>
              <a:rPr sz="1150" spc="-6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causing</a:t>
            </a:r>
            <a:r>
              <a:rPr sz="1150" spc="-7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7C7795"/>
                </a:solidFill>
                <a:latin typeface="Times New Roman"/>
                <a:cs typeface="Times New Roman"/>
              </a:rPr>
              <a:t>fidelity</a:t>
            </a:r>
            <a:r>
              <a:rPr sz="1150" spc="-7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failure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2108" y="4118981"/>
            <a:ext cx="38157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225" algn="l"/>
              </a:tabLst>
            </a:pPr>
            <a:r>
              <a:rPr sz="1300" spc="155" dirty="0">
                <a:solidFill>
                  <a:srgbClr val="7C7795"/>
                </a:solidFill>
                <a:latin typeface="Times New Roman"/>
                <a:cs typeface="Times New Roman"/>
              </a:rPr>
              <a:t>Step</a:t>
            </a:r>
            <a:r>
              <a:rPr sz="1300" spc="-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180" dirty="0">
                <a:solidFill>
                  <a:srgbClr val="7C7795"/>
                </a:solidFill>
                <a:latin typeface="Times New Roman"/>
                <a:cs typeface="Times New Roman"/>
              </a:rPr>
              <a:t>2</a:t>
            </a:r>
            <a:r>
              <a:rPr sz="1300" spc="-13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70" dirty="0">
                <a:solidFill>
                  <a:srgbClr val="7C7795"/>
                </a:solidFill>
                <a:latin typeface="Times New Roman"/>
                <a:cs typeface="Times New Roman"/>
              </a:rPr>
              <a:t>-</a:t>
            </a:r>
            <a:r>
              <a:rPr sz="1300" dirty="0">
                <a:solidFill>
                  <a:srgbClr val="7C7795"/>
                </a:solidFill>
                <a:latin typeface="Times New Roman"/>
                <a:cs typeface="Times New Roman"/>
              </a:rPr>
              <a:t>	</a:t>
            </a:r>
            <a:r>
              <a:rPr sz="1300" spc="80" dirty="0">
                <a:solidFill>
                  <a:srgbClr val="7C7795"/>
                </a:solidFill>
                <a:latin typeface="Times New Roman"/>
                <a:cs typeface="Times New Roman"/>
              </a:rPr>
              <a:t>Feature-</a:t>
            </a:r>
            <a:r>
              <a:rPr sz="1300" spc="95" dirty="0">
                <a:solidFill>
                  <a:srgbClr val="7C7795"/>
                </a:solidFill>
                <a:latin typeface="Times New Roman"/>
                <a:cs typeface="Times New Roman"/>
              </a:rPr>
              <a:t>Based</a:t>
            </a:r>
            <a:r>
              <a:rPr sz="1300" spc="29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90" dirty="0">
                <a:solidFill>
                  <a:srgbClr val="7C7795"/>
                </a:solidFill>
                <a:latin typeface="Times New Roman"/>
                <a:cs typeface="Times New Roman"/>
              </a:rPr>
              <a:t>Boost</a:t>
            </a:r>
            <a:r>
              <a:rPr sz="1300" spc="3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55" dirty="0">
                <a:solidFill>
                  <a:srgbClr val="7C7795"/>
                </a:solidFill>
                <a:latin typeface="Times New Roman"/>
                <a:cs typeface="Times New Roman"/>
              </a:rPr>
              <a:t>(Risk</a:t>
            </a:r>
            <a:r>
              <a:rPr sz="1300" spc="-1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80" dirty="0">
                <a:solidFill>
                  <a:srgbClr val="7C7795"/>
                </a:solidFill>
                <a:latin typeface="Times New Roman"/>
                <a:cs typeface="Times New Roman"/>
              </a:rPr>
              <a:t>Awareness)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2432" y="4329565"/>
            <a:ext cx="3957954" cy="7607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894"/>
              </a:spcBef>
            </a:pP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Some</a:t>
            </a:r>
            <a:r>
              <a:rPr sz="1150" spc="-6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circuits</a:t>
            </a:r>
            <a:r>
              <a:rPr sz="1150" spc="-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are</a:t>
            </a:r>
            <a:r>
              <a:rPr sz="1150" spc="16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inherently</a:t>
            </a:r>
            <a:r>
              <a:rPr sz="1150" spc="114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riskier</a:t>
            </a:r>
            <a:r>
              <a:rPr sz="1150" spc="-9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even</a:t>
            </a:r>
            <a:r>
              <a:rPr sz="1150" spc="-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at</a:t>
            </a:r>
            <a:r>
              <a:rPr sz="1150" spc="8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similar</a:t>
            </a:r>
            <a:r>
              <a:rPr sz="1150" spc="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predictions</a:t>
            </a:r>
            <a:endParaRPr sz="1150">
              <a:latin typeface="Times New Roman"/>
              <a:cs typeface="Times New Roman"/>
            </a:endParaRPr>
          </a:p>
          <a:p>
            <a:pPr marL="17780" marR="5080" indent="-5715">
              <a:lnSpc>
                <a:spcPct val="103699"/>
              </a:lnSpc>
              <a:spcBef>
                <a:spcPts val="745"/>
              </a:spcBef>
            </a:pPr>
            <a:r>
              <a:rPr sz="1150" spc="65" dirty="0">
                <a:solidFill>
                  <a:srgbClr val="7C7795"/>
                </a:solidFill>
                <a:latin typeface="Times New Roman"/>
                <a:cs typeface="Times New Roman"/>
              </a:rPr>
              <a:t>We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compute</a:t>
            </a:r>
            <a:r>
              <a:rPr sz="1150" spc="4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a</a:t>
            </a:r>
            <a:r>
              <a:rPr sz="1150" spc="4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100" dirty="0">
                <a:solidFill>
                  <a:srgbClr val="7C7795"/>
                </a:solidFill>
                <a:latin typeface="Times New Roman"/>
                <a:cs typeface="Times New Roman"/>
              </a:rPr>
              <a:t>boost</a:t>
            </a:r>
            <a:r>
              <a:rPr sz="1150" spc="-1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95" dirty="0">
                <a:solidFill>
                  <a:srgbClr val="7C7795"/>
                </a:solidFill>
                <a:latin typeface="Times New Roman"/>
                <a:cs typeface="Times New Roman"/>
              </a:rPr>
              <a:t>factor</a:t>
            </a:r>
            <a:r>
              <a:rPr sz="1150" spc="1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7C7795"/>
                </a:solidFill>
                <a:latin typeface="Times New Roman"/>
                <a:cs typeface="Times New Roman"/>
              </a:rPr>
              <a:t>using</a:t>
            </a:r>
            <a:r>
              <a:rPr sz="1150" spc="-1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the</a:t>
            </a:r>
            <a:r>
              <a:rPr sz="1150" spc="25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100" dirty="0">
                <a:solidFill>
                  <a:srgbClr val="7C7795"/>
                </a:solidFill>
                <a:latin typeface="Times New Roman"/>
                <a:cs typeface="Times New Roman"/>
              </a:rPr>
              <a:t>maximum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of</a:t>
            </a:r>
            <a:r>
              <a:rPr sz="1150" spc="11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normalized </a:t>
            </a:r>
            <a:r>
              <a:rPr sz="1150" spc="-35" dirty="0">
                <a:solidFill>
                  <a:srgbClr val="7C7795"/>
                </a:solidFill>
                <a:latin typeface="Times New Roman"/>
                <a:cs typeface="Times New Roman"/>
              </a:rPr>
              <a:t>difficulty</a:t>
            </a:r>
            <a:r>
              <a:rPr sz="1150" spc="4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metrics: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9209" y="4111079"/>
            <a:ext cx="4145279" cy="2204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225" algn="l"/>
              </a:tabLst>
            </a:pPr>
            <a:r>
              <a:rPr sz="1300" spc="155" dirty="0">
                <a:solidFill>
                  <a:srgbClr val="7C7795"/>
                </a:solidFill>
                <a:latin typeface="Times New Roman"/>
                <a:cs typeface="Times New Roman"/>
              </a:rPr>
              <a:t>Step</a:t>
            </a:r>
            <a:r>
              <a:rPr sz="1300" spc="1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7C7795"/>
                </a:solidFill>
                <a:latin typeface="Times New Roman"/>
                <a:cs typeface="Times New Roman"/>
              </a:rPr>
              <a:t>I</a:t>
            </a:r>
            <a:r>
              <a:rPr sz="1300" spc="1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-50" dirty="0">
                <a:solidFill>
                  <a:srgbClr val="7C7795"/>
                </a:solidFill>
                <a:latin typeface="Times New Roman"/>
                <a:cs typeface="Times New Roman"/>
              </a:rPr>
              <a:t>-</a:t>
            </a:r>
            <a:r>
              <a:rPr sz="1300" dirty="0">
                <a:solidFill>
                  <a:srgbClr val="7C7795"/>
                </a:solidFill>
                <a:latin typeface="Times New Roman"/>
                <a:cs typeface="Times New Roman"/>
              </a:rPr>
              <a:t>	</a:t>
            </a:r>
            <a:r>
              <a:rPr sz="1300" spc="70" dirty="0">
                <a:solidFill>
                  <a:srgbClr val="7C7795"/>
                </a:solidFill>
                <a:latin typeface="Times New Roman"/>
                <a:cs typeface="Times New Roman"/>
              </a:rPr>
              <a:t>Baseline</a:t>
            </a:r>
            <a:r>
              <a:rPr sz="1300" spc="-1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65" dirty="0">
                <a:solidFill>
                  <a:srgbClr val="7C7795"/>
                </a:solidFill>
                <a:latin typeface="Times New Roman"/>
                <a:cs typeface="Times New Roman"/>
              </a:rPr>
              <a:t>Aggressive</a:t>
            </a:r>
            <a:r>
              <a:rPr sz="1300" spc="21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7C7795"/>
                </a:solidFill>
                <a:latin typeface="Times New Roman"/>
                <a:cs typeface="Times New Roman"/>
              </a:rPr>
              <a:t>Fix</a:t>
            </a:r>
            <a:r>
              <a:rPr sz="1300" spc="6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300" spc="85" dirty="0">
                <a:solidFill>
                  <a:srgbClr val="7C7795"/>
                </a:solidFill>
                <a:latin typeface="Times New Roman"/>
                <a:cs typeface="Times New Roman"/>
              </a:rPr>
              <a:t>(Prediction-</a:t>
            </a:r>
            <a:r>
              <a:rPr sz="1300" spc="90" dirty="0">
                <a:solidFill>
                  <a:srgbClr val="7C7795"/>
                </a:solidFill>
                <a:latin typeface="Times New Roman"/>
                <a:cs typeface="Times New Roman"/>
              </a:rPr>
              <a:t>Based)</a:t>
            </a:r>
            <a:endParaRPr sz="1300">
              <a:latin typeface="Times New Roman"/>
              <a:cs typeface="Times New Roman"/>
            </a:endParaRPr>
          </a:p>
          <a:p>
            <a:pPr marL="19685" marR="1102360" indent="-6985">
              <a:lnSpc>
                <a:spcPts val="2240"/>
              </a:lnSpc>
              <a:spcBef>
                <a:spcPts val="190"/>
              </a:spcBef>
            </a:pPr>
            <a:r>
              <a:rPr sz="1150" spc="65" dirty="0">
                <a:solidFill>
                  <a:srgbClr val="7C7795"/>
                </a:solidFill>
                <a:latin typeface="Times New Roman"/>
                <a:cs typeface="Times New Roman"/>
              </a:rPr>
              <a:t>We</a:t>
            </a:r>
            <a:r>
              <a:rPr sz="1150" spc="1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observe</a:t>
            </a:r>
            <a:r>
              <a:rPr sz="1150" spc="4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systematic</a:t>
            </a:r>
            <a:r>
              <a:rPr sz="1150" spc="4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trends</a:t>
            </a:r>
            <a:r>
              <a:rPr sz="1150" spc="5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in</a:t>
            </a:r>
            <a:r>
              <a:rPr sz="1150" spc="14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prediction</a:t>
            </a:r>
            <a:r>
              <a:rPr sz="1150" spc="8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40" dirty="0">
                <a:solidFill>
                  <a:srgbClr val="7C7795"/>
                </a:solidFill>
                <a:latin typeface="Times New Roman"/>
                <a:cs typeface="Times New Roman"/>
              </a:rPr>
              <a:t>error: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Low</a:t>
            </a:r>
            <a:r>
              <a:rPr sz="1150" spc="5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predicted</a:t>
            </a:r>
            <a:r>
              <a:rPr sz="1150" spc="21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thresholds</a:t>
            </a:r>
            <a:r>
              <a:rPr sz="1150" spc="6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are</a:t>
            </a:r>
            <a:r>
              <a:rPr sz="1150" spc="25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more</a:t>
            </a: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error-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prone</a:t>
            </a:r>
            <a:endParaRPr sz="1150">
              <a:latin typeface="Times New Roman"/>
              <a:cs typeface="Times New Roman"/>
            </a:endParaRPr>
          </a:p>
          <a:p>
            <a:pPr marL="20320" marR="356235" indent="6985">
              <a:lnSpc>
                <a:spcPts val="2240"/>
              </a:lnSpc>
            </a:pP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Higher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predicted</a:t>
            </a:r>
            <a:r>
              <a:rPr sz="1150" spc="1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thresholds</a:t>
            </a:r>
            <a:r>
              <a:rPr sz="1150" spc="16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tolerate</a:t>
            </a:r>
            <a:r>
              <a:rPr sz="1150" spc="1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more</a:t>
            </a:r>
            <a:r>
              <a:rPr sz="1150" spc="-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aggressive</a:t>
            </a:r>
            <a:r>
              <a:rPr sz="1150" spc="15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rounding </a:t>
            </a:r>
            <a:r>
              <a:rPr sz="1150" spc="65" dirty="0">
                <a:solidFill>
                  <a:srgbClr val="7C7795"/>
                </a:solidFill>
                <a:latin typeface="Times New Roman"/>
                <a:cs typeface="Times New Roman"/>
              </a:rPr>
              <a:t>We</a:t>
            </a:r>
            <a:r>
              <a:rPr sz="1150" spc="-7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25" dirty="0">
                <a:solidFill>
                  <a:srgbClr val="7C7795"/>
                </a:solidFill>
                <a:latin typeface="Times New Roman"/>
                <a:cs typeface="Times New Roman"/>
              </a:rPr>
              <a:t>apply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a</a:t>
            </a:r>
            <a:r>
              <a:rPr sz="1150" spc="15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prediction-</a:t>
            </a:r>
            <a:r>
              <a:rPr sz="1150" spc="90" dirty="0">
                <a:solidFill>
                  <a:srgbClr val="7C7795"/>
                </a:solidFill>
                <a:latin typeface="Times New Roman"/>
                <a:cs typeface="Times New Roman"/>
              </a:rPr>
              <a:t>dependent</a:t>
            </a:r>
            <a:r>
              <a:rPr sz="1150" spc="-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50" dirty="0">
                <a:solidFill>
                  <a:srgbClr val="7C7795"/>
                </a:solidFill>
                <a:latin typeface="Times New Roman"/>
                <a:cs typeface="Times New Roman"/>
              </a:rPr>
              <a:t>aggressiveness:</a:t>
            </a:r>
            <a:endParaRPr sz="11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580"/>
              </a:spcBef>
            </a:pPr>
            <a:r>
              <a:rPr sz="1150" spc="-30" dirty="0">
                <a:solidFill>
                  <a:srgbClr val="7C7795"/>
                </a:solidFill>
                <a:latin typeface="Times New Roman"/>
                <a:cs typeface="Times New Roman"/>
              </a:rPr>
              <a:t>Small</a:t>
            </a:r>
            <a:r>
              <a:rPr sz="1150" spc="5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predictions</a:t>
            </a:r>
            <a:r>
              <a:rPr sz="1150" spc="-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35" dirty="0">
                <a:solidFill>
                  <a:srgbClr val="9995AC"/>
                </a:solidFill>
                <a:latin typeface="Times New Roman"/>
                <a:cs typeface="Times New Roman"/>
              </a:rPr>
              <a:t>.....</a:t>
            </a:r>
            <a:r>
              <a:rPr sz="1150" spc="-60" dirty="0">
                <a:solidFill>
                  <a:srgbClr val="9995AC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light</a:t>
            </a:r>
            <a:r>
              <a:rPr sz="1150" spc="-5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adjustment</a:t>
            </a:r>
            <a:endParaRPr sz="115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860"/>
              </a:spcBef>
            </a:pP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Large</a:t>
            </a:r>
            <a:r>
              <a:rPr sz="1150" spc="7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predictions</a:t>
            </a:r>
            <a:r>
              <a:rPr sz="1150" spc="240" dirty="0">
                <a:solidFill>
                  <a:srgbClr val="7C7795"/>
                </a:solidFill>
                <a:latin typeface="Times New Roman"/>
                <a:cs typeface="Times New Roman"/>
              </a:rPr>
              <a:t>  </a:t>
            </a:r>
            <a:r>
              <a:rPr sz="950" spc="-40" dirty="0">
                <a:solidFill>
                  <a:srgbClr val="9995AC"/>
                </a:solidFill>
                <a:latin typeface="Arial"/>
                <a:cs typeface="Arial"/>
              </a:rPr>
              <a:t>+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stronger</a:t>
            </a:r>
            <a:r>
              <a:rPr sz="1150" spc="6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upward</a:t>
            </a:r>
            <a:r>
              <a:rPr sz="1150" spc="17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20" dirty="0">
                <a:solidFill>
                  <a:srgbClr val="7C7795"/>
                </a:solidFill>
                <a:latin typeface="Times New Roman"/>
                <a:cs typeface="Times New Roman"/>
              </a:rPr>
              <a:t>bias</a:t>
            </a:r>
            <a:endParaRPr sz="115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860"/>
              </a:spcBef>
            </a:pP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This</a:t>
            </a:r>
            <a:r>
              <a:rPr sz="1150" spc="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corrects</a:t>
            </a:r>
            <a:r>
              <a:rPr sz="1150" spc="-2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global</a:t>
            </a:r>
            <a:r>
              <a:rPr sz="1150" spc="9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underestimation</a:t>
            </a:r>
            <a:r>
              <a:rPr sz="1150" spc="4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trends</a:t>
            </a:r>
            <a:r>
              <a:rPr sz="1150" spc="4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in</a:t>
            </a:r>
            <a:r>
              <a:rPr sz="1150" spc="5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the</a:t>
            </a:r>
            <a:r>
              <a:rPr sz="1150" spc="3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model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43493" y="5067159"/>
            <a:ext cx="1591310" cy="143065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  <a:tabLst>
                <a:tab pos="292100" algn="l"/>
              </a:tabLst>
            </a:pPr>
            <a:r>
              <a:rPr sz="1200" spc="-50" dirty="0">
                <a:solidFill>
                  <a:srgbClr val="7C7795"/>
                </a:solidFill>
                <a:latin typeface="Arial"/>
                <a:cs typeface="Arial"/>
              </a:rPr>
              <a:t>0</a:t>
            </a:r>
            <a:r>
              <a:rPr sz="1200" dirty="0">
                <a:solidFill>
                  <a:srgbClr val="7C7795"/>
                </a:solid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entanglement</a:t>
            </a:r>
            <a:r>
              <a:rPr sz="1150" spc="3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stress</a:t>
            </a:r>
            <a:endParaRPr sz="115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800"/>
              </a:spcBef>
              <a:tabLst>
                <a:tab pos="292100" algn="l"/>
              </a:tabLst>
            </a:pPr>
            <a:r>
              <a:rPr sz="1200" dirty="0">
                <a:solidFill>
                  <a:srgbClr val="7C7795"/>
                </a:solidFill>
                <a:latin typeface="Arial"/>
                <a:cs typeface="Arial"/>
              </a:rPr>
              <a:t>0	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entanglement</a:t>
            </a:r>
            <a:r>
              <a:rPr sz="1150" spc="8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volume</a:t>
            </a:r>
            <a:endParaRPr sz="115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800"/>
              </a:spcBef>
              <a:tabLst>
                <a:tab pos="295910" algn="l"/>
              </a:tabLst>
            </a:pPr>
            <a:r>
              <a:rPr sz="1200" spc="-50" dirty="0">
                <a:solidFill>
                  <a:srgbClr val="7C7795"/>
                </a:solidFill>
                <a:latin typeface="Arial"/>
                <a:cs typeface="Arial"/>
              </a:rPr>
              <a:t>0</a:t>
            </a:r>
            <a:r>
              <a:rPr sz="1200" dirty="0">
                <a:solidFill>
                  <a:srgbClr val="7C7795"/>
                </a:solid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temporal</a:t>
            </a:r>
            <a:r>
              <a:rPr sz="1150" spc="2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packing</a:t>
            </a:r>
            <a:endParaRPr sz="115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800"/>
              </a:spcBef>
              <a:tabLst>
                <a:tab pos="292735" algn="l"/>
              </a:tabLst>
            </a:pPr>
            <a:r>
              <a:rPr sz="1200" spc="-50" dirty="0">
                <a:solidFill>
                  <a:srgbClr val="7C7795"/>
                </a:solidFill>
                <a:latin typeface="Arial"/>
                <a:cs typeface="Arial"/>
              </a:rPr>
              <a:t>0</a:t>
            </a:r>
            <a:r>
              <a:rPr sz="1200" dirty="0">
                <a:solidFill>
                  <a:srgbClr val="7C7795"/>
                </a:solid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circuit</a:t>
            </a:r>
            <a:r>
              <a:rPr sz="1150" spc="1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depth</a:t>
            </a:r>
            <a:endParaRPr sz="115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735"/>
              </a:spcBef>
              <a:tabLst>
                <a:tab pos="304800" algn="l"/>
              </a:tabLst>
            </a:pPr>
            <a:r>
              <a:rPr sz="1200" spc="-50" dirty="0">
                <a:solidFill>
                  <a:srgbClr val="7C7795"/>
                </a:solidFill>
                <a:latin typeface="Arial"/>
                <a:cs typeface="Arial"/>
              </a:rPr>
              <a:t>0</a:t>
            </a:r>
            <a:r>
              <a:rPr sz="1200" dirty="0">
                <a:solidFill>
                  <a:srgbClr val="7C7795"/>
                </a:solid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number</a:t>
            </a:r>
            <a:r>
              <a:rPr sz="1150" spc="20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7C7795"/>
                </a:solidFill>
                <a:latin typeface="Times New Roman"/>
                <a:cs typeface="Times New Roman"/>
              </a:rPr>
              <a:t>of</a:t>
            </a:r>
            <a:r>
              <a:rPr sz="1150" spc="15" dirty="0">
                <a:solidFill>
                  <a:srgbClr val="7C7795"/>
                </a:solidFill>
                <a:latin typeface="Times New Roman"/>
                <a:cs typeface="Times New Roman"/>
              </a:rPr>
              <a:t> </a:t>
            </a:r>
            <a:r>
              <a:rPr sz="1150" spc="-10" dirty="0">
                <a:solidFill>
                  <a:srgbClr val="7C7795"/>
                </a:solidFill>
                <a:latin typeface="Times New Roman"/>
                <a:cs typeface="Times New Roman"/>
              </a:rPr>
              <a:t>qubits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726" y="3838876"/>
            <a:ext cx="4146290" cy="167517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150" y="1010038"/>
            <a:ext cx="5029249" cy="572088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15307" y="2780037"/>
            <a:ext cx="0" cy="2750185"/>
          </a:xfrm>
          <a:custGeom>
            <a:avLst/>
            <a:gdLst/>
            <a:ahLst/>
            <a:cxnLst/>
            <a:rect l="l" t="t" r="r" b="b"/>
            <a:pathLst>
              <a:path h="2750185">
                <a:moveTo>
                  <a:pt x="0" y="2749819"/>
                </a:moveTo>
                <a:lnTo>
                  <a:pt x="0" y="0"/>
                </a:lnTo>
              </a:path>
            </a:pathLst>
          </a:custGeom>
          <a:ln w="157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00551" y="2748429"/>
            <a:ext cx="0" cy="2750185"/>
          </a:xfrm>
          <a:custGeom>
            <a:avLst/>
            <a:gdLst/>
            <a:ahLst/>
            <a:cxnLst/>
            <a:rect l="l" t="t" r="r" b="b"/>
            <a:pathLst>
              <a:path h="2750185">
                <a:moveTo>
                  <a:pt x="0" y="2749819"/>
                </a:moveTo>
                <a:lnTo>
                  <a:pt x="0" y="0"/>
                </a:lnTo>
              </a:path>
            </a:pathLst>
          </a:custGeom>
          <a:ln w="7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4683" y="1184348"/>
            <a:ext cx="3115945" cy="758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b="1" u="none" spc="-940" dirty="0">
                <a:solidFill>
                  <a:srgbClr val="6B6295"/>
                </a:solidFill>
                <a:latin typeface="Arial"/>
                <a:cs typeface="Arial"/>
              </a:rPr>
              <a:t>WHY</a:t>
            </a:r>
            <a:r>
              <a:rPr sz="4800" b="1" u="none" spc="-290" dirty="0">
                <a:solidFill>
                  <a:srgbClr val="6B6295"/>
                </a:solidFill>
                <a:latin typeface="Arial"/>
                <a:cs typeface="Arial"/>
              </a:rPr>
              <a:t> </a:t>
            </a:r>
            <a:r>
              <a:rPr sz="4800" b="1" u="none" spc="-960" dirty="0">
                <a:solidFill>
                  <a:srgbClr val="6B6295"/>
                </a:solidFill>
                <a:latin typeface="Arial"/>
                <a:cs typeface="Arial"/>
              </a:rPr>
              <a:t>MODEL?</a:t>
            </a:r>
            <a:endParaRPr sz="4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668" y="2566061"/>
            <a:ext cx="5001895" cy="21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19760" algn="ctr">
              <a:lnSpc>
                <a:spcPts val="705"/>
              </a:lnSpc>
              <a:spcBef>
                <a:spcPts val="100"/>
              </a:spcBef>
            </a:pPr>
            <a:r>
              <a:rPr sz="650" spc="65" dirty="0">
                <a:solidFill>
                  <a:srgbClr val="494949"/>
                </a:solidFill>
                <a:latin typeface="Arial"/>
                <a:cs typeface="Arial"/>
              </a:rPr>
              <a:t>Threshold</a:t>
            </a:r>
            <a:r>
              <a:rPr sz="650" spc="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650" spc="70" dirty="0">
                <a:solidFill>
                  <a:srgbClr val="494949"/>
                </a:solidFill>
                <a:latin typeface="Arial"/>
                <a:cs typeface="Arial"/>
              </a:rPr>
              <a:t>vs</a:t>
            </a:r>
            <a:r>
              <a:rPr sz="650" spc="-3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650" spc="65" dirty="0">
                <a:solidFill>
                  <a:srgbClr val="494949"/>
                </a:solidFill>
                <a:latin typeface="Arial"/>
                <a:cs typeface="Arial"/>
              </a:rPr>
              <a:t>Runtime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65"/>
              </a:lnSpc>
              <a:tabLst>
                <a:tab pos="1758950" algn="l"/>
                <a:tab pos="4988560" algn="l"/>
              </a:tabLst>
            </a:pPr>
            <a:r>
              <a:rPr sz="700" u="heavy" dirty="0">
                <a:solidFill>
                  <a:srgbClr val="49494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700" u="heavy" spc="60" dirty="0">
                <a:solidFill>
                  <a:srgbClr val="49494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Correlation:</a:t>
            </a:r>
            <a:r>
              <a:rPr sz="700" u="heavy" spc="20" dirty="0">
                <a:solidFill>
                  <a:srgbClr val="49494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700" u="heavy" spc="95" dirty="0">
                <a:solidFill>
                  <a:srgbClr val="49494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0,1935</a:t>
            </a:r>
            <a:r>
              <a:rPr sz="700" u="heavy" dirty="0">
                <a:solidFill>
                  <a:srgbClr val="49494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4114" y="2793677"/>
            <a:ext cx="60071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580" algn="l"/>
              </a:tabLst>
            </a:pPr>
            <a:r>
              <a:rPr sz="600" spc="15" dirty="0">
                <a:solidFill>
                  <a:srgbClr val="D67274"/>
                </a:solidFill>
                <a:latin typeface="Times New Roman"/>
                <a:cs typeface="Times New Roman"/>
              </a:rPr>
              <a:t>-</a:t>
            </a:r>
            <a:r>
              <a:rPr sz="600" dirty="0">
                <a:solidFill>
                  <a:srgbClr val="D67274"/>
                </a:solidFill>
                <a:latin typeface="Times New Roman"/>
                <a:cs typeface="Times New Roman"/>
              </a:rPr>
              <a:t>	</a:t>
            </a:r>
            <a:r>
              <a:rPr sz="600" spc="-10" dirty="0">
                <a:solidFill>
                  <a:srgbClr val="8C8C8C"/>
                </a:solidFill>
                <a:latin typeface="Times New Roman"/>
                <a:cs typeface="Times New Roman"/>
              </a:rPr>
              <a:t>Power</a:t>
            </a:r>
            <a:r>
              <a:rPr sz="600" spc="-75" dirty="0">
                <a:solidFill>
                  <a:srgbClr val="8C8C8C"/>
                </a:solidFill>
                <a:latin typeface="Times New Roman"/>
                <a:cs typeface="Times New Roman"/>
              </a:rPr>
              <a:t> </a:t>
            </a:r>
            <a:r>
              <a:rPr sz="600" dirty="0">
                <a:solidFill>
                  <a:srgbClr val="797979"/>
                </a:solidFill>
                <a:latin typeface="Times New Roman"/>
                <a:cs typeface="Times New Roman"/>
              </a:rPr>
              <a:t>law</a:t>
            </a:r>
            <a:r>
              <a:rPr sz="600" spc="-5" dirty="0">
                <a:solidFill>
                  <a:srgbClr val="797979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8C8C8C"/>
                </a:solidFill>
                <a:latin typeface="Times New Roman"/>
                <a:cs typeface="Times New Roman"/>
              </a:rPr>
              <a:t>hl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6110" y="2835600"/>
            <a:ext cx="9080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5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371" y="2869622"/>
            <a:ext cx="13716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95" dirty="0">
                <a:solidFill>
                  <a:srgbClr val="797979"/>
                </a:solidFill>
                <a:latin typeface="Arial"/>
                <a:cs typeface="Arial"/>
              </a:rPr>
              <a:t>,</a:t>
            </a:r>
            <a:r>
              <a:rPr sz="2300" spc="-295" dirty="0">
                <a:solidFill>
                  <a:srgbClr val="8C8C8C"/>
                </a:solidFill>
                <a:latin typeface="Arial"/>
                <a:cs typeface="Arial"/>
              </a:rPr>
              <a:t>..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900" y="3126649"/>
            <a:ext cx="8128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>
              <a:lnSpc>
                <a:spcPts val="1350"/>
              </a:lnSpc>
              <a:spcBef>
                <a:spcPts val="100"/>
              </a:spcBef>
            </a:pPr>
            <a:r>
              <a:rPr sz="1150" spc="-125" dirty="0">
                <a:solidFill>
                  <a:srgbClr val="524FC8"/>
                </a:solidFill>
                <a:latin typeface="Arial"/>
                <a:cs typeface="Arial"/>
              </a:rPr>
              <a:t>I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1710"/>
              </a:lnSpc>
            </a:pPr>
            <a:r>
              <a:rPr sz="1450" spc="35" dirty="0">
                <a:solidFill>
                  <a:srgbClr val="3F38C3"/>
                </a:solidFill>
                <a:latin typeface="Arial"/>
                <a:cs typeface="Arial"/>
              </a:rPr>
              <a:t>I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2001" y="3120504"/>
            <a:ext cx="463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5" dirty="0">
                <a:solidFill>
                  <a:srgbClr val="706BD4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49127" y="3033144"/>
            <a:ext cx="958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45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2213" y="3128405"/>
            <a:ext cx="6223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0" dirty="0">
                <a:solidFill>
                  <a:srgbClr val="706BD4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6797" y="3388724"/>
            <a:ext cx="958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45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36110" y="3357117"/>
            <a:ext cx="958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45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93305" y="3388724"/>
            <a:ext cx="958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45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7905" y="3008200"/>
            <a:ext cx="1072515" cy="5327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275"/>
              </a:spcBef>
              <a:tabLst>
                <a:tab pos="942975" algn="l"/>
              </a:tabLst>
            </a:pPr>
            <a:r>
              <a:rPr sz="1400" spc="-50" dirty="0">
                <a:solidFill>
                  <a:srgbClr val="706BD4"/>
                </a:solidFill>
                <a:latin typeface="Arial"/>
                <a:cs typeface="Arial"/>
              </a:rPr>
              <a:t>•</a:t>
            </a:r>
            <a:r>
              <a:rPr sz="1400" dirty="0">
                <a:solidFill>
                  <a:srgbClr val="706BD4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3F38C3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  <a:tabLst>
                <a:tab pos="487680" algn="l"/>
                <a:tab pos="944880" algn="l"/>
              </a:tabLst>
            </a:pPr>
            <a:r>
              <a:rPr sz="1450" spc="-5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r>
              <a:rPr sz="1450" dirty="0">
                <a:solidFill>
                  <a:srgbClr val="706BD4"/>
                </a:solidFill>
                <a:latin typeface="Times New Roman"/>
                <a:cs typeface="Times New Roman"/>
              </a:rPr>
              <a:t>	</a:t>
            </a:r>
            <a:r>
              <a:rPr sz="1350" spc="-5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r>
              <a:rPr sz="1350" dirty="0">
                <a:solidFill>
                  <a:srgbClr val="706BD4"/>
                </a:solidFill>
                <a:latin typeface="Times New Roman"/>
                <a:cs typeface="Times New Roman"/>
              </a:rPr>
              <a:t>	</a:t>
            </a:r>
            <a:r>
              <a:rPr sz="2025" spc="-75" baseline="-34979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2025" baseline="-3497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07040" y="3391358"/>
            <a:ext cx="15049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75" spc="-1057" baseline="-21680" dirty="0">
                <a:solidFill>
                  <a:srgbClr val="524FC8"/>
                </a:solidFill>
                <a:latin typeface="Arial"/>
                <a:cs typeface="Arial"/>
              </a:rPr>
              <a:t>•</a:t>
            </a:r>
            <a:r>
              <a:rPr sz="1450" spc="-5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7496" y="3559491"/>
            <a:ext cx="914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4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378" y="3666605"/>
            <a:ext cx="13144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185" dirty="0">
                <a:solidFill>
                  <a:srgbClr val="AAAAAA"/>
                </a:solidFill>
                <a:latin typeface="Arial"/>
                <a:cs typeface="Arial"/>
              </a:rPr>
              <a:t>""</a:t>
            </a:r>
            <a:endParaRPr sz="17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0987" y="3614804"/>
            <a:ext cx="660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6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6057" y="3643777"/>
            <a:ext cx="101600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295" dirty="0">
                <a:solidFill>
                  <a:srgbClr val="706BD4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30649" y="3678018"/>
            <a:ext cx="52260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300" spc="-5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r>
              <a:rPr sz="1300" dirty="0">
                <a:solidFill>
                  <a:srgbClr val="706BD4"/>
                </a:solidFill>
                <a:latin typeface="Times New Roman"/>
                <a:cs typeface="Times New Roman"/>
              </a:rPr>
              <a:t>	</a:t>
            </a:r>
            <a:r>
              <a:rPr sz="1350" spc="-11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718" y="3888073"/>
            <a:ext cx="12001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10" dirty="0">
                <a:solidFill>
                  <a:srgbClr val="797979"/>
                </a:solidFill>
                <a:latin typeface="Times New Roman"/>
                <a:cs typeface="Times New Roman"/>
              </a:rPr>
              <a:t>...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564" y="4056426"/>
            <a:ext cx="4635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-85" dirty="0">
                <a:solidFill>
                  <a:srgbClr val="797979"/>
                </a:solidFill>
                <a:latin typeface="Times New Roman"/>
                <a:cs typeface="Times New Roman"/>
              </a:rPr>
              <a:t>c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924" y="4110201"/>
            <a:ext cx="4635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85" dirty="0">
                <a:solidFill>
                  <a:srgbClr val="8C8C8C"/>
                </a:solidFill>
                <a:latin typeface="Times New Roman"/>
                <a:cs typeface="Times New Roman"/>
              </a:rPr>
              <a:t>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53" y="4111958"/>
            <a:ext cx="319405" cy="955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2025" spc="-322" baseline="24691" dirty="0">
                <a:solidFill>
                  <a:srgbClr val="8C8C8C"/>
                </a:solidFill>
                <a:latin typeface="Times New Roman"/>
                <a:cs typeface="Times New Roman"/>
              </a:rPr>
              <a:t>.x</a:t>
            </a:r>
            <a:r>
              <a:rPr sz="2025" spc="-277" baseline="24691" dirty="0">
                <a:solidFill>
                  <a:srgbClr val="8C8C8C"/>
                </a:solidFill>
                <a:latin typeface="Times New Roman"/>
                <a:cs typeface="Times New Roman"/>
              </a:rPr>
              <a:t> </a:t>
            </a:r>
            <a:r>
              <a:rPr sz="2100" spc="-90" dirty="0">
                <a:solidFill>
                  <a:srgbClr val="8C8C8C"/>
                </a:solidFill>
                <a:latin typeface="Times New Roman"/>
                <a:cs typeface="Times New Roman"/>
              </a:rPr>
              <a:t>...</a:t>
            </a:r>
            <a:endParaRPr sz="21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  <a:spcBef>
                <a:spcPts val="1855"/>
              </a:spcBef>
            </a:pPr>
            <a:r>
              <a:rPr sz="1300" spc="-135" dirty="0">
                <a:solidFill>
                  <a:srgbClr val="797979"/>
                </a:solidFill>
                <a:latin typeface="Arial"/>
                <a:cs typeface="Arial"/>
              </a:rPr>
              <a:t>,</a:t>
            </a:r>
            <a:r>
              <a:rPr sz="2450" spc="-135" dirty="0">
                <a:solidFill>
                  <a:srgbClr val="AAAAAA"/>
                </a:solidFill>
                <a:latin typeface="Times New Roman"/>
                <a:cs typeface="Times New Roman"/>
              </a:rPr>
              <a:t>..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1389" y="4940328"/>
            <a:ext cx="104775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385" dirty="0">
                <a:solidFill>
                  <a:srgbClr val="1111AC"/>
                </a:solidFill>
                <a:latin typeface="Arial"/>
                <a:cs typeface="Arial"/>
              </a:rPr>
              <a:t>I</a:t>
            </a:r>
            <a:endParaRPr sz="3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9280" y="5056000"/>
            <a:ext cx="11366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75" spc="-982" baseline="-21072" dirty="0">
                <a:solidFill>
                  <a:srgbClr val="3F38C3"/>
                </a:solidFill>
                <a:latin typeface="Times New Roman"/>
                <a:cs typeface="Times New Roman"/>
              </a:rPr>
              <a:t>•</a:t>
            </a:r>
            <a:r>
              <a:rPr sz="1300" spc="-145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45040" y="5111313"/>
            <a:ext cx="142748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630" algn="l"/>
                <a:tab pos="918210" algn="l"/>
                <a:tab pos="1375410" algn="l"/>
              </a:tabLst>
            </a:pPr>
            <a:r>
              <a:rPr sz="1300" spc="-5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r>
              <a:rPr sz="1300" dirty="0">
                <a:solidFill>
                  <a:srgbClr val="706BD4"/>
                </a:solidFill>
                <a:latin typeface="Times New Roman"/>
                <a:cs typeface="Times New Roman"/>
              </a:rPr>
              <a:t>	</a:t>
            </a:r>
            <a:r>
              <a:rPr sz="1450" spc="-5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r>
              <a:rPr sz="1450" dirty="0">
                <a:solidFill>
                  <a:srgbClr val="706BD4"/>
                </a:solidFill>
                <a:latin typeface="Times New Roman"/>
                <a:cs typeface="Times New Roman"/>
              </a:rPr>
              <a:t>	</a:t>
            </a:r>
            <a:r>
              <a:rPr sz="1350" spc="-50" dirty="0">
                <a:solidFill>
                  <a:srgbClr val="706BD4"/>
                </a:solidFill>
                <a:latin typeface="Times New Roman"/>
                <a:cs typeface="Times New Roman"/>
              </a:rPr>
              <a:t>•</a:t>
            </a:r>
            <a:r>
              <a:rPr sz="1350" dirty="0">
                <a:solidFill>
                  <a:srgbClr val="706BD4"/>
                </a:solidFill>
                <a:latin typeface="Times New Roman"/>
                <a:cs typeface="Times New Roman"/>
              </a:rPr>
              <a:t>	</a:t>
            </a:r>
            <a:r>
              <a:rPr sz="1400" spc="-140" dirty="0">
                <a:solidFill>
                  <a:srgbClr val="706BD4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93632" y="5194941"/>
            <a:ext cx="1035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0" dirty="0">
                <a:solidFill>
                  <a:srgbClr val="3F38C3"/>
                </a:solidFill>
                <a:latin typeface="Times New Roman"/>
                <a:cs typeface="Times New Roman"/>
              </a:rPr>
              <a:t>•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9658" y="5335197"/>
            <a:ext cx="13906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-204" dirty="0">
                <a:solidFill>
                  <a:srgbClr val="8C8C8C"/>
                </a:solidFill>
                <a:latin typeface="Times New Roman"/>
                <a:cs typeface="Times New Roman"/>
              </a:rPr>
              <a:t>...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67388" y="5268471"/>
            <a:ext cx="13779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29" dirty="0">
                <a:solidFill>
                  <a:srgbClr val="797979"/>
                </a:solidFill>
                <a:latin typeface="Arial"/>
                <a:cs typeface="Arial"/>
              </a:rPr>
              <a:t>,</a:t>
            </a:r>
            <a:r>
              <a:rPr sz="2450" spc="-229" dirty="0">
                <a:solidFill>
                  <a:srgbClr val="AAAAAA"/>
                </a:solidFill>
                <a:latin typeface="Times New Roman"/>
                <a:cs typeface="Times New Roman"/>
              </a:rPr>
              <a:t>..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60391" y="5320931"/>
            <a:ext cx="14795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195" dirty="0">
                <a:solidFill>
                  <a:srgbClr val="AAAAAA"/>
                </a:solidFill>
                <a:latin typeface="Times New Roman"/>
                <a:cs typeface="Times New Roman"/>
              </a:rPr>
              <a:t>...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73275" y="5608247"/>
            <a:ext cx="38290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8C8C8C"/>
                </a:solidFill>
                <a:latin typeface="Times New Roman"/>
                <a:cs typeface="Times New Roman"/>
              </a:rPr>
              <a:t>Threshold</a:t>
            </a:r>
            <a:endParaRPr sz="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541" y="2811645"/>
            <a:ext cx="4240883" cy="18174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0430" y="1064504"/>
            <a:ext cx="3812540" cy="127444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840105" marR="5080" indent="-828040">
              <a:lnSpc>
                <a:spcPts val="4420"/>
              </a:lnSpc>
              <a:spcBef>
                <a:spcPts val="1075"/>
              </a:spcBef>
            </a:pPr>
            <a:r>
              <a:rPr sz="4500" b="1" u="none" spc="-919" dirty="0">
                <a:solidFill>
                  <a:srgbClr val="6B6295"/>
                </a:solidFill>
                <a:latin typeface="Arial"/>
                <a:cs typeface="Arial"/>
              </a:rPr>
              <a:t>PYTORCH</a:t>
            </a:r>
            <a:r>
              <a:rPr sz="4500" b="1" u="none" spc="20" dirty="0">
                <a:solidFill>
                  <a:srgbClr val="6B6295"/>
                </a:solidFill>
                <a:latin typeface="Arial"/>
                <a:cs typeface="Arial"/>
              </a:rPr>
              <a:t> </a:t>
            </a:r>
            <a:r>
              <a:rPr sz="4500" b="1" u="none" spc="-1050" dirty="0">
                <a:solidFill>
                  <a:srgbClr val="6B6295"/>
                </a:solidFill>
                <a:latin typeface="Arial"/>
                <a:cs typeface="Arial"/>
              </a:rPr>
              <a:t>NEURAL</a:t>
            </a:r>
            <a:r>
              <a:rPr sz="4500" b="1" u="none" spc="-980" dirty="0">
                <a:solidFill>
                  <a:srgbClr val="6B6295"/>
                </a:solidFill>
                <a:latin typeface="Arial"/>
                <a:cs typeface="Arial"/>
              </a:rPr>
              <a:t> NETWORK</a:t>
            </a:r>
            <a:endParaRPr sz="4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3825" y="1446812"/>
            <a:ext cx="1151255" cy="546100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3100" b="1" spc="-844" dirty="0">
                <a:solidFill>
                  <a:srgbClr val="F6F4F9"/>
                </a:solidFill>
                <a:latin typeface="Times New Roman"/>
                <a:cs typeface="Times New Roman"/>
              </a:rPr>
              <a:t>FORMAT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67175" y="4148832"/>
            <a:ext cx="10160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708762"/>
                </a:solidFill>
                <a:latin typeface="Arial"/>
                <a:cs typeface="Arial"/>
              </a:rPr>
              <a:t>output</a:t>
            </a:r>
            <a:r>
              <a:rPr sz="1500" spc="-50" dirty="0">
                <a:solidFill>
                  <a:srgbClr val="708762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708762"/>
                </a:solidFill>
                <a:latin typeface="Arial"/>
                <a:cs typeface="Arial"/>
              </a:rPr>
              <a:t>layer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1616" y="2235324"/>
            <a:ext cx="1276985" cy="214629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6F4F9"/>
                </a:solidFill>
                <a:latin typeface="Times New Roman"/>
                <a:cs typeface="Times New Roman"/>
              </a:rPr>
              <a:t>Input</a:t>
            </a:r>
            <a:r>
              <a:rPr sz="1250" spc="130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spc="50" dirty="0">
                <a:solidFill>
                  <a:srgbClr val="E2DFEB"/>
                </a:solidFill>
                <a:latin typeface="Times New Roman"/>
                <a:cs typeface="Times New Roman"/>
              </a:rPr>
              <a:t>(</a:t>
            </a:r>
            <a:r>
              <a:rPr sz="1250" spc="50" dirty="0">
                <a:solidFill>
                  <a:srgbClr val="F6F4F9"/>
                </a:solidFill>
                <a:latin typeface="Times New Roman"/>
                <a:cs typeface="Times New Roman"/>
              </a:rPr>
              <a:t>12</a:t>
            </a:r>
            <a:r>
              <a:rPr sz="1250" spc="-70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2DFEB"/>
                </a:solidFill>
                <a:latin typeface="Times New Roman"/>
                <a:cs typeface="Times New Roman"/>
              </a:rPr>
              <a:t>features)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98285" y="2542016"/>
            <a:ext cx="63500" cy="260985"/>
          </a:xfrm>
          <a:custGeom>
            <a:avLst/>
            <a:gdLst/>
            <a:ahLst/>
            <a:cxnLst/>
            <a:rect l="l" t="t" r="r" b="b"/>
            <a:pathLst>
              <a:path w="63500" h="260985">
                <a:moveTo>
                  <a:pt x="63061" y="260518"/>
                </a:moveTo>
                <a:lnTo>
                  <a:pt x="0" y="260518"/>
                </a:lnTo>
                <a:lnTo>
                  <a:pt x="0" y="0"/>
                </a:lnTo>
                <a:lnTo>
                  <a:pt x="63061" y="0"/>
                </a:lnTo>
                <a:lnTo>
                  <a:pt x="63061" y="260518"/>
                </a:lnTo>
                <a:close/>
              </a:path>
            </a:pathLst>
          </a:custGeom>
          <a:solidFill>
            <a:srgbClr val="6E66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85586" y="2536869"/>
            <a:ext cx="831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35" dirty="0">
                <a:solidFill>
                  <a:srgbClr val="C8C3E1"/>
                </a:solidFill>
                <a:latin typeface="Arial"/>
                <a:cs typeface="Arial"/>
              </a:rPr>
              <a:t>!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7450" y="2851663"/>
            <a:ext cx="2425065" cy="217170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F6F4F9"/>
                </a:solidFill>
                <a:latin typeface="Times New Roman"/>
                <a:cs typeface="Times New Roman"/>
              </a:rPr>
              <a:t>Dense</a:t>
            </a:r>
            <a:r>
              <a:rPr sz="1250" spc="170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F6F4F9"/>
                </a:solidFill>
                <a:latin typeface="Times New Roman"/>
                <a:cs typeface="Times New Roman"/>
              </a:rPr>
              <a:t>Layer</a:t>
            </a:r>
            <a:r>
              <a:rPr sz="1250" spc="170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E2DFEB"/>
                </a:solidFill>
                <a:latin typeface="Times New Roman"/>
                <a:cs typeface="Times New Roman"/>
              </a:rPr>
              <a:t>(</a:t>
            </a:r>
            <a:r>
              <a:rPr sz="1250" spc="-15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128</a:t>
            </a:r>
            <a:r>
              <a:rPr sz="1250" spc="7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F6F4F9"/>
                </a:solidFill>
                <a:latin typeface="Times New Roman"/>
                <a:cs typeface="Times New Roman"/>
              </a:rPr>
              <a:t>neurons)</a:t>
            </a:r>
            <a:r>
              <a:rPr sz="1250" spc="210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Arial"/>
                <a:cs typeface="Arial"/>
              </a:rPr>
              <a:t>+</a:t>
            </a:r>
            <a:r>
              <a:rPr sz="1250" spc="220" dirty="0">
                <a:solidFill>
                  <a:srgbClr val="E2DFEB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F6F4F9"/>
                </a:solidFill>
                <a:latin typeface="Times New Roman"/>
                <a:cs typeface="Times New Roman"/>
              </a:rPr>
              <a:t>ReLU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98285" y="3158355"/>
            <a:ext cx="63500" cy="260985"/>
          </a:xfrm>
          <a:custGeom>
            <a:avLst/>
            <a:gdLst/>
            <a:ahLst/>
            <a:cxnLst/>
            <a:rect l="l" t="t" r="r" b="b"/>
            <a:pathLst>
              <a:path w="63500" h="260985">
                <a:moveTo>
                  <a:pt x="63061" y="260518"/>
                </a:moveTo>
                <a:lnTo>
                  <a:pt x="0" y="260518"/>
                </a:lnTo>
                <a:lnTo>
                  <a:pt x="0" y="0"/>
                </a:lnTo>
                <a:lnTo>
                  <a:pt x="63061" y="0"/>
                </a:lnTo>
                <a:lnTo>
                  <a:pt x="63061" y="260518"/>
                </a:lnTo>
                <a:close/>
              </a:path>
            </a:pathLst>
          </a:custGeom>
          <a:solidFill>
            <a:srgbClr val="6E66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85586" y="3153208"/>
            <a:ext cx="762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E2DFEB"/>
                </a:solidFill>
                <a:latin typeface="Arial"/>
                <a:cs typeface="Arial"/>
              </a:rPr>
              <a:t>!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6863" y="3468003"/>
            <a:ext cx="2346325" cy="215265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Dense</a:t>
            </a:r>
            <a:r>
              <a:rPr sz="1250" spc="25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F6F4F9"/>
                </a:solidFill>
                <a:latin typeface="Times New Roman"/>
                <a:cs typeface="Times New Roman"/>
              </a:rPr>
              <a:t>Layer</a:t>
            </a:r>
            <a:r>
              <a:rPr sz="1250" spc="180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(64</a:t>
            </a:r>
            <a:r>
              <a:rPr sz="1250" spc="12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F6F4F9"/>
                </a:solidFill>
                <a:latin typeface="Times New Roman"/>
                <a:cs typeface="Times New Roman"/>
              </a:rPr>
              <a:t>neurons)</a:t>
            </a:r>
            <a:r>
              <a:rPr sz="1250" spc="215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2DFEB"/>
                </a:solidFill>
                <a:latin typeface="Arial"/>
                <a:cs typeface="Arial"/>
              </a:rPr>
              <a:t>+</a:t>
            </a:r>
            <a:r>
              <a:rPr sz="1200" spc="204" dirty="0">
                <a:solidFill>
                  <a:srgbClr val="E2DFEB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E2DFEB"/>
                </a:solidFill>
                <a:latin typeface="Times New Roman"/>
                <a:cs typeface="Times New Roman"/>
              </a:rPr>
              <a:t>ReLU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06168" y="3774694"/>
            <a:ext cx="55244" cy="260985"/>
          </a:xfrm>
          <a:custGeom>
            <a:avLst/>
            <a:gdLst/>
            <a:ahLst/>
            <a:cxnLst/>
            <a:rect l="l" t="t" r="r" b="b"/>
            <a:pathLst>
              <a:path w="55245" h="260985">
                <a:moveTo>
                  <a:pt x="55178" y="260518"/>
                </a:moveTo>
                <a:lnTo>
                  <a:pt x="0" y="260518"/>
                </a:lnTo>
                <a:lnTo>
                  <a:pt x="0" y="0"/>
                </a:lnTo>
                <a:lnTo>
                  <a:pt x="55178" y="0"/>
                </a:lnTo>
                <a:lnTo>
                  <a:pt x="55178" y="260518"/>
                </a:lnTo>
                <a:close/>
              </a:path>
            </a:pathLst>
          </a:custGeom>
          <a:solidFill>
            <a:srgbClr val="6E66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93470" y="3769548"/>
            <a:ext cx="768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solidFill>
                  <a:srgbClr val="E2DFEB"/>
                </a:solidFill>
                <a:latin typeface="Arial"/>
                <a:cs typeface="Arial"/>
              </a:rPr>
              <a:t>!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4592" y="4084341"/>
            <a:ext cx="2433955" cy="222885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70" dirty="0">
                <a:solidFill>
                  <a:srgbClr val="E2DFEB"/>
                </a:solidFill>
                <a:latin typeface="Times New Roman"/>
                <a:cs typeface="Times New Roman"/>
              </a:rPr>
              <a:t>Output</a:t>
            </a:r>
            <a:r>
              <a:rPr sz="1250" spc="6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50" dirty="0">
                <a:solidFill>
                  <a:srgbClr val="E2DFEB"/>
                </a:solidFill>
                <a:latin typeface="Times New Roman"/>
                <a:cs typeface="Times New Roman"/>
              </a:rPr>
              <a:t>(I</a:t>
            </a:r>
            <a:r>
              <a:rPr sz="1250" spc="21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80" dirty="0">
                <a:solidFill>
                  <a:srgbClr val="E2DFEB"/>
                </a:solidFill>
                <a:latin typeface="Times New Roman"/>
                <a:cs typeface="Times New Roman"/>
              </a:rPr>
              <a:t>number)=</a:t>
            </a:r>
            <a:r>
              <a:rPr sz="1250" spc="11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F6F4F9"/>
                </a:solidFill>
                <a:latin typeface="Times New Roman"/>
                <a:cs typeface="Times New Roman"/>
              </a:rPr>
              <a:t>log</a:t>
            </a:r>
            <a:r>
              <a:rPr sz="1275" spc="-15" baseline="-13071" dirty="0">
                <a:solidFill>
                  <a:srgbClr val="F6F4F9"/>
                </a:solidFill>
                <a:latin typeface="Times New Roman"/>
                <a:cs typeface="Times New Roman"/>
              </a:rPr>
              <a:t>2</a:t>
            </a:r>
            <a:r>
              <a:rPr sz="1250" spc="-10" dirty="0">
                <a:solidFill>
                  <a:srgbClr val="F6F4F9"/>
                </a:solidFill>
                <a:latin typeface="Times New Roman"/>
                <a:cs typeface="Times New Roman"/>
              </a:rPr>
              <a:t>(seconds)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11281" y="4384609"/>
            <a:ext cx="1896110" cy="214629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Test:</a:t>
            </a:r>
            <a:r>
              <a:rPr sz="1250" spc="-6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55" dirty="0">
                <a:solidFill>
                  <a:srgbClr val="F6F4F9"/>
                </a:solidFill>
                <a:latin typeface="Times New Roman"/>
                <a:cs typeface="Times New Roman"/>
              </a:rPr>
              <a:t>12</a:t>
            </a:r>
            <a:r>
              <a:rPr sz="1250" spc="5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F6F4F9"/>
                </a:solidFill>
                <a:latin typeface="Times New Roman"/>
                <a:cs typeface="Times New Roman"/>
              </a:rPr>
              <a:t>Files</a:t>
            </a:r>
            <a:r>
              <a:rPr sz="1250" spc="15" dirty="0">
                <a:solidFill>
                  <a:srgbClr val="F6F4F9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,Train:</a:t>
            </a:r>
            <a:r>
              <a:rPr sz="1250" spc="-13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24</a:t>
            </a:r>
            <a:r>
              <a:rPr sz="1250" spc="16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F6F4F9"/>
                </a:solidFill>
                <a:latin typeface="Times New Roman"/>
                <a:cs typeface="Times New Roman"/>
              </a:rPr>
              <a:t>Files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498" y="4567627"/>
            <a:ext cx="9036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BF4F52"/>
                </a:solidFill>
                <a:latin typeface="Arial"/>
                <a:cs typeface="Arial"/>
              </a:rPr>
              <a:t>input</a:t>
            </a:r>
            <a:r>
              <a:rPr sz="1500" spc="-60" dirty="0">
                <a:solidFill>
                  <a:srgbClr val="BF4F52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AC4142"/>
                </a:solidFill>
                <a:latin typeface="Arial"/>
                <a:cs typeface="Arial"/>
              </a:rPr>
              <a:t>layer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4425" y="4828386"/>
            <a:ext cx="12192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3D3BA8"/>
                </a:solidFill>
                <a:latin typeface="Arial"/>
                <a:cs typeface="Arial"/>
              </a:rPr>
              <a:t>hidden</a:t>
            </a:r>
            <a:r>
              <a:rPr sz="1500" spc="-85" dirty="0">
                <a:solidFill>
                  <a:srgbClr val="3D3BA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D3BA8"/>
                </a:solidFill>
                <a:latin typeface="Arial"/>
                <a:cs typeface="Arial"/>
              </a:rPr>
              <a:t>layer</a:t>
            </a:r>
            <a:r>
              <a:rPr sz="1500" spc="-75" dirty="0">
                <a:solidFill>
                  <a:srgbClr val="3D3BA8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3D3BA8"/>
                </a:solidFill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91777" y="4828386"/>
            <a:ext cx="12217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3D3BA8"/>
                </a:solidFill>
                <a:latin typeface="Arial"/>
                <a:cs typeface="Arial"/>
              </a:rPr>
              <a:t>hidden</a:t>
            </a:r>
            <a:r>
              <a:rPr sz="1500" spc="-45" dirty="0">
                <a:solidFill>
                  <a:srgbClr val="3D3BA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26219A"/>
                </a:solidFill>
                <a:latin typeface="Arial"/>
                <a:cs typeface="Arial"/>
              </a:rPr>
              <a:t>l</a:t>
            </a:r>
            <a:r>
              <a:rPr sz="1500" dirty="0">
                <a:solidFill>
                  <a:srgbClr val="3D3BA8"/>
                </a:solidFill>
                <a:latin typeface="Arial"/>
                <a:cs typeface="Arial"/>
              </a:rPr>
              <a:t>aye</a:t>
            </a:r>
            <a:r>
              <a:rPr sz="1500" dirty="0">
                <a:solidFill>
                  <a:srgbClr val="26219A"/>
                </a:solidFill>
                <a:latin typeface="Arial"/>
                <a:cs typeface="Arial"/>
              </a:rPr>
              <a:t>r</a:t>
            </a:r>
            <a:r>
              <a:rPr sz="1500" spc="-100" dirty="0">
                <a:solidFill>
                  <a:srgbClr val="26219A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3D3BA8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47728" y="4949665"/>
            <a:ext cx="3574415" cy="583565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3200" b="1" spc="-705" dirty="0">
                <a:solidFill>
                  <a:srgbClr val="F6F4F9"/>
                </a:solidFill>
                <a:latin typeface="Arial"/>
                <a:cs typeface="Arial"/>
              </a:rPr>
              <a:t>WHY</a:t>
            </a:r>
            <a:r>
              <a:rPr sz="3200" b="1" spc="-400" dirty="0">
                <a:solidFill>
                  <a:srgbClr val="F6F4F9"/>
                </a:solidFill>
                <a:latin typeface="Arial"/>
                <a:cs typeface="Arial"/>
              </a:rPr>
              <a:t> </a:t>
            </a:r>
            <a:r>
              <a:rPr sz="3200" b="1" spc="-600" dirty="0">
                <a:solidFill>
                  <a:srgbClr val="F6F4F9"/>
                </a:solidFill>
                <a:latin typeface="Arial"/>
                <a:cs typeface="Arial"/>
              </a:rPr>
              <a:t>NEURAl</a:t>
            </a:r>
            <a:r>
              <a:rPr sz="3200" b="1" spc="-459" dirty="0">
                <a:solidFill>
                  <a:srgbClr val="F6F4F9"/>
                </a:solidFill>
                <a:latin typeface="Arial"/>
                <a:cs typeface="Arial"/>
              </a:rPr>
              <a:t> </a:t>
            </a:r>
            <a:r>
              <a:rPr sz="3200" b="1" spc="-735" dirty="0">
                <a:solidFill>
                  <a:srgbClr val="F6F4F9"/>
                </a:solidFill>
                <a:latin typeface="Arial"/>
                <a:cs typeface="Arial"/>
              </a:rPr>
              <a:t>NETWORK?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31230" y="5561973"/>
            <a:ext cx="120014" cy="214629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-25" dirty="0">
                <a:solidFill>
                  <a:srgbClr val="C8C3E1"/>
                </a:solidFill>
                <a:latin typeface="Times New Roman"/>
                <a:cs typeface="Times New Roman"/>
              </a:rPr>
              <a:t>I)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81571" y="5561973"/>
            <a:ext cx="2636520" cy="214629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50" dirty="0">
                <a:solidFill>
                  <a:srgbClr val="E2DFEB"/>
                </a:solidFill>
                <a:latin typeface="Times New Roman"/>
                <a:cs typeface="Times New Roman"/>
              </a:rPr>
              <a:t>Captures</a:t>
            </a:r>
            <a:r>
              <a:rPr sz="1250" spc="16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complex,</a:t>
            </a:r>
            <a:r>
              <a:rPr sz="1250" spc="3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non-linear</a:t>
            </a:r>
            <a:r>
              <a:rPr sz="1250" spc="37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2DFEB"/>
                </a:solidFill>
                <a:latin typeface="Times New Roman"/>
                <a:cs typeface="Times New Roman"/>
              </a:rPr>
              <a:t>patterns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610234" y="5870143"/>
            <a:ext cx="126364" cy="214629"/>
          </a:xfrm>
          <a:custGeom>
            <a:avLst/>
            <a:gdLst/>
            <a:ahLst/>
            <a:cxnLst/>
            <a:rect l="l" t="t" r="r" b="b"/>
            <a:pathLst>
              <a:path w="126365" h="214629">
                <a:moveTo>
                  <a:pt x="126122" y="214223"/>
                </a:moveTo>
                <a:lnTo>
                  <a:pt x="0" y="214223"/>
                </a:lnTo>
                <a:lnTo>
                  <a:pt x="0" y="0"/>
                </a:lnTo>
                <a:lnTo>
                  <a:pt x="126122" y="0"/>
                </a:lnTo>
                <a:lnTo>
                  <a:pt x="126122" y="214223"/>
                </a:lnTo>
                <a:close/>
              </a:path>
            </a:pathLst>
          </a:custGeom>
          <a:solidFill>
            <a:srgbClr val="6E66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97536" y="5863738"/>
            <a:ext cx="16700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25" dirty="0">
                <a:solidFill>
                  <a:srgbClr val="C8C3E1"/>
                </a:solidFill>
                <a:latin typeface="Times New Roman"/>
                <a:cs typeface="Times New Roman"/>
              </a:rPr>
              <a:t>2)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02687" y="5870143"/>
            <a:ext cx="1803400" cy="214629"/>
          </a:xfrm>
          <a:prstGeom prst="rect">
            <a:avLst/>
          </a:prstGeom>
          <a:solidFill>
            <a:srgbClr val="6E6693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Predicts</a:t>
            </a:r>
            <a:r>
              <a:rPr sz="1250" spc="20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continuous</a:t>
            </a:r>
            <a:r>
              <a:rPr sz="1250" spc="36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2DFEB"/>
                </a:solidFill>
                <a:latin typeface="Times New Roman"/>
                <a:cs typeface="Times New Roman"/>
              </a:rPr>
              <a:t>values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76603" y="6178312"/>
            <a:ext cx="126364" cy="214629"/>
          </a:xfrm>
          <a:custGeom>
            <a:avLst/>
            <a:gdLst/>
            <a:ahLst/>
            <a:cxnLst/>
            <a:rect l="l" t="t" r="r" b="b"/>
            <a:pathLst>
              <a:path w="126364" h="214629">
                <a:moveTo>
                  <a:pt x="126122" y="214223"/>
                </a:moveTo>
                <a:lnTo>
                  <a:pt x="0" y="214223"/>
                </a:lnTo>
                <a:lnTo>
                  <a:pt x="0" y="0"/>
                </a:lnTo>
                <a:lnTo>
                  <a:pt x="126122" y="0"/>
                </a:lnTo>
                <a:lnTo>
                  <a:pt x="126122" y="214223"/>
                </a:lnTo>
                <a:close/>
              </a:path>
            </a:pathLst>
          </a:custGeom>
          <a:solidFill>
            <a:srgbClr val="6E66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64031" y="6178312"/>
            <a:ext cx="3071495" cy="214629"/>
          </a:xfrm>
          <a:custGeom>
            <a:avLst/>
            <a:gdLst/>
            <a:ahLst/>
            <a:cxnLst/>
            <a:rect l="l" t="t" r="r" b="b"/>
            <a:pathLst>
              <a:path w="3071495" h="214629">
                <a:moveTo>
                  <a:pt x="3070911" y="214223"/>
                </a:moveTo>
                <a:lnTo>
                  <a:pt x="0" y="214223"/>
                </a:lnTo>
                <a:lnTo>
                  <a:pt x="0" y="0"/>
                </a:lnTo>
                <a:lnTo>
                  <a:pt x="3070911" y="0"/>
                </a:lnTo>
                <a:lnTo>
                  <a:pt x="3070911" y="214223"/>
                </a:lnTo>
                <a:close/>
              </a:path>
            </a:pathLst>
          </a:custGeom>
          <a:solidFill>
            <a:srgbClr val="6E66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963904" y="6171908"/>
            <a:ext cx="339788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720" algn="l"/>
              </a:tabLst>
            </a:pPr>
            <a:r>
              <a:rPr sz="1250" spc="-25" dirty="0">
                <a:solidFill>
                  <a:srgbClr val="C8C3E1"/>
                </a:solidFill>
                <a:latin typeface="Times New Roman"/>
                <a:cs typeface="Times New Roman"/>
              </a:rPr>
              <a:t>3)</a:t>
            </a:r>
            <a:r>
              <a:rPr sz="1250" dirty="0">
                <a:solidFill>
                  <a:srgbClr val="C8C3E1"/>
                </a:solidFill>
                <a:latin typeface="Times New Roman"/>
                <a:cs typeface="Times New Roman"/>
              </a:rPr>
              <a:t>	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Hidden</a:t>
            </a:r>
            <a:r>
              <a:rPr sz="1250" spc="16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layers</a:t>
            </a:r>
            <a:r>
              <a:rPr sz="1250" spc="13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70" dirty="0">
                <a:solidFill>
                  <a:srgbClr val="E2DFEB"/>
                </a:solidFill>
                <a:latin typeface="Times New Roman"/>
                <a:cs typeface="Times New Roman"/>
              </a:rPr>
              <a:t>better</a:t>
            </a:r>
            <a:r>
              <a:rPr sz="1250" spc="4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find</a:t>
            </a:r>
            <a:r>
              <a:rPr sz="1250" spc="15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relations</a:t>
            </a:r>
            <a:r>
              <a:rPr sz="1250" spc="90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2DFEB"/>
                </a:solidFill>
                <a:latin typeface="Times New Roman"/>
                <a:cs typeface="Times New Roman"/>
              </a:rPr>
              <a:t>in</a:t>
            </a:r>
            <a:r>
              <a:rPr sz="1250" spc="5" dirty="0">
                <a:solidFill>
                  <a:srgbClr val="E2DFEB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2DFEB"/>
                </a:solidFill>
                <a:latin typeface="Times New Roman"/>
                <a:cs typeface="Times New Roman"/>
              </a:rPr>
              <a:t>features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866" y="1004143"/>
            <a:ext cx="200850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b="1" u="none" spc="-1050" dirty="0">
                <a:solidFill>
                  <a:srgbClr val="6B6295"/>
                </a:solidFill>
                <a:latin typeface="Arial"/>
                <a:cs typeface="Arial"/>
              </a:rPr>
              <a:t>RESULTS</a:t>
            </a:r>
            <a:endParaRPr sz="4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69062" y="1037786"/>
            <a:ext cx="2483485" cy="884555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355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0"/>
              </a:spcBef>
            </a:pPr>
            <a:r>
              <a:rPr sz="4850" b="1" spc="-1050" dirty="0">
                <a:solidFill>
                  <a:srgbClr val="EFEDF7"/>
                </a:solidFill>
                <a:latin typeface="Arial"/>
                <a:cs typeface="Arial"/>
              </a:rPr>
              <a:t>PROBLEMS</a:t>
            </a:r>
            <a:endParaRPr sz="4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23625" y="2553068"/>
            <a:ext cx="244475" cy="121920"/>
          </a:xfrm>
          <a:custGeom>
            <a:avLst/>
            <a:gdLst/>
            <a:ahLst/>
            <a:cxnLst/>
            <a:rect l="l" t="t" r="r" b="b"/>
            <a:pathLst>
              <a:path w="244475" h="121919">
                <a:moveTo>
                  <a:pt x="244363" y="121575"/>
                </a:moveTo>
                <a:lnTo>
                  <a:pt x="0" y="121575"/>
                </a:lnTo>
                <a:lnTo>
                  <a:pt x="0" y="0"/>
                </a:lnTo>
                <a:lnTo>
                  <a:pt x="244363" y="0"/>
                </a:lnTo>
                <a:lnTo>
                  <a:pt x="244363" y="121575"/>
                </a:lnTo>
                <a:close/>
              </a:path>
            </a:pathLst>
          </a:custGeom>
          <a:solidFill>
            <a:srgbClr val="36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84300" y="5243009"/>
            <a:ext cx="4813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solidFill>
                  <a:srgbClr val="9A9A9A"/>
                </a:solidFill>
                <a:latin typeface="Times New Roman"/>
                <a:cs typeface="Times New Roman"/>
              </a:rPr>
              <a:t>FxpP&lt;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9A9A9A"/>
                </a:solidFill>
                <a:latin typeface="Times New Roman"/>
                <a:cs typeface="Times New Roman"/>
              </a:rPr>
              <a:t>t</a:t>
            </a:r>
            <a:r>
              <a:rPr sz="850" spc="-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9A9A9A"/>
                </a:solidFill>
                <a:latin typeface="Times New Roman"/>
                <a:cs typeface="Times New Roman"/>
              </a:rPr>
              <a:t>Pd: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402" y="1981725"/>
            <a:ext cx="2942590" cy="3286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209" marR="20320" indent="3175">
              <a:lnSpc>
                <a:spcPct val="107300"/>
              </a:lnSpc>
              <a:spcBef>
                <a:spcPts val="125"/>
              </a:spcBef>
            </a:pP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Expected:</a:t>
            </a:r>
            <a:r>
              <a:rPr sz="800" spc="38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10" dirty="0">
                <a:solidFill>
                  <a:srgbClr val="9A9A9A"/>
                </a:solidFill>
                <a:latin typeface="Times New Roman"/>
                <a:cs typeface="Times New Roman"/>
              </a:rPr>
              <a:t>0.32s,</a:t>
            </a:r>
            <a:r>
              <a:rPr sz="800" spc="3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3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10" dirty="0">
                <a:solidFill>
                  <a:srgbClr val="9A9A9A"/>
                </a:solidFill>
                <a:latin typeface="Times New Roman"/>
                <a:cs typeface="Times New Roman"/>
              </a:rPr>
              <a:t>0.69s,</a:t>
            </a:r>
            <a:r>
              <a:rPr sz="800" spc="35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Er·r·or:</a:t>
            </a:r>
            <a:r>
              <a:rPr sz="700" spc="31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117.9%</a:t>
            </a:r>
            <a:r>
              <a:rPr sz="800" spc="5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l::xpected:</a:t>
            </a:r>
            <a:r>
              <a:rPr sz="800" spc="4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0.2tls,</a:t>
            </a:r>
            <a:r>
              <a:rPr sz="800" spc="40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37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i="1" spc="145" dirty="0">
                <a:solidFill>
                  <a:srgbClr val="9A9A9A"/>
                </a:solidFill>
                <a:latin typeface="Times New Roman"/>
                <a:cs typeface="Times New Roman"/>
              </a:rPr>
              <a:t>0.33s,</a:t>
            </a:r>
            <a:r>
              <a:rPr sz="750" i="1" spc="3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Arial"/>
                <a:cs typeface="Arial"/>
              </a:rPr>
              <a:t>l::rr·or:</a:t>
            </a:r>
            <a:r>
              <a:rPr sz="750" spc="145" dirty="0">
                <a:solidFill>
                  <a:srgbClr val="9A9A9A"/>
                </a:solidFill>
                <a:latin typeface="Arial"/>
                <a:cs typeface="Arial"/>
              </a:rPr>
              <a:t> 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39.1%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 lxpected:</a:t>
            </a:r>
            <a:r>
              <a:rPr sz="800" spc="2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4.</a:t>
            </a: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14" dirty="0">
                <a:solidFill>
                  <a:srgbClr val="9A9A9A"/>
                </a:solidFill>
                <a:latin typeface="Times New Roman"/>
                <a:cs typeface="Times New Roman"/>
              </a:rPr>
              <a:t>l8s,</a:t>
            </a:r>
            <a:r>
              <a:rPr sz="800" spc="25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3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solidFill>
                  <a:srgbClr val="9A9A9A"/>
                </a:solidFill>
                <a:latin typeface="Times New Roman"/>
                <a:cs typeface="Times New Roman"/>
              </a:rPr>
              <a:t>400.mJs,</a:t>
            </a:r>
            <a:r>
              <a:rPr sz="800" spc="3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50" dirty="0">
                <a:solidFill>
                  <a:srgbClr val="9A9A9A"/>
                </a:solidFill>
                <a:latin typeface="Times New Roman"/>
                <a:cs typeface="Times New Roman"/>
              </a:rPr>
              <a:t>lrror:</a:t>
            </a:r>
            <a:r>
              <a:rPr sz="800" spc="27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YOl/.2%</a:t>
            </a:r>
            <a:r>
              <a:rPr sz="800" spc="500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I</a:t>
            </a:r>
            <a:r>
              <a:rPr sz="800" spc="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xpP(tf•d:</a:t>
            </a:r>
            <a:r>
              <a:rPr sz="800" spc="155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800" i="1" dirty="0">
                <a:solidFill>
                  <a:srgbClr val="9A9A9A"/>
                </a:solidFill>
                <a:latin typeface="Times New Roman"/>
                <a:cs typeface="Times New Roman"/>
              </a:rPr>
              <a:t>).</a:t>
            </a:r>
            <a:r>
              <a:rPr sz="800" i="1" spc="165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800" i="1" dirty="0">
                <a:solidFill>
                  <a:srgbClr val="9A9A9A"/>
                </a:solidFill>
                <a:latin typeface="Times New Roman"/>
                <a:cs typeface="Times New Roman"/>
              </a:rPr>
              <a:t>·).:;,</a:t>
            </a:r>
            <a:r>
              <a:rPr sz="800" i="1" spc="2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solidFill>
                  <a:srgbClr val="9A9A9A"/>
                </a:solidFill>
                <a:latin typeface="Times New Roman"/>
                <a:cs typeface="Times New Roman"/>
              </a:rPr>
              <a:t>Predicte-d:</a:t>
            </a:r>
            <a:r>
              <a:rPr sz="800" spc="3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4HH.nn.:;,</a:t>
            </a:r>
            <a:r>
              <a:rPr sz="800" spc="46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I</a:t>
            </a:r>
            <a:r>
              <a:rPr sz="800" spc="7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9A9A9A"/>
                </a:solidFill>
                <a:latin typeface="Times New Roman"/>
                <a:cs typeface="Times New Roman"/>
              </a:rPr>
              <a:t>rr·or:</a:t>
            </a:r>
            <a:r>
              <a:rPr sz="850" spc="43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lb899.b%</a:t>
            </a:r>
            <a:r>
              <a:rPr sz="800" spc="500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l</a:t>
            </a:r>
            <a:r>
              <a:rPr sz="700" spc="13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spc="-40" dirty="0">
                <a:solidFill>
                  <a:srgbClr val="9A9A9A"/>
                </a:solidFill>
                <a:latin typeface="Arial"/>
                <a:cs typeface="Arial"/>
              </a:rPr>
              <a:t>XfH'&lt;</a:t>
            </a:r>
            <a:r>
              <a:rPr sz="700" spc="1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50" spc="-30" dirty="0">
                <a:solidFill>
                  <a:srgbClr val="9A9A9A"/>
                </a:solidFill>
                <a:latin typeface="Times New Roman"/>
                <a:cs typeface="Times New Roman"/>
              </a:rPr>
              <a:t>t</a:t>
            </a:r>
            <a:r>
              <a:rPr sz="850" spc="-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Pd:</a:t>
            </a:r>
            <a:r>
              <a:rPr sz="700" spc="235" dirty="0">
                <a:solidFill>
                  <a:srgbClr val="9A9A9A"/>
                </a:solidFill>
                <a:latin typeface="Arial"/>
                <a:cs typeface="Arial"/>
              </a:rPr>
              <a:t>  </a:t>
            </a:r>
            <a:r>
              <a:rPr sz="700" spc="-20" dirty="0">
                <a:solidFill>
                  <a:srgbClr val="9A9A9A"/>
                </a:solidFill>
                <a:latin typeface="Arial"/>
                <a:cs typeface="Arial"/>
              </a:rPr>
              <a:t>4S1</a:t>
            </a:r>
            <a:r>
              <a:rPr sz="700" spc="13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spc="75" dirty="0">
                <a:solidFill>
                  <a:srgbClr val="AAAEAF"/>
                </a:solidFill>
                <a:latin typeface="Arial"/>
                <a:cs typeface="Arial"/>
              </a:rPr>
              <a:t>.80•,,</a:t>
            </a:r>
            <a:r>
              <a:rPr sz="700" spc="225" dirty="0">
                <a:solidFill>
                  <a:srgbClr val="AAAEA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Pr·pd</a:t>
            </a:r>
            <a:r>
              <a:rPr sz="800" dirty="0">
                <a:solidFill>
                  <a:srgbClr val="9A9A9A"/>
                </a:solidFill>
                <a:latin typeface="Arial"/>
                <a:cs typeface="Arial"/>
              </a:rPr>
              <a:t>i</a:t>
            </a:r>
            <a:r>
              <a:rPr sz="800" spc="-6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ct</a:t>
            </a:r>
            <a:r>
              <a:rPr sz="700" spc="10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Pd:</a:t>
            </a:r>
            <a:r>
              <a:rPr sz="700" spc="180" dirty="0">
                <a:solidFill>
                  <a:srgbClr val="9A9A9A"/>
                </a:solidFill>
                <a:latin typeface="Arial"/>
                <a:cs typeface="Arial"/>
              </a:rPr>
              <a:t> 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400.00&lt;,,</a:t>
            </a:r>
            <a:r>
              <a:rPr sz="700" spc="36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spc="85" dirty="0">
                <a:solidFill>
                  <a:srgbClr val="9A9A9A"/>
                </a:solidFill>
                <a:latin typeface="Arial"/>
                <a:cs typeface="Arial"/>
              </a:rPr>
              <a:t>rrTor·:</a:t>
            </a:r>
            <a:r>
              <a:rPr sz="700" spc="27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spc="60" dirty="0">
                <a:solidFill>
                  <a:srgbClr val="9A9A9A"/>
                </a:solidFill>
                <a:latin typeface="Arial"/>
                <a:cs typeface="Arial"/>
              </a:rPr>
              <a:t>11.s%</a:t>
            </a:r>
            <a:endParaRPr sz="700">
              <a:latin typeface="Arial"/>
              <a:cs typeface="Arial"/>
            </a:endParaRPr>
          </a:p>
          <a:p>
            <a:pPr marL="25400" marR="17780" indent="2540">
              <a:lnSpc>
                <a:spcPct val="107700"/>
              </a:lnSpc>
              <a:spcBef>
                <a:spcPts val="130"/>
              </a:spcBef>
            </a:pP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Fxpec</a:t>
            </a:r>
            <a:r>
              <a:rPr sz="700" spc="6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spc="85" dirty="0">
                <a:solidFill>
                  <a:srgbClr val="9A9A9A"/>
                </a:solidFill>
                <a:latin typeface="Arial"/>
                <a:cs typeface="Arial"/>
              </a:rPr>
              <a:t>tPd:</a:t>
            </a:r>
            <a:r>
              <a:rPr sz="700" spc="30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600" i="1" spc="105" dirty="0">
                <a:solidFill>
                  <a:srgbClr val="9A9A9A"/>
                </a:solidFill>
                <a:latin typeface="Arial"/>
                <a:cs typeface="Arial"/>
              </a:rPr>
              <a:t>4}).07&lt;.,,</a:t>
            </a:r>
            <a:r>
              <a:rPr sz="600" i="1" spc="38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Pr'Pdic</a:t>
            </a:r>
            <a:r>
              <a:rPr sz="750" spc="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35" dirty="0">
                <a:solidFill>
                  <a:srgbClr val="9A9A9A"/>
                </a:solidFill>
                <a:latin typeface="Times New Roman"/>
                <a:cs typeface="Times New Roman"/>
              </a:rPr>
              <a:t>ted:</a:t>
            </a:r>
            <a:r>
              <a:rPr sz="750" spc="3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9A9A9A"/>
                </a:solidFill>
                <a:latin typeface="Arial"/>
                <a:cs typeface="Arial"/>
              </a:rPr>
              <a:t>400.00'-&gt;,</a:t>
            </a:r>
            <a:r>
              <a:rPr sz="700" spc="434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spc="110" dirty="0">
                <a:solidFill>
                  <a:srgbClr val="9A9A9A"/>
                </a:solidFill>
                <a:latin typeface="Arial"/>
                <a:cs typeface="Arial"/>
              </a:rPr>
              <a:t>FrTor:</a:t>
            </a:r>
            <a:r>
              <a:rPr sz="700" spc="38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9A9A9A"/>
                </a:solidFill>
                <a:latin typeface="Arial"/>
                <a:cs typeface="Arial"/>
              </a:rPr>
              <a:t>S.4%</a:t>
            </a:r>
            <a:r>
              <a:rPr sz="700" spc="6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Expected:</a:t>
            </a:r>
            <a:r>
              <a:rPr sz="800" spc="4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3.24"&gt;,</a:t>
            </a:r>
            <a:r>
              <a:rPr sz="800" spc="33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solidFill>
                  <a:srgbClr val="9A9A9A"/>
                </a:solidFill>
                <a:latin typeface="Times New Roman"/>
                <a:cs typeface="Times New Roman"/>
              </a:rPr>
              <a:t>Pr·edicled:</a:t>
            </a:r>
            <a:r>
              <a:rPr sz="800" spc="3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400.00&lt;:.,</a:t>
            </a:r>
            <a:r>
              <a:rPr sz="800" spc="4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ErTor·:</a:t>
            </a:r>
            <a:r>
              <a:rPr sz="800" spc="37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12231.8'X</a:t>
            </a: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 Expected:</a:t>
            </a:r>
            <a:r>
              <a:rPr sz="800" spc="3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14" dirty="0">
                <a:solidFill>
                  <a:srgbClr val="9A9A9A"/>
                </a:solidFill>
                <a:latin typeface="Times New Roman"/>
                <a:cs typeface="Times New Roman"/>
              </a:rPr>
              <a:t>1.81s,</a:t>
            </a:r>
            <a:r>
              <a:rPr sz="800" spc="2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2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80" dirty="0">
                <a:solidFill>
                  <a:srgbClr val="9A9A9A"/>
                </a:solidFill>
                <a:latin typeface="Times New Roman"/>
                <a:cs typeface="Times New Roman"/>
              </a:rPr>
              <a:t>400.00s,</a:t>
            </a:r>
            <a:r>
              <a:rPr sz="800" spc="38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Errnr:</a:t>
            </a:r>
            <a:r>
              <a:rPr sz="800" spc="3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21940.6%</a:t>
            </a:r>
            <a:r>
              <a:rPr sz="800" spc="5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50" spc="-90" dirty="0">
                <a:solidFill>
                  <a:srgbClr val="9A9A9A"/>
                </a:solidFill>
                <a:latin typeface="Courier New"/>
                <a:cs typeface="Courier New"/>
              </a:rPr>
              <a:t>lxpected:</a:t>
            </a:r>
            <a:r>
              <a:rPr sz="850" spc="15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700" i="1" dirty="0">
                <a:solidFill>
                  <a:srgbClr val="9A9A9A"/>
                </a:solidFill>
                <a:latin typeface="Courier New"/>
                <a:cs typeface="Courier New"/>
              </a:rPr>
              <a:t>32</a:t>
            </a:r>
            <a:r>
              <a:rPr sz="700" i="1" spc="75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700" i="1" dirty="0">
                <a:solidFill>
                  <a:srgbClr val="9A9A9A"/>
                </a:solidFill>
                <a:latin typeface="Courier New"/>
                <a:cs typeface="Courier New"/>
              </a:rPr>
              <a:t>.92s,</a:t>
            </a:r>
            <a:r>
              <a:rPr sz="700" i="1" spc="-15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50" spc="-85" dirty="0">
                <a:solidFill>
                  <a:srgbClr val="9A9A9A"/>
                </a:solidFill>
                <a:latin typeface="Courier New"/>
                <a:cs typeface="Courier New"/>
              </a:rPr>
              <a:t>Predicted:</a:t>
            </a:r>
            <a:r>
              <a:rPr sz="850" spc="-14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50" spc="-75" dirty="0">
                <a:solidFill>
                  <a:srgbClr val="9A9A9A"/>
                </a:solidFill>
                <a:latin typeface="Courier New"/>
                <a:cs typeface="Courier New"/>
              </a:rPr>
              <a:t>400.00s,</a:t>
            </a:r>
            <a:r>
              <a:rPr sz="850" spc="-65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50" spc="-80" dirty="0">
                <a:solidFill>
                  <a:srgbClr val="9A9A9A"/>
                </a:solidFill>
                <a:latin typeface="Courier New"/>
                <a:cs typeface="Courier New"/>
              </a:rPr>
              <a:t>lrror:</a:t>
            </a:r>
            <a:r>
              <a:rPr sz="850" spc="-55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700" i="1" dirty="0">
                <a:solidFill>
                  <a:srgbClr val="9A9A9A"/>
                </a:solidFill>
                <a:latin typeface="Courier New"/>
                <a:cs typeface="Courier New"/>
              </a:rPr>
              <a:t>21./%</a:t>
            </a:r>
            <a:r>
              <a:rPr sz="700" i="1" spc="8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9A9A9A"/>
                </a:solidFill>
                <a:latin typeface="Times New Roman"/>
                <a:cs typeface="Times New Roman"/>
              </a:rPr>
              <a:t>l</a:t>
            </a:r>
            <a:r>
              <a:rPr sz="750" spc="90" dirty="0">
                <a:solidFill>
                  <a:srgbClr val="9A9A9A"/>
                </a:solidFill>
                <a:latin typeface="Times New Roman"/>
                <a:cs typeface="Times New Roman"/>
              </a:rPr>
              <a:t> xpectPd:</a:t>
            </a:r>
            <a:r>
              <a:rPr sz="750" spc="430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700" i="1" spc="125" dirty="0">
                <a:solidFill>
                  <a:srgbClr val="9A9A9A"/>
                </a:solidFill>
                <a:latin typeface="Times New Roman"/>
                <a:cs typeface="Times New Roman"/>
              </a:rPr>
              <a:t>24.</a:t>
            </a:r>
            <a:r>
              <a:rPr sz="700" i="1" spc="-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/9.:;,</a:t>
            </a:r>
            <a:r>
              <a:rPr sz="750" spc="30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1-&gt;rt&gt;dictPd:</a:t>
            </a:r>
            <a:r>
              <a:rPr sz="750" spc="409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4nn.</a:t>
            </a:r>
            <a:r>
              <a:rPr sz="750" spc="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}B.:;,</a:t>
            </a:r>
            <a:r>
              <a:rPr sz="750" spc="170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I</a:t>
            </a:r>
            <a:r>
              <a:rPr sz="750" spc="1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9A9A9A"/>
                </a:solidFill>
                <a:latin typeface="Times New Roman"/>
                <a:cs typeface="Times New Roman"/>
              </a:rPr>
              <a:t>rr·or:</a:t>
            </a:r>
            <a:r>
              <a:rPr sz="850" spc="170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850" i="1" dirty="0">
                <a:solidFill>
                  <a:srgbClr val="9A9A9A"/>
                </a:solidFill>
                <a:latin typeface="Times New Roman"/>
                <a:cs typeface="Times New Roman"/>
              </a:rPr>
              <a:t>)</a:t>
            </a:r>
            <a:r>
              <a:rPr sz="850" i="1" spc="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9A9A9A"/>
                </a:solidFill>
                <a:latin typeface="Times New Roman"/>
                <a:cs typeface="Times New Roman"/>
              </a:rPr>
              <a:t>LI'%</a:t>
            </a:r>
            <a:endParaRPr sz="750">
              <a:latin typeface="Times New Roman"/>
              <a:cs typeface="Times New Roman"/>
            </a:endParaRPr>
          </a:p>
          <a:p>
            <a:pPr marL="31750">
              <a:lnSpc>
                <a:spcPct val="100000"/>
              </a:lnSpc>
              <a:spcBef>
                <a:spcPts val="90"/>
              </a:spcBef>
            </a:pP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lxpe·ctt"'d:</a:t>
            </a:r>
            <a:r>
              <a:rPr sz="750" spc="4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'&gt;.J9c..,</a:t>
            </a:r>
            <a:r>
              <a:rPr sz="750" spc="4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85" dirty="0">
                <a:solidFill>
                  <a:srgbClr val="9A9A9A"/>
                </a:solidFill>
                <a:latin typeface="Times New Roman"/>
                <a:cs typeface="Times New Roman"/>
              </a:rPr>
              <a:t>Pr(•dictPd:</a:t>
            </a:r>
            <a:r>
              <a:rPr sz="750" spc="45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600" i="1" spc="85" dirty="0">
                <a:solidFill>
                  <a:srgbClr val="9A9A9A"/>
                </a:solidFill>
                <a:latin typeface="Arial"/>
                <a:cs typeface="Arial"/>
              </a:rPr>
              <a:t>J.Jf.:.,,</a:t>
            </a:r>
            <a:r>
              <a:rPr sz="600" i="1" spc="434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80" dirty="0">
                <a:solidFill>
                  <a:srgbClr val="9A9A9A"/>
                </a:solidFill>
                <a:latin typeface="Times New Roman"/>
                <a:cs typeface="Times New Roman"/>
              </a:rPr>
              <a:t>rrror·:</a:t>
            </a:r>
            <a:r>
              <a:rPr sz="800" spc="3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650" i="1" spc="90" dirty="0">
                <a:solidFill>
                  <a:srgbClr val="9A9A9A"/>
                </a:solidFill>
                <a:latin typeface="Arial"/>
                <a:cs typeface="Arial"/>
              </a:rPr>
              <a:t>'Jl.J%</a:t>
            </a:r>
            <a:endParaRPr sz="650">
              <a:latin typeface="Arial"/>
              <a:cs typeface="Arial"/>
            </a:endParaRPr>
          </a:p>
          <a:p>
            <a:pPr marL="31750" marR="181610" indent="-3175">
              <a:lnSpc>
                <a:spcPct val="110200"/>
              </a:lnSpc>
              <a:spcBef>
                <a:spcPts val="60"/>
              </a:spcBef>
            </a:pPr>
            <a:r>
              <a:rPr sz="750" dirty="0">
                <a:solidFill>
                  <a:srgbClr val="9A9A9A"/>
                </a:solidFill>
                <a:latin typeface="Arial"/>
                <a:cs typeface="Arial"/>
              </a:rPr>
              <a:t>rxpt'&lt;</a:t>
            </a:r>
            <a:r>
              <a:rPr sz="750" spc="-3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tPd:</a:t>
            </a:r>
            <a:r>
              <a:rPr sz="800" spc="3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70" dirty="0">
                <a:solidFill>
                  <a:srgbClr val="9A9A9A"/>
                </a:solidFill>
                <a:latin typeface="Times New Roman"/>
                <a:cs typeface="Times New Roman"/>
              </a:rPr>
              <a:t>1.11·.,</a:t>
            </a:r>
            <a:r>
              <a:rPr sz="800" spc="3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Pr'(•dic</a:t>
            </a:r>
            <a:r>
              <a:rPr sz="800" spc="1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tPd:</a:t>
            </a:r>
            <a:r>
              <a:rPr sz="800" spc="3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J.11....</a:t>
            </a:r>
            <a:r>
              <a:rPr sz="800" spc="-1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,</a:t>
            </a:r>
            <a:r>
              <a:rPr sz="800" spc="195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750" dirty="0">
                <a:solidFill>
                  <a:srgbClr val="9A9A9A"/>
                </a:solidFill>
                <a:latin typeface="Arial"/>
                <a:cs typeface="Arial"/>
              </a:rPr>
              <a:t>rrT&lt;H':</a:t>
            </a:r>
            <a:r>
              <a:rPr sz="750" spc="36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9A9A9A"/>
                </a:solidFill>
                <a:latin typeface="Arial"/>
                <a:cs typeface="Arial"/>
              </a:rPr>
              <a:t>11.9%</a:t>
            </a:r>
            <a:r>
              <a:rPr sz="750" spc="6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Expected:</a:t>
            </a:r>
            <a:r>
              <a:rPr sz="800" spc="3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29.90s,</a:t>
            </a:r>
            <a:r>
              <a:rPr sz="800" spc="2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85" dirty="0">
                <a:solidFill>
                  <a:srgbClr val="9A9A9A"/>
                </a:solidFill>
                <a:latin typeface="Times New Roman"/>
                <a:cs typeface="Times New Roman"/>
              </a:rPr>
              <a:t>PrTdicled:</a:t>
            </a:r>
            <a:r>
              <a:rPr sz="800" spc="33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85" dirty="0">
                <a:solidFill>
                  <a:srgbClr val="9A9A9A"/>
                </a:solidFill>
                <a:latin typeface="Times New Roman"/>
                <a:cs typeface="Times New Roman"/>
              </a:rPr>
              <a:t>21.71s,</a:t>
            </a:r>
            <a:r>
              <a:rPr sz="800" spc="3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9A9A9A"/>
                </a:solidFill>
                <a:latin typeface="Arial"/>
                <a:cs typeface="Arial"/>
              </a:rPr>
              <a:t>ErTlH':</a:t>
            </a:r>
            <a:r>
              <a:rPr sz="700" spc="32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27.4%</a:t>
            </a:r>
            <a:r>
              <a:rPr sz="800" spc="8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85" dirty="0">
                <a:solidFill>
                  <a:srgbClr val="9A9A9A"/>
                </a:solidFill>
                <a:latin typeface="Times New Roman"/>
                <a:cs typeface="Times New Roman"/>
              </a:rPr>
              <a:t>Expected:</a:t>
            </a:r>
            <a:r>
              <a:rPr sz="750" spc="33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20" dirty="0">
                <a:solidFill>
                  <a:srgbClr val="9A9A9A"/>
                </a:solidFill>
                <a:latin typeface="Times New Roman"/>
                <a:cs typeface="Times New Roman"/>
              </a:rPr>
              <a:t>16.65s,</a:t>
            </a:r>
            <a:r>
              <a:rPr sz="750" spc="25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10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750" spc="3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30" dirty="0">
                <a:solidFill>
                  <a:srgbClr val="9A9A9A"/>
                </a:solidFill>
                <a:latin typeface="Times New Roman"/>
                <a:cs typeface="Times New Roman"/>
              </a:rPr>
              <a:t>9.77s,</a:t>
            </a:r>
            <a:r>
              <a:rPr sz="750" spc="3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45" dirty="0">
                <a:solidFill>
                  <a:srgbClr val="9A9A9A"/>
                </a:solidFill>
                <a:latin typeface="Times New Roman"/>
                <a:cs typeface="Times New Roman"/>
              </a:rPr>
              <a:t>Er·ror:</a:t>
            </a:r>
            <a:r>
              <a:rPr sz="800" spc="26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9A9A9A"/>
                </a:solidFill>
                <a:latin typeface="Times New Roman"/>
                <a:cs typeface="Times New Roman"/>
              </a:rPr>
              <a:t>tll.3%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l::xpected:</a:t>
            </a:r>
            <a:r>
              <a:rPr sz="800" spc="4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45" dirty="0">
                <a:solidFill>
                  <a:srgbClr val="9A9A9A"/>
                </a:solidFill>
                <a:latin typeface="Courier New"/>
                <a:cs typeface="Courier New"/>
              </a:rPr>
              <a:t>1.08s,</a:t>
            </a:r>
            <a:r>
              <a:rPr sz="800" spc="-7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3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30" dirty="0">
                <a:solidFill>
                  <a:srgbClr val="9A9A9A"/>
                </a:solidFill>
                <a:latin typeface="Courier New"/>
                <a:cs typeface="Courier New"/>
              </a:rPr>
              <a:t>0.92s,</a:t>
            </a:r>
            <a:r>
              <a:rPr sz="800" spc="-5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spc="50" dirty="0">
                <a:solidFill>
                  <a:srgbClr val="9A9A9A"/>
                </a:solidFill>
                <a:latin typeface="Times New Roman"/>
                <a:cs typeface="Times New Roman"/>
              </a:rPr>
              <a:t>l::rror:</a:t>
            </a:r>
            <a:r>
              <a:rPr sz="800" spc="46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75" dirty="0">
                <a:solidFill>
                  <a:srgbClr val="9A9A9A"/>
                </a:solidFill>
                <a:latin typeface="Times New Roman"/>
                <a:cs typeface="Times New Roman"/>
              </a:rPr>
              <a:t>ltl./% 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lxpected:</a:t>
            </a:r>
            <a:r>
              <a:rPr sz="800" spc="3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650" i="1" spc="180" dirty="0">
                <a:solidFill>
                  <a:srgbClr val="9A9A9A"/>
                </a:solidFill>
                <a:latin typeface="Arial"/>
                <a:cs typeface="Arial"/>
              </a:rPr>
              <a:t>l.)tls,</a:t>
            </a:r>
            <a:r>
              <a:rPr sz="650" i="1" spc="185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37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650" i="1" spc="250" dirty="0">
                <a:solidFill>
                  <a:srgbClr val="9A9A9A"/>
                </a:solidFill>
                <a:latin typeface="Arial"/>
                <a:cs typeface="Arial"/>
              </a:rPr>
              <a:t>l.lls,</a:t>
            </a:r>
            <a:r>
              <a:rPr sz="650" i="1" spc="204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Lrror:</a:t>
            </a:r>
            <a:r>
              <a:rPr sz="800" spc="24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-10" dirty="0">
                <a:solidFill>
                  <a:srgbClr val="9A9A9A"/>
                </a:solidFill>
                <a:latin typeface="Times New Roman"/>
                <a:cs typeface="Times New Roman"/>
              </a:rPr>
              <a:t>tl'J.tl%</a:t>
            </a:r>
            <a:r>
              <a:rPr sz="750" spc="5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IXpPCtPd:</a:t>
            </a:r>
            <a:r>
              <a:rPr sz="800" spc="45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10" dirty="0">
                <a:solidFill>
                  <a:srgbClr val="9A9A9A"/>
                </a:solidFill>
                <a:latin typeface="Times New Roman"/>
                <a:cs typeface="Times New Roman"/>
              </a:rPr>
              <a:t>1/.8)'&gt;,</a:t>
            </a:r>
            <a:r>
              <a:rPr sz="750" spc="35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Prf&gt;dictC'd:</a:t>
            </a:r>
            <a:r>
              <a:rPr sz="800" spc="155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750" spc="95" dirty="0">
                <a:solidFill>
                  <a:srgbClr val="9A9A9A"/>
                </a:solidFill>
                <a:latin typeface="Times New Roman"/>
                <a:cs typeface="Times New Roman"/>
              </a:rPr>
              <a:t>ll.)'J'&gt;,</a:t>
            </a:r>
            <a:r>
              <a:rPr sz="750" spc="43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(r'r'Or':</a:t>
            </a:r>
            <a:r>
              <a:rPr sz="800" spc="395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800" spc="-20" dirty="0">
                <a:solidFill>
                  <a:srgbClr val="9A9A9A"/>
                </a:solidFill>
                <a:latin typeface="Times New Roman"/>
                <a:cs typeface="Times New Roman"/>
              </a:rPr>
              <a:t>b.9%</a:t>
            </a:r>
            <a:endParaRPr sz="80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800" spc="55" dirty="0">
                <a:solidFill>
                  <a:srgbClr val="9A9A9A"/>
                </a:solidFill>
                <a:latin typeface="Times New Roman"/>
                <a:cs typeface="Times New Roman"/>
              </a:rPr>
              <a:t>rxpP&lt;tPd:</a:t>
            </a:r>
            <a:r>
              <a:rPr sz="800" spc="409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9A9A9A"/>
                </a:solidFill>
                <a:latin typeface="Times New Roman"/>
                <a:cs typeface="Times New Roman"/>
              </a:rPr>
              <a:t>17.'&gt;'&gt;'"-»</a:t>
            </a:r>
            <a:r>
              <a:rPr sz="700" spc="4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70" dirty="0">
                <a:solidFill>
                  <a:srgbClr val="9A9A9A"/>
                </a:solidFill>
                <a:latin typeface="Times New Roman"/>
                <a:cs typeface="Times New Roman"/>
              </a:rPr>
              <a:t>rr·PdictPd:</a:t>
            </a:r>
            <a:r>
              <a:rPr sz="800" spc="3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9A9A9A"/>
                </a:solidFill>
                <a:latin typeface="Times New Roman"/>
                <a:cs typeface="Times New Roman"/>
              </a:rPr>
              <a:t>6.47..,,</a:t>
            </a:r>
            <a:r>
              <a:rPr sz="700" spc="43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rrTor·:</a:t>
            </a:r>
            <a:r>
              <a:rPr sz="800" spc="3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spc="85" dirty="0">
                <a:solidFill>
                  <a:srgbClr val="9A9A9A"/>
                </a:solidFill>
                <a:latin typeface="Times New Roman"/>
                <a:cs typeface="Times New Roman"/>
              </a:rPr>
              <a:t>48.0%</a:t>
            </a:r>
            <a:endParaRPr sz="70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  <a:spcBef>
                <a:spcPts val="160"/>
              </a:spcBef>
            </a:pPr>
            <a:r>
              <a:rPr sz="800" spc="-80" dirty="0">
                <a:solidFill>
                  <a:srgbClr val="9A9A9A"/>
                </a:solidFill>
                <a:latin typeface="Times New Roman"/>
                <a:cs typeface="Times New Roman"/>
              </a:rPr>
              <a:t>FXpP&lt;</a:t>
            </a:r>
            <a:r>
              <a:rPr sz="800" spc="5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5" dirty="0">
                <a:solidFill>
                  <a:srgbClr val="9A9A9A"/>
                </a:solidFill>
                <a:latin typeface="Times New Roman"/>
                <a:cs typeface="Times New Roman"/>
              </a:rPr>
              <a:t>led:</a:t>
            </a:r>
            <a:r>
              <a:rPr sz="800" spc="2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9A9A9A"/>
                </a:solidFill>
                <a:latin typeface="Times New Roman"/>
                <a:cs typeface="Times New Roman"/>
              </a:rPr>
              <a:t>0.'&gt;6'&gt;,</a:t>
            </a:r>
            <a:r>
              <a:rPr sz="700" spc="3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Pr'('die.</a:t>
            </a:r>
            <a:r>
              <a:rPr sz="800" spc="-5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ll'd:</a:t>
            </a:r>
            <a:r>
              <a:rPr sz="800" spc="2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7.51&lt;:&gt;,</a:t>
            </a:r>
            <a:r>
              <a:rPr sz="750" spc="38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FrTor·:</a:t>
            </a:r>
            <a:r>
              <a:rPr sz="800" spc="38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40" dirty="0">
                <a:solidFill>
                  <a:srgbClr val="9A9A9A"/>
                </a:solidFill>
                <a:latin typeface="Times New Roman"/>
                <a:cs typeface="Times New Roman"/>
              </a:rPr>
              <a:t>357.0%</a:t>
            </a:r>
            <a:endParaRPr sz="750">
              <a:latin typeface="Times New Roman"/>
              <a:cs typeface="Times New Roman"/>
            </a:endParaRPr>
          </a:p>
          <a:p>
            <a:pPr marL="31750" marR="188595" indent="635">
              <a:lnSpc>
                <a:spcPct val="110200"/>
              </a:lnSpc>
            </a:pPr>
            <a:r>
              <a:rPr sz="800" spc="70" dirty="0">
                <a:solidFill>
                  <a:srgbClr val="9A9A9A"/>
                </a:solidFill>
                <a:latin typeface="Times New Roman"/>
                <a:cs typeface="Times New Roman"/>
              </a:rPr>
              <a:t>Expe(ted:</a:t>
            </a:r>
            <a:r>
              <a:rPr sz="800" spc="30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14" dirty="0">
                <a:solidFill>
                  <a:srgbClr val="9A9A9A"/>
                </a:solidFill>
                <a:latin typeface="Times New Roman"/>
                <a:cs typeface="Times New Roman"/>
              </a:rPr>
              <a:t>0.495,</a:t>
            </a:r>
            <a:r>
              <a:rPr sz="750" spc="25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Predi(ted:</a:t>
            </a:r>
            <a:r>
              <a:rPr sz="800" spc="30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35" dirty="0">
                <a:solidFill>
                  <a:srgbClr val="9A9A9A"/>
                </a:solidFill>
                <a:latin typeface="Times New Roman"/>
                <a:cs typeface="Times New Roman"/>
              </a:rPr>
              <a:t>1.15s,</a:t>
            </a:r>
            <a:r>
              <a:rPr sz="750" spc="2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45" dirty="0">
                <a:solidFill>
                  <a:srgbClr val="9A9A9A"/>
                </a:solidFill>
                <a:latin typeface="Times New Roman"/>
                <a:cs typeface="Times New Roman"/>
              </a:rPr>
              <a:t>Er·r·&lt;H':</a:t>
            </a:r>
            <a:r>
              <a:rPr sz="800" spc="2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-10" dirty="0">
                <a:solidFill>
                  <a:srgbClr val="9A9A9A"/>
                </a:solidFill>
                <a:latin typeface="Times New Roman"/>
                <a:cs typeface="Times New Roman"/>
              </a:rPr>
              <a:t>133.8"k</a:t>
            </a:r>
            <a:r>
              <a:rPr sz="750" spc="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lxpected:</a:t>
            </a:r>
            <a:r>
              <a:rPr sz="800" spc="3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13.06s,</a:t>
            </a:r>
            <a:r>
              <a:rPr sz="800" spc="25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3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16.22s,</a:t>
            </a:r>
            <a:r>
              <a:rPr sz="800" spc="3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50" dirty="0">
                <a:solidFill>
                  <a:srgbClr val="9A9A9A"/>
                </a:solidFill>
                <a:latin typeface="Times New Roman"/>
                <a:cs typeface="Times New Roman"/>
              </a:rPr>
              <a:t>lrror:</a:t>
            </a:r>
            <a:r>
              <a:rPr sz="800" spc="2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i="1" spc="-10" dirty="0">
                <a:solidFill>
                  <a:srgbClr val="9A9A9A"/>
                </a:solidFill>
                <a:latin typeface="Courier New"/>
                <a:cs typeface="Courier New"/>
              </a:rPr>
              <a:t>24.2% </a:t>
            </a: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Lxpected:</a:t>
            </a:r>
            <a:r>
              <a:rPr sz="800" spc="35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50" dirty="0">
                <a:solidFill>
                  <a:srgbClr val="9A9A9A"/>
                </a:solidFill>
                <a:latin typeface="Courier New"/>
                <a:cs typeface="Courier New"/>
              </a:rPr>
              <a:t>ll.8ls,</a:t>
            </a:r>
            <a:r>
              <a:rPr sz="800" spc="-7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2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14" dirty="0">
                <a:solidFill>
                  <a:srgbClr val="9A9A9A"/>
                </a:solidFill>
                <a:latin typeface="Courier New"/>
                <a:cs typeface="Courier New"/>
              </a:rPr>
              <a:t>Y.ltls,</a:t>
            </a:r>
            <a:r>
              <a:rPr sz="800" spc="-1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Lrror:</a:t>
            </a:r>
            <a:r>
              <a:rPr sz="800" spc="25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9A9A9A"/>
                </a:solidFill>
                <a:latin typeface="Courier New"/>
                <a:cs typeface="Courier New"/>
              </a:rPr>
              <a:t>l/.9%</a:t>
            </a:r>
            <a:r>
              <a:rPr sz="700" i="1" spc="500" dirty="0">
                <a:solidFill>
                  <a:srgbClr val="9A9A9A"/>
                </a:solidFill>
                <a:latin typeface="Courier New"/>
                <a:cs typeface="Courier New"/>
              </a:rPr>
              <a:t> 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l</a:t>
            </a:r>
            <a:r>
              <a:rPr sz="800" spc="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70" dirty="0">
                <a:solidFill>
                  <a:srgbClr val="9A9A9A"/>
                </a:solidFill>
                <a:latin typeface="Times New Roman"/>
                <a:cs typeface="Times New Roman"/>
              </a:rPr>
              <a:t>xpPcted:</a:t>
            </a:r>
            <a:r>
              <a:rPr sz="800" spc="26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70" dirty="0">
                <a:solidFill>
                  <a:srgbClr val="9A9A9A"/>
                </a:solidFill>
                <a:latin typeface="Times New Roman"/>
                <a:cs typeface="Times New Roman"/>
              </a:rPr>
              <a:t>0.81&lt;;,</a:t>
            </a:r>
            <a:r>
              <a:rPr sz="750" spc="3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85" dirty="0">
                <a:solidFill>
                  <a:srgbClr val="9A9A9A"/>
                </a:solidFill>
                <a:latin typeface="Times New Roman"/>
                <a:cs typeface="Times New Roman"/>
              </a:rPr>
              <a:t>PredictPd:</a:t>
            </a:r>
            <a:r>
              <a:rPr sz="800" spc="33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H.</a:t>
            </a:r>
            <a:r>
              <a:rPr sz="800" spc="1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.-..,</a:t>
            </a:r>
            <a:r>
              <a:rPr sz="800" spc="35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I</a:t>
            </a:r>
            <a:r>
              <a:rPr sz="800" spc="5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85" dirty="0">
                <a:solidFill>
                  <a:srgbClr val="9A9A9A"/>
                </a:solidFill>
                <a:latin typeface="Times New Roman"/>
                <a:cs typeface="Times New Roman"/>
              </a:rPr>
              <a:t>rror':</a:t>
            </a:r>
            <a:r>
              <a:rPr sz="800" spc="2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-10" dirty="0">
                <a:solidFill>
                  <a:srgbClr val="9A9A9A"/>
                </a:solidFill>
                <a:latin typeface="Times New Roman"/>
                <a:cs typeface="Times New Roman"/>
              </a:rPr>
              <a:t>'J8.8°k</a:t>
            </a:r>
            <a:endParaRPr sz="750">
              <a:latin typeface="Times New Roman"/>
              <a:cs typeface="Times New Roman"/>
            </a:endParaRPr>
          </a:p>
          <a:p>
            <a:pPr marL="31750">
              <a:lnSpc>
                <a:spcPts val="1160"/>
              </a:lnSpc>
            </a:pPr>
            <a:r>
              <a:rPr sz="975" baseline="4273" dirty="0">
                <a:solidFill>
                  <a:srgbClr val="9A9A9A"/>
                </a:solidFill>
                <a:latin typeface="Times New Roman"/>
                <a:cs typeface="Times New Roman"/>
              </a:rPr>
              <a:t>(</a:t>
            </a:r>
            <a:r>
              <a:rPr sz="975" spc="37" baseline="4273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975" spc="-15" baseline="4273" dirty="0">
                <a:solidFill>
                  <a:srgbClr val="9A9A9A"/>
                </a:solidFill>
                <a:latin typeface="Times New Roman"/>
                <a:cs typeface="Times New Roman"/>
              </a:rPr>
              <a:t>XPf'C</a:t>
            </a:r>
            <a:r>
              <a:rPr sz="975" spc="15" baseline="4273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t1•d:</a:t>
            </a:r>
            <a:r>
              <a:rPr sz="1200" spc="39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500" spc="165" baseline="2777" dirty="0">
                <a:solidFill>
                  <a:srgbClr val="9A9A9A"/>
                </a:solidFill>
                <a:latin typeface="Times New Roman"/>
                <a:cs typeface="Times New Roman"/>
              </a:rPr>
              <a:t>o.</a:t>
            </a:r>
            <a:r>
              <a:rPr sz="1500" spc="112" baseline="2777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500" baseline="2777" dirty="0">
                <a:solidFill>
                  <a:srgbClr val="9A9A9A"/>
                </a:solidFill>
                <a:latin typeface="Times New Roman"/>
                <a:cs typeface="Times New Roman"/>
              </a:rPr>
              <a:t>o·,,</a:t>
            </a:r>
            <a:r>
              <a:rPr sz="1500" spc="284" baseline="2777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spc="-3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Pr·t</a:t>
            </a:r>
            <a:r>
              <a:rPr sz="525" spc="-30" baseline="31746" dirty="0">
                <a:solidFill>
                  <a:srgbClr val="9A9A9A"/>
                </a:solidFill>
                <a:latin typeface="Times New Roman"/>
                <a:cs typeface="Times New Roman"/>
              </a:rPr>
              <a:t>1</a:t>
            </a:r>
            <a:r>
              <a:rPr sz="1200" spc="-3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d</a:t>
            </a:r>
            <a:r>
              <a:rPr sz="1200" spc="-89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ic</a:t>
            </a:r>
            <a:r>
              <a:rPr sz="1200" spc="82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spc="-3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t</a:t>
            </a:r>
            <a:r>
              <a:rPr sz="1200" spc="-75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Pd:</a:t>
            </a:r>
            <a:r>
              <a:rPr sz="1200" spc="675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425" baseline="2923" dirty="0">
                <a:solidFill>
                  <a:srgbClr val="9A9A9A"/>
                </a:solidFill>
                <a:latin typeface="Times New Roman"/>
                <a:cs typeface="Times New Roman"/>
              </a:rPr>
              <a:t>o.</a:t>
            </a:r>
            <a:r>
              <a:rPr sz="1425" spc="525" baseline="2923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425" baseline="2923" dirty="0">
                <a:solidFill>
                  <a:srgbClr val="9A9A9A"/>
                </a:solidFill>
                <a:latin typeface="Times New Roman"/>
                <a:cs typeface="Times New Roman"/>
              </a:rPr>
              <a:t>o..,,</a:t>
            </a:r>
            <a:r>
              <a:rPr sz="1425" spc="412" baseline="2923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r</a:t>
            </a:r>
            <a:r>
              <a:rPr sz="1200" spc="-3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spc="97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rr·or:</a:t>
            </a:r>
            <a:r>
              <a:rPr sz="1200" spc="367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9A9A9A"/>
                </a:solidFill>
                <a:latin typeface="Times New Roman"/>
                <a:cs typeface="Times New Roman"/>
              </a:rPr>
              <a:t>7.8%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3249" y="5222376"/>
            <a:ext cx="208597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9A9A9A"/>
                </a:solidFill>
                <a:latin typeface="Times New Roman"/>
                <a:cs typeface="Times New Roman"/>
              </a:rPr>
              <a:t>7.1s..,,</a:t>
            </a:r>
            <a:r>
              <a:rPr sz="950" spc="28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rr·t,dic</a:t>
            </a:r>
            <a:r>
              <a:rPr sz="800" spc="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tPd:</a:t>
            </a:r>
            <a:r>
              <a:rPr sz="800" spc="24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950" dirty="0">
                <a:solidFill>
                  <a:srgbClr val="9A9A9A"/>
                </a:solidFill>
                <a:latin typeface="Times New Roman"/>
                <a:cs typeface="Times New Roman"/>
              </a:rPr>
              <a:t>o.ns...,</a:t>
            </a:r>
            <a:r>
              <a:rPr sz="950" spc="150" dirty="0">
                <a:solidFill>
                  <a:srgbClr val="9A9A9A"/>
                </a:solidFill>
                <a:latin typeface="Times New Roman"/>
                <a:cs typeface="Times New Roman"/>
              </a:rPr>
              <a:t> 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FrTor·:</a:t>
            </a:r>
            <a:r>
              <a:rPr sz="800" spc="3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77.1%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893" y="5371589"/>
            <a:ext cx="2692400" cy="2946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Expe(</a:t>
            </a:r>
            <a:r>
              <a:rPr sz="800" spc="-8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5" dirty="0">
                <a:solidFill>
                  <a:srgbClr val="9A9A9A"/>
                </a:solidFill>
                <a:latin typeface="Times New Roman"/>
                <a:cs typeface="Times New Roman"/>
              </a:rPr>
              <a:t>led:</a:t>
            </a:r>
            <a:r>
              <a:rPr sz="800" spc="3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20" dirty="0">
                <a:solidFill>
                  <a:srgbClr val="9A9A9A"/>
                </a:solidFill>
                <a:latin typeface="Times New Roman"/>
                <a:cs typeface="Times New Roman"/>
              </a:rPr>
              <a:t>1.645,</a:t>
            </a:r>
            <a:r>
              <a:rPr sz="750" spc="28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solidFill>
                  <a:srgbClr val="9A9A9A"/>
                </a:solidFill>
                <a:latin typeface="Times New Roman"/>
                <a:cs typeface="Times New Roman"/>
              </a:rPr>
              <a:t>PrTdi(</a:t>
            </a:r>
            <a:r>
              <a:rPr sz="800" spc="-8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25" dirty="0">
                <a:solidFill>
                  <a:srgbClr val="9A9A9A"/>
                </a:solidFill>
                <a:latin typeface="Times New Roman"/>
                <a:cs typeface="Times New Roman"/>
              </a:rPr>
              <a:t>led:</a:t>
            </a:r>
            <a:r>
              <a:rPr sz="800" spc="2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0.52&lt;.:.,</a:t>
            </a:r>
            <a:r>
              <a:rPr sz="750" spc="4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ErT(H':</a:t>
            </a:r>
            <a:r>
              <a:rPr sz="1200" spc="517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68.1%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Expected:</a:t>
            </a:r>
            <a:r>
              <a:rPr sz="800" spc="3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30" dirty="0">
                <a:solidFill>
                  <a:srgbClr val="9A9A9A"/>
                </a:solidFill>
                <a:latin typeface="Times New Roman"/>
                <a:cs typeface="Times New Roman"/>
              </a:rPr>
              <a:t>0.91s,</a:t>
            </a:r>
            <a:r>
              <a:rPr sz="750" spc="28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0" dirty="0">
                <a:solidFill>
                  <a:srgbClr val="9A9A9A"/>
                </a:solidFill>
                <a:latin typeface="Times New Roman"/>
                <a:cs typeface="Times New Roman"/>
              </a:rPr>
              <a:t>Predi(ted:</a:t>
            </a:r>
            <a:r>
              <a:rPr sz="800" spc="3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70" dirty="0">
                <a:solidFill>
                  <a:srgbClr val="9A9A9A"/>
                </a:solidFill>
                <a:latin typeface="Times New Roman"/>
                <a:cs typeface="Times New Roman"/>
              </a:rPr>
              <a:t>1.8ls,</a:t>
            </a:r>
            <a:r>
              <a:rPr sz="750" spc="2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45" dirty="0">
                <a:solidFill>
                  <a:srgbClr val="9A9A9A"/>
                </a:solidFill>
                <a:latin typeface="Times New Roman"/>
                <a:cs typeface="Times New Roman"/>
              </a:rPr>
              <a:t>Err·or:</a:t>
            </a:r>
            <a:r>
              <a:rPr sz="800" spc="23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105.6%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360" y="5640249"/>
            <a:ext cx="2743835" cy="974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635" algn="just">
              <a:lnSpc>
                <a:spcPct val="110200"/>
              </a:lnSpc>
              <a:spcBef>
                <a:spcPts val="100"/>
              </a:spcBef>
            </a:pP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lxpected:</a:t>
            </a:r>
            <a:r>
              <a:rPr sz="800" spc="35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9A9A9A"/>
                </a:solidFill>
                <a:latin typeface="Times New Roman"/>
                <a:cs typeface="Times New Roman"/>
              </a:rPr>
              <a:t>U.</a:t>
            </a:r>
            <a:r>
              <a:rPr sz="700" spc="-2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spc="85" dirty="0">
                <a:solidFill>
                  <a:srgbClr val="9A9A9A"/>
                </a:solidFill>
                <a:latin typeface="Times New Roman"/>
                <a:cs typeface="Times New Roman"/>
              </a:rPr>
              <a:t>3Gs,</a:t>
            </a:r>
            <a:r>
              <a:rPr sz="700" spc="30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24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30" dirty="0">
                <a:solidFill>
                  <a:srgbClr val="9A9A9A"/>
                </a:solidFill>
                <a:latin typeface="Courier New"/>
                <a:cs typeface="Courier New"/>
              </a:rPr>
              <a:t>0.8Gs,</a:t>
            </a:r>
            <a:r>
              <a:rPr sz="800" spc="-6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spc="55" dirty="0">
                <a:solidFill>
                  <a:srgbClr val="9A9A9A"/>
                </a:solidFill>
                <a:latin typeface="Times New Roman"/>
                <a:cs typeface="Times New Roman"/>
              </a:rPr>
              <a:t>l:.rror:</a:t>
            </a:r>
            <a:r>
              <a:rPr sz="800" spc="2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14U.Y%</a:t>
            </a:r>
            <a:r>
              <a:rPr sz="800" spc="5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I</a:t>
            </a:r>
            <a:r>
              <a:rPr sz="800" spc="-4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80" dirty="0">
                <a:solidFill>
                  <a:srgbClr val="9A9A9A"/>
                </a:solidFill>
                <a:latin typeface="Times New Roman"/>
                <a:cs typeface="Times New Roman"/>
              </a:rPr>
              <a:t>xpected:</a:t>
            </a:r>
            <a:r>
              <a:rPr sz="800" spc="3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solidFill>
                  <a:srgbClr val="9A9A9A"/>
                </a:solidFill>
                <a:latin typeface="Times New Roman"/>
                <a:cs typeface="Times New Roman"/>
              </a:rPr>
              <a:t>11.GOs,</a:t>
            </a:r>
            <a:r>
              <a:rPr sz="700" spc="28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28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40" dirty="0">
                <a:solidFill>
                  <a:srgbClr val="9A9A9A"/>
                </a:solidFill>
                <a:latin typeface="Courier New"/>
                <a:cs typeface="Courier New"/>
              </a:rPr>
              <a:t>Y.8Js,</a:t>
            </a:r>
            <a:r>
              <a:rPr sz="800" spc="-65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l</a:t>
            </a:r>
            <a:r>
              <a:rPr sz="800" spc="4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35" dirty="0">
                <a:solidFill>
                  <a:srgbClr val="9A9A9A"/>
                </a:solidFill>
                <a:latin typeface="Times New Roman"/>
                <a:cs typeface="Times New Roman"/>
              </a:rPr>
              <a:t>rror:</a:t>
            </a:r>
            <a:r>
              <a:rPr sz="800" spc="254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spc="-15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1•,.4%</a:t>
            </a:r>
            <a:r>
              <a:rPr sz="1200" spc="75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(</a:t>
            </a:r>
            <a:r>
              <a:rPr sz="800" spc="-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Xpt</a:t>
            </a:r>
            <a:r>
              <a:rPr sz="450" baseline="37037" dirty="0">
                <a:solidFill>
                  <a:srgbClr val="9A9A9A"/>
                </a:solidFill>
                <a:latin typeface="Times New Roman"/>
                <a:cs typeface="Times New Roman"/>
              </a:rPr>
              <a:t>1</a:t>
            </a:r>
            <a:r>
              <a:rPr sz="300" dirty="0">
                <a:solidFill>
                  <a:srgbClr val="9A9A9A"/>
                </a:solidFill>
                <a:latin typeface="Times New Roman"/>
                <a:cs typeface="Times New Roman"/>
              </a:rPr>
              <a:t>(</a:t>
            </a:r>
            <a:r>
              <a:rPr sz="300" spc="26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tPd:</a:t>
            </a:r>
            <a:r>
              <a:rPr sz="800" spc="2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60" dirty="0">
                <a:solidFill>
                  <a:srgbClr val="9A9A9A"/>
                </a:solidFill>
                <a:latin typeface="Courier New"/>
                <a:cs typeface="Courier New"/>
              </a:rPr>
              <a:t>9.HJc..,</a:t>
            </a:r>
            <a:r>
              <a:rPr sz="800" spc="-1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PrC'dictC'd:</a:t>
            </a:r>
            <a:r>
              <a:rPr sz="800" spc="3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9A9A9A"/>
                </a:solidFill>
                <a:latin typeface="Times New Roman"/>
                <a:cs typeface="Times New Roman"/>
              </a:rPr>
              <a:t>8.)</a:t>
            </a:r>
            <a:r>
              <a:rPr sz="700" spc="47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9A9A9A"/>
                </a:solidFill>
                <a:latin typeface="Arial"/>
                <a:cs typeface="Arial"/>
              </a:rPr>
              <a:t>Jc..,</a:t>
            </a:r>
            <a:r>
              <a:rPr sz="700" i="1" spc="32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I</a:t>
            </a:r>
            <a:r>
              <a:rPr sz="800" spc="4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35" dirty="0">
                <a:solidFill>
                  <a:srgbClr val="9A9A9A"/>
                </a:solidFill>
                <a:latin typeface="Times New Roman"/>
                <a:cs typeface="Times New Roman"/>
              </a:rPr>
              <a:t>rror:</a:t>
            </a:r>
            <a:r>
              <a:rPr sz="800" spc="34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00" spc="125" dirty="0">
                <a:solidFill>
                  <a:srgbClr val="9A9A9A"/>
                </a:solidFill>
                <a:latin typeface="Times New Roman"/>
                <a:cs typeface="Times New Roman"/>
              </a:rPr>
              <a:t>I5.</a:t>
            </a:r>
            <a:r>
              <a:rPr sz="700" spc="-9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9A9A9A"/>
                </a:solidFill>
                <a:latin typeface="Arial"/>
                <a:cs typeface="Arial"/>
              </a:rPr>
              <a:t>8",G</a:t>
            </a:r>
            <a:endParaRPr sz="800">
              <a:latin typeface="Arial"/>
              <a:cs typeface="Arial"/>
            </a:endParaRPr>
          </a:p>
          <a:p>
            <a:pPr marL="40640" marR="80010" indent="635" algn="just">
              <a:lnSpc>
                <a:spcPct val="110200"/>
              </a:lnSpc>
              <a:spcBef>
                <a:spcPts val="60"/>
              </a:spcBef>
            </a:pP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rxpP&lt;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Arial"/>
                <a:cs typeface="Arial"/>
              </a:rPr>
              <a:t>t</a:t>
            </a:r>
            <a:r>
              <a:rPr sz="750" spc="10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Pd:</a:t>
            </a:r>
            <a:r>
              <a:rPr sz="800" spc="45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050" baseline="3968" dirty="0">
                <a:solidFill>
                  <a:srgbClr val="9A9A9A"/>
                </a:solidFill>
                <a:latin typeface="Times New Roman"/>
                <a:cs typeface="Times New Roman"/>
              </a:rPr>
              <a:t>1.</a:t>
            </a:r>
            <a:r>
              <a:rPr sz="1050" spc="660" baseline="3968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900" i="1" spc="165" baseline="4629" dirty="0">
                <a:solidFill>
                  <a:srgbClr val="9A9A9A"/>
                </a:solidFill>
                <a:latin typeface="Arial"/>
                <a:cs typeface="Arial"/>
              </a:rPr>
              <a:t>}9•,,</a:t>
            </a:r>
            <a:r>
              <a:rPr sz="900" i="1" spc="419" baseline="4629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120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rr·Pdic</a:t>
            </a:r>
            <a:r>
              <a:rPr sz="1200" spc="67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1200" spc="12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t('d:</a:t>
            </a:r>
            <a:r>
              <a:rPr sz="1200" spc="30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975" spc="82" baseline="4273" dirty="0">
                <a:solidFill>
                  <a:srgbClr val="9A9A9A"/>
                </a:solidFill>
                <a:latin typeface="Times New Roman"/>
                <a:cs typeface="Times New Roman"/>
              </a:rPr>
              <a:t>0.)1&lt;..,,</a:t>
            </a:r>
            <a:r>
              <a:rPr sz="975" spc="569" baseline="4273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975" spc="89" baseline="4273" dirty="0">
                <a:solidFill>
                  <a:srgbClr val="9A9A9A"/>
                </a:solidFill>
                <a:latin typeface="Arial"/>
                <a:cs typeface="Arial"/>
              </a:rPr>
              <a:t>ffT(&gt;r·:</a:t>
            </a:r>
            <a:r>
              <a:rPr sz="975" spc="450" baseline="4273" dirty="0">
                <a:solidFill>
                  <a:srgbClr val="9A9A9A"/>
                </a:solidFill>
                <a:latin typeface="Arial"/>
                <a:cs typeface="Arial"/>
              </a:rPr>
              <a:t> </a:t>
            </a:r>
            <a:r>
              <a:rPr sz="1200" spc="-15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87.0%</a:t>
            </a:r>
            <a:r>
              <a:rPr sz="1200" spc="750" baseline="3472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80" dirty="0">
                <a:solidFill>
                  <a:srgbClr val="9A9A9A"/>
                </a:solidFill>
                <a:latin typeface="Times New Roman"/>
                <a:cs typeface="Times New Roman"/>
              </a:rPr>
              <a:t>FXpl'C.</a:t>
            </a:r>
            <a:r>
              <a:rPr sz="800" spc="-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5" dirty="0">
                <a:solidFill>
                  <a:srgbClr val="9A9A9A"/>
                </a:solidFill>
                <a:latin typeface="Times New Roman"/>
                <a:cs typeface="Times New Roman"/>
              </a:rPr>
              <a:t>led:</a:t>
            </a:r>
            <a:r>
              <a:rPr sz="800" spc="32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1.00'.:&gt;,</a:t>
            </a:r>
            <a:r>
              <a:rPr sz="750" spc="3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rr·edie.</a:t>
            </a:r>
            <a:r>
              <a:rPr sz="800" spc="-10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25" dirty="0">
                <a:solidFill>
                  <a:srgbClr val="9A9A9A"/>
                </a:solidFill>
                <a:latin typeface="Times New Roman"/>
                <a:cs typeface="Times New Roman"/>
              </a:rPr>
              <a:t>led:</a:t>
            </a:r>
            <a:r>
              <a:rPr sz="800" spc="2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0.04&lt;:&gt;,</a:t>
            </a:r>
            <a:r>
              <a:rPr sz="750" spc="459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FrTcn·:</a:t>
            </a:r>
            <a:r>
              <a:rPr sz="800" spc="23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-10" dirty="0">
                <a:solidFill>
                  <a:srgbClr val="9A9A9A"/>
                </a:solidFill>
                <a:latin typeface="Courier New"/>
                <a:cs typeface="Courier New"/>
              </a:rPr>
              <a:t>95.7%</a:t>
            </a:r>
            <a:endParaRPr sz="750">
              <a:latin typeface="Courier New"/>
              <a:cs typeface="Courier New"/>
            </a:endParaRPr>
          </a:p>
          <a:p>
            <a:pPr marL="38735" marR="83185" indent="635" algn="just">
              <a:lnSpc>
                <a:spcPct val="110200"/>
              </a:lnSpc>
            </a:pPr>
            <a:r>
              <a:rPr sz="800" spc="60" dirty="0">
                <a:solidFill>
                  <a:srgbClr val="9A9A9A"/>
                </a:solidFill>
                <a:latin typeface="Times New Roman"/>
                <a:cs typeface="Times New Roman"/>
              </a:rPr>
              <a:t>Expected:</a:t>
            </a:r>
            <a:r>
              <a:rPr sz="800" spc="28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20" dirty="0">
                <a:solidFill>
                  <a:srgbClr val="9A9A9A"/>
                </a:solidFill>
                <a:latin typeface="Times New Roman"/>
                <a:cs typeface="Times New Roman"/>
              </a:rPr>
              <a:t>1.495,</a:t>
            </a:r>
            <a:r>
              <a:rPr sz="750" spc="21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105" dirty="0">
                <a:solidFill>
                  <a:srgbClr val="9A9A9A"/>
                </a:solidFill>
                <a:latin typeface="Times New Roman"/>
                <a:cs typeface="Times New Roman"/>
              </a:rPr>
              <a:t>Predi(ted:</a:t>
            </a:r>
            <a:r>
              <a:rPr sz="800" spc="229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spc="100" dirty="0">
                <a:solidFill>
                  <a:srgbClr val="9A9A9A"/>
                </a:solidFill>
                <a:latin typeface="Times New Roman"/>
                <a:cs typeface="Times New Roman"/>
              </a:rPr>
              <a:t>1.</a:t>
            </a:r>
            <a:r>
              <a:rPr sz="750" spc="-4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33".:.,</a:t>
            </a:r>
            <a:r>
              <a:rPr sz="750" spc="33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Er·r·or:</a:t>
            </a:r>
            <a:r>
              <a:rPr sz="800" spc="295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9A9A9A"/>
                </a:solidFill>
                <a:latin typeface="Times New Roman"/>
                <a:cs typeface="Times New Roman"/>
              </a:rPr>
              <a:t>11.1%</a:t>
            </a:r>
            <a:r>
              <a:rPr sz="800" spc="90" dirty="0">
                <a:solidFill>
                  <a:srgbClr val="9A9A9A"/>
                </a:solidFill>
                <a:latin typeface="Times New Roman"/>
                <a:cs typeface="Times New Roman"/>
              </a:rPr>
              <a:t> lxpected:</a:t>
            </a:r>
            <a:r>
              <a:rPr sz="800" spc="3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9A9A9A"/>
                </a:solidFill>
                <a:latin typeface="Times New Roman"/>
                <a:cs typeface="Times New Roman"/>
              </a:rPr>
              <a:t>1.</a:t>
            </a:r>
            <a:r>
              <a:rPr sz="750" spc="7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650" i="1" spc="200" dirty="0">
                <a:solidFill>
                  <a:srgbClr val="9A9A9A"/>
                </a:solidFill>
                <a:latin typeface="Arial"/>
                <a:cs typeface="Arial"/>
              </a:rPr>
              <a:t>2ls, </a:t>
            </a:r>
            <a:r>
              <a:rPr sz="800" spc="95" dirty="0">
                <a:solidFill>
                  <a:srgbClr val="9A9A9A"/>
                </a:solidFill>
                <a:latin typeface="Times New Roman"/>
                <a:cs typeface="Times New Roman"/>
              </a:rPr>
              <a:t>Predicted:</a:t>
            </a:r>
            <a:r>
              <a:rPr sz="800" spc="26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spc="-30" dirty="0">
                <a:solidFill>
                  <a:srgbClr val="9A9A9A"/>
                </a:solidFill>
                <a:latin typeface="Courier New"/>
                <a:cs typeface="Courier New"/>
              </a:rPr>
              <a:t>0.YGs,</a:t>
            </a:r>
            <a:r>
              <a:rPr sz="800" spc="-40" dirty="0">
                <a:solidFill>
                  <a:srgbClr val="9A9A9A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9A9A9A"/>
                </a:solidFill>
                <a:latin typeface="Times New Roman"/>
                <a:cs typeface="Times New Roman"/>
              </a:rPr>
              <a:t>l::rr·or:</a:t>
            </a:r>
            <a:r>
              <a:rPr sz="800" spc="310" dirty="0">
                <a:solidFill>
                  <a:srgbClr val="9A9A9A"/>
                </a:solidFill>
                <a:latin typeface="Times New Roman"/>
                <a:cs typeface="Times New Roman"/>
              </a:rPr>
              <a:t> </a:t>
            </a:r>
            <a:r>
              <a:rPr sz="800" i="1" spc="-10" dirty="0">
                <a:solidFill>
                  <a:srgbClr val="9A9A9A"/>
                </a:solidFill>
                <a:latin typeface="Courier New"/>
                <a:cs typeface="Courier New"/>
              </a:rPr>
              <a:t>24.9%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64323" y="2259030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30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51624" y="2252624"/>
            <a:ext cx="7747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5" dirty="0">
                <a:solidFill>
                  <a:srgbClr val="EFEDF7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11658" y="2259030"/>
            <a:ext cx="3036570" cy="214629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Neural</a:t>
            </a:r>
            <a:r>
              <a:rPr sz="1250" spc="31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55" dirty="0">
                <a:solidFill>
                  <a:srgbClr val="EFEDF7"/>
                </a:solidFill>
                <a:latin typeface="Times New Roman"/>
                <a:cs typeface="Times New Roman"/>
              </a:rPr>
              <a:t>Network</a:t>
            </a:r>
            <a:r>
              <a:rPr sz="1250" spc="11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Serves</a:t>
            </a:r>
            <a:r>
              <a:rPr sz="1250" spc="13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as</a:t>
            </a:r>
            <a:r>
              <a:rPr sz="1250" spc="18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regression</a:t>
            </a:r>
            <a:r>
              <a:rPr sz="1250" spc="33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model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42692" y="2567200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30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85205" y="2567200"/>
            <a:ext cx="3147060" cy="214629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Had</a:t>
            </a:r>
            <a:r>
              <a:rPr sz="1250" spc="9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to</a:t>
            </a:r>
            <a:r>
              <a:rPr sz="1250" spc="36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clamp</a:t>
            </a:r>
            <a:r>
              <a:rPr sz="1250" spc="7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certain</a:t>
            </a:r>
            <a:r>
              <a:rPr sz="1250" spc="28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points</a:t>
            </a:r>
            <a:r>
              <a:rPr sz="1250" spc="9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due</a:t>
            </a:r>
            <a:r>
              <a:rPr sz="1250" spc="15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to</a:t>
            </a:r>
            <a:r>
              <a:rPr sz="1250" spc="36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EFEDF7"/>
                </a:solidFill>
                <a:latin typeface="Times New Roman"/>
                <a:cs typeface="Times New Roman"/>
              </a:rPr>
              <a:t>high</a:t>
            </a:r>
            <a:r>
              <a:rPr sz="1250" spc="10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90" dirty="0">
                <a:solidFill>
                  <a:srgbClr val="EFEDF7"/>
                </a:solidFill>
                <a:latin typeface="Times New Roman"/>
                <a:cs typeface="Times New Roman"/>
              </a:rPr>
              <a:t>error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42692" y="2875369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30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85205" y="2875369"/>
            <a:ext cx="2869565" cy="215265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65" dirty="0">
                <a:solidFill>
                  <a:srgbClr val="EFEDF7"/>
                </a:solidFill>
                <a:latin typeface="Times New Roman"/>
                <a:cs typeface="Times New Roman"/>
              </a:rPr>
              <a:t>Does</a:t>
            </a:r>
            <a:r>
              <a:rPr sz="1250" spc="1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okay</a:t>
            </a:r>
            <a:r>
              <a:rPr sz="1250" spc="7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in</a:t>
            </a:r>
            <a:r>
              <a:rPr sz="1250" spc="14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predicting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values</a:t>
            </a:r>
            <a:r>
              <a:rPr sz="1250" spc="6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FEDF7"/>
                </a:solidFill>
                <a:latin typeface="Arial"/>
                <a:cs typeface="Arial"/>
              </a:rPr>
              <a:t>&lt;</a:t>
            </a:r>
            <a:r>
              <a:rPr sz="1200" spc="290" dirty="0">
                <a:solidFill>
                  <a:srgbClr val="EFEDF7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I</a:t>
            </a:r>
            <a:r>
              <a:rPr sz="1250" spc="18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second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42692" y="3183539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29993" y="2560794"/>
            <a:ext cx="9398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EFEDF7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250" spc="100" dirty="0">
                <a:solidFill>
                  <a:srgbClr val="DBD8E9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250" spc="35" dirty="0">
                <a:solidFill>
                  <a:srgbClr val="EFEDF7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5205" y="3176921"/>
            <a:ext cx="2404110" cy="226060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Bad</a:t>
            </a:r>
            <a:r>
              <a:rPr sz="1250" spc="3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at</a:t>
            </a:r>
            <a:r>
              <a:rPr sz="1250" spc="27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predicting</a:t>
            </a:r>
            <a:r>
              <a:rPr sz="1250" spc="2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values</a:t>
            </a:r>
            <a:r>
              <a:rPr sz="1250" spc="4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EFEDF7"/>
                </a:solidFill>
                <a:latin typeface="Arial"/>
                <a:cs typeface="Arial"/>
              </a:rPr>
              <a:t>&gt;</a:t>
            </a:r>
            <a:r>
              <a:rPr sz="1300" spc="185" dirty="0">
                <a:solidFill>
                  <a:srgbClr val="EFEDF7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I</a:t>
            </a:r>
            <a:r>
              <a:rPr sz="1250" spc="14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second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64323" y="3491707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551624" y="3485302"/>
            <a:ext cx="8636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35" dirty="0">
                <a:solidFill>
                  <a:srgbClr val="DBD8E9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6889" y="3491707"/>
            <a:ext cx="793115" cy="219710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Test</a:t>
            </a:r>
            <a:r>
              <a:rPr sz="1250" spc="-3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EFEDF7"/>
                </a:solidFill>
                <a:latin typeface="Arial"/>
                <a:cs typeface="Arial"/>
              </a:rPr>
              <a:t>I</a:t>
            </a:r>
            <a:r>
              <a:rPr sz="1300" i="1" spc="275" dirty="0">
                <a:solidFill>
                  <a:srgbClr val="EFEDF7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Train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42692" y="3799876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175258" y="3799876"/>
            <a:ext cx="3309620" cy="214629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Tried</a:t>
            </a:r>
            <a:r>
              <a:rPr sz="1250" spc="27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50" dirty="0">
                <a:solidFill>
                  <a:srgbClr val="EFEDF7"/>
                </a:solidFill>
                <a:latin typeface="Times New Roman"/>
                <a:cs typeface="Times New Roman"/>
              </a:rPr>
              <a:t>both</a:t>
            </a:r>
            <a:r>
              <a:rPr sz="1250" spc="32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random</a:t>
            </a:r>
            <a:r>
              <a:rPr sz="1250" spc="21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and</a:t>
            </a:r>
            <a:r>
              <a:rPr sz="1250" spc="16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suggested</a:t>
            </a:r>
            <a:r>
              <a:rPr sz="1250" spc="32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train/test</a:t>
            </a:r>
            <a:r>
              <a:rPr sz="1250" spc="15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split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42692" y="4115948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86951" y="4115948"/>
            <a:ext cx="2575560" cy="214629"/>
          </a:xfrm>
          <a:custGeom>
            <a:avLst/>
            <a:gdLst/>
            <a:ahLst/>
            <a:cxnLst/>
            <a:rect l="l" t="t" r="r" b="b"/>
            <a:pathLst>
              <a:path w="2575559" h="214629">
                <a:moveTo>
                  <a:pt x="2575254" y="214223"/>
                </a:moveTo>
                <a:lnTo>
                  <a:pt x="0" y="214223"/>
                </a:lnTo>
                <a:lnTo>
                  <a:pt x="0" y="0"/>
                </a:lnTo>
                <a:lnTo>
                  <a:pt x="2575254" y="0"/>
                </a:lnTo>
                <a:lnTo>
                  <a:pt x="2575254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42692" y="4416215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929993" y="3793472"/>
            <a:ext cx="286067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  <a:p>
            <a:pPr marL="256540" indent="-244475">
              <a:lnSpc>
                <a:spcPct val="100000"/>
              </a:lnSpc>
              <a:spcBef>
                <a:spcPts val="990"/>
              </a:spcBef>
              <a:buClr>
                <a:srgbClr val="DBD8E9"/>
              </a:buClr>
              <a:buChar char="•"/>
              <a:tabLst>
                <a:tab pos="256540" algn="l"/>
                <a:tab pos="257175" algn="l"/>
              </a:tabLst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Used</a:t>
            </a:r>
            <a:r>
              <a:rPr sz="1250" spc="204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suggested</a:t>
            </a:r>
            <a:r>
              <a:rPr sz="1250" spc="34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train/test</a:t>
            </a:r>
            <a:r>
              <a:rPr sz="1250" spc="19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split</a:t>
            </a:r>
            <a:r>
              <a:rPr sz="1250" spc="204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(24/</a:t>
            </a:r>
            <a:r>
              <a:rPr sz="1250" spc="-14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45" dirty="0">
                <a:solidFill>
                  <a:srgbClr val="EFEDF7"/>
                </a:solidFill>
                <a:latin typeface="Times New Roman"/>
                <a:cs typeface="Times New Roman"/>
              </a:rPr>
              <a:t>I</a:t>
            </a:r>
            <a:r>
              <a:rPr sz="1250" spc="1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EFEDF7"/>
                </a:solidFill>
                <a:latin typeface="Times New Roman"/>
                <a:cs typeface="Times New Roman"/>
              </a:rPr>
              <a:t>2)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250" spc="30" dirty="0">
                <a:solidFill>
                  <a:srgbClr val="DBD8E9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90027" y="4416215"/>
            <a:ext cx="2075180" cy="214629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Not</a:t>
            </a:r>
            <a:r>
              <a:rPr sz="1250" spc="33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much</a:t>
            </a:r>
            <a:r>
              <a:rPr sz="1250" spc="10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difference</a:t>
            </a:r>
            <a:r>
              <a:rPr sz="1250" spc="12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in</a:t>
            </a:r>
            <a:r>
              <a:rPr sz="1250" spc="114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results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564323" y="4724385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551624" y="4717980"/>
            <a:ext cx="8572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35" dirty="0">
                <a:solidFill>
                  <a:srgbClr val="DBD8E9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91810" y="4724385"/>
            <a:ext cx="564515" cy="214629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Solution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42692" y="5032554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185363" y="5032554"/>
            <a:ext cx="2942590" cy="219710"/>
          </a:xfrm>
          <a:prstGeom prst="rect">
            <a:avLst/>
          </a:prstGeom>
          <a:solidFill>
            <a:srgbClr val="6B649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250" spc="-20" dirty="0">
                <a:solidFill>
                  <a:srgbClr val="EFEDF7"/>
                </a:solidFill>
                <a:latin typeface="Times New Roman"/>
                <a:cs typeface="Times New Roman"/>
              </a:rPr>
              <a:t>Fix</a:t>
            </a:r>
            <a:r>
              <a:rPr sz="1250" spc="7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class</a:t>
            </a:r>
            <a:r>
              <a:rPr sz="1250" spc="4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imbalance</a:t>
            </a:r>
            <a:r>
              <a:rPr sz="1250" spc="-7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300" i="1" dirty="0">
                <a:solidFill>
                  <a:srgbClr val="EFEDF7"/>
                </a:solidFill>
                <a:latin typeface="Arial"/>
                <a:cs typeface="Arial"/>
              </a:rPr>
              <a:t>I</a:t>
            </a:r>
            <a:r>
              <a:rPr sz="1300" i="1" spc="210" dirty="0">
                <a:solidFill>
                  <a:srgbClr val="EFEDF7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provide</a:t>
            </a:r>
            <a:r>
              <a:rPr sz="1250" spc="130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60" dirty="0">
                <a:solidFill>
                  <a:srgbClr val="EFEDF7"/>
                </a:solidFill>
                <a:latin typeface="Times New Roman"/>
                <a:cs typeface="Times New Roman"/>
              </a:rPr>
              <a:t>more</a:t>
            </a:r>
            <a:r>
              <a:rPr sz="1250" spc="7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datasets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942692" y="5340724"/>
            <a:ext cx="47625" cy="214629"/>
          </a:xfrm>
          <a:custGeom>
            <a:avLst/>
            <a:gdLst/>
            <a:ahLst/>
            <a:cxnLst/>
            <a:rect l="l" t="t" r="r" b="b"/>
            <a:pathLst>
              <a:path w="47625" h="214629">
                <a:moveTo>
                  <a:pt x="47296" y="214223"/>
                </a:moveTo>
                <a:lnTo>
                  <a:pt x="0" y="214223"/>
                </a:lnTo>
                <a:lnTo>
                  <a:pt x="0" y="0"/>
                </a:lnTo>
                <a:lnTo>
                  <a:pt x="47296" y="0"/>
                </a:lnTo>
                <a:lnTo>
                  <a:pt x="47296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84728" y="5340724"/>
            <a:ext cx="1542415" cy="214629"/>
          </a:xfrm>
          <a:custGeom>
            <a:avLst/>
            <a:gdLst/>
            <a:ahLst/>
            <a:cxnLst/>
            <a:rect l="l" t="t" r="r" b="b"/>
            <a:pathLst>
              <a:path w="1542415" h="214629">
                <a:moveTo>
                  <a:pt x="1542148" y="214223"/>
                </a:moveTo>
                <a:lnTo>
                  <a:pt x="0" y="214223"/>
                </a:lnTo>
                <a:lnTo>
                  <a:pt x="0" y="0"/>
                </a:lnTo>
                <a:lnTo>
                  <a:pt x="1542148" y="0"/>
                </a:lnTo>
                <a:lnTo>
                  <a:pt x="1542148" y="214223"/>
                </a:lnTo>
                <a:close/>
              </a:path>
            </a:pathLst>
          </a:custGeom>
          <a:solidFill>
            <a:srgbClr val="6B64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929993" y="5026149"/>
            <a:ext cx="1823720" cy="52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15" dirty="0">
                <a:solidFill>
                  <a:srgbClr val="DBD8E9"/>
                </a:solidFill>
                <a:latin typeface="Times New Roman"/>
                <a:cs typeface="Times New Roman"/>
              </a:rPr>
              <a:t>•</a:t>
            </a:r>
            <a:endParaRPr sz="1250">
              <a:latin typeface="Times New Roman"/>
              <a:cs typeface="Times New Roman"/>
            </a:endParaRPr>
          </a:p>
          <a:p>
            <a:pPr marL="254635" indent="-242570">
              <a:lnSpc>
                <a:spcPct val="100000"/>
              </a:lnSpc>
              <a:spcBef>
                <a:spcPts val="930"/>
              </a:spcBef>
              <a:buClr>
                <a:srgbClr val="DBD8E9"/>
              </a:buClr>
              <a:buChar char="•"/>
              <a:tabLst>
                <a:tab pos="254635" algn="l"/>
                <a:tab pos="255270" algn="l"/>
              </a:tabLst>
            </a:pPr>
            <a:r>
              <a:rPr sz="1250" dirty="0">
                <a:solidFill>
                  <a:srgbClr val="EFEDF7"/>
                </a:solidFill>
                <a:latin typeface="Times New Roman"/>
                <a:cs typeface="Times New Roman"/>
              </a:rPr>
              <a:t>Extract</a:t>
            </a:r>
            <a:r>
              <a:rPr sz="1250" spc="19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80" dirty="0">
                <a:solidFill>
                  <a:srgbClr val="EFEDF7"/>
                </a:solidFill>
                <a:latin typeface="Times New Roman"/>
                <a:cs typeface="Times New Roman"/>
              </a:rPr>
              <a:t>better</a:t>
            </a:r>
            <a:r>
              <a:rPr sz="1250" spc="15" dirty="0">
                <a:solidFill>
                  <a:srgbClr val="EFEDF7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EFEDF7"/>
                </a:solidFill>
                <a:latin typeface="Times New Roman"/>
                <a:cs typeface="Times New Roman"/>
              </a:rPr>
              <a:t>features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0" y="4550036"/>
            <a:ext cx="2112558" cy="9956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2357" y="1017962"/>
            <a:ext cx="7126042" cy="57129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81301" y="2424456"/>
            <a:ext cx="599440" cy="0"/>
          </a:xfrm>
          <a:custGeom>
            <a:avLst/>
            <a:gdLst/>
            <a:ahLst/>
            <a:cxnLst/>
            <a:rect l="l" t="t" r="r" b="b"/>
            <a:pathLst>
              <a:path w="599440">
                <a:moveTo>
                  <a:pt x="0" y="0"/>
                </a:moveTo>
                <a:lnTo>
                  <a:pt x="599083" y="0"/>
                </a:lnTo>
              </a:path>
            </a:pathLst>
          </a:custGeom>
          <a:ln w="7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748" y="2408654"/>
            <a:ext cx="1174750" cy="0"/>
          </a:xfrm>
          <a:custGeom>
            <a:avLst/>
            <a:gdLst/>
            <a:ahLst/>
            <a:cxnLst/>
            <a:rect l="l" t="t" r="r" b="b"/>
            <a:pathLst>
              <a:path w="1174750">
                <a:moveTo>
                  <a:pt x="0" y="0"/>
                </a:moveTo>
                <a:lnTo>
                  <a:pt x="1174519" y="0"/>
                </a:lnTo>
              </a:path>
            </a:pathLst>
          </a:custGeom>
          <a:ln w="7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066" y="2416555"/>
            <a:ext cx="0" cy="1580515"/>
          </a:xfrm>
          <a:custGeom>
            <a:avLst/>
            <a:gdLst/>
            <a:ahLst/>
            <a:cxnLst/>
            <a:rect l="l" t="t" r="r" b="b"/>
            <a:pathLst>
              <a:path h="1580514">
                <a:moveTo>
                  <a:pt x="0" y="1580355"/>
                </a:moveTo>
                <a:lnTo>
                  <a:pt x="0" y="0"/>
                </a:lnTo>
              </a:path>
            </a:pathLst>
          </a:custGeom>
          <a:ln w="7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4647" y="4289277"/>
            <a:ext cx="772795" cy="0"/>
          </a:xfrm>
          <a:custGeom>
            <a:avLst/>
            <a:gdLst/>
            <a:ahLst/>
            <a:cxnLst/>
            <a:rect l="l" t="t" r="r" b="b"/>
            <a:pathLst>
              <a:path w="772794">
                <a:moveTo>
                  <a:pt x="0" y="0"/>
                </a:moveTo>
                <a:lnTo>
                  <a:pt x="772502" y="0"/>
                </a:lnTo>
              </a:path>
            </a:pathLst>
          </a:custGeom>
          <a:ln w="7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1301" y="5845928"/>
            <a:ext cx="2018030" cy="0"/>
          </a:xfrm>
          <a:custGeom>
            <a:avLst/>
            <a:gdLst/>
            <a:ahLst/>
            <a:cxnLst/>
            <a:rect l="l" t="t" r="r" b="b"/>
            <a:pathLst>
              <a:path w="2018030">
                <a:moveTo>
                  <a:pt x="0" y="0"/>
                </a:moveTo>
                <a:lnTo>
                  <a:pt x="2017965" y="0"/>
                </a:lnTo>
              </a:path>
            </a:pathLst>
          </a:custGeom>
          <a:ln w="7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83501" y="2392850"/>
            <a:ext cx="0" cy="1509395"/>
          </a:xfrm>
          <a:custGeom>
            <a:avLst/>
            <a:gdLst/>
            <a:ahLst/>
            <a:cxnLst/>
            <a:rect l="l" t="t" r="r" b="b"/>
            <a:pathLst>
              <a:path h="1509395">
                <a:moveTo>
                  <a:pt x="0" y="1509239"/>
                </a:moveTo>
                <a:lnTo>
                  <a:pt x="0" y="0"/>
                </a:lnTo>
              </a:path>
            </a:pathLst>
          </a:custGeom>
          <a:ln w="7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91384" y="4273473"/>
            <a:ext cx="0" cy="1580515"/>
          </a:xfrm>
          <a:custGeom>
            <a:avLst/>
            <a:gdLst/>
            <a:ahLst/>
            <a:cxnLst/>
            <a:rect l="l" t="t" r="r" b="b"/>
            <a:pathLst>
              <a:path h="1580514">
                <a:moveTo>
                  <a:pt x="0" y="1580356"/>
                </a:moveTo>
                <a:lnTo>
                  <a:pt x="0" y="0"/>
                </a:lnTo>
              </a:path>
            </a:pathLst>
          </a:custGeom>
          <a:ln w="7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11183" y="2384948"/>
            <a:ext cx="0" cy="1580515"/>
          </a:xfrm>
          <a:custGeom>
            <a:avLst/>
            <a:gdLst/>
            <a:ahLst/>
            <a:cxnLst/>
            <a:rect l="l" t="t" r="r" b="b"/>
            <a:pathLst>
              <a:path h="1580514">
                <a:moveTo>
                  <a:pt x="0" y="1580355"/>
                </a:moveTo>
                <a:lnTo>
                  <a:pt x="0" y="0"/>
                </a:lnTo>
              </a:path>
            </a:pathLst>
          </a:custGeom>
          <a:ln w="7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03301" y="4265571"/>
            <a:ext cx="1837055" cy="1580515"/>
          </a:xfrm>
          <a:custGeom>
            <a:avLst/>
            <a:gdLst/>
            <a:ahLst/>
            <a:cxnLst/>
            <a:rect l="l" t="t" r="r" b="b"/>
            <a:pathLst>
              <a:path w="1837054" h="1580514">
                <a:moveTo>
                  <a:pt x="15764" y="1580356"/>
                </a:moveTo>
                <a:lnTo>
                  <a:pt x="15764" y="0"/>
                </a:lnTo>
              </a:path>
              <a:path w="1837054" h="1580514">
                <a:moveTo>
                  <a:pt x="0" y="1564553"/>
                </a:moveTo>
                <a:lnTo>
                  <a:pt x="1836663" y="1564553"/>
                </a:lnTo>
              </a:path>
            </a:pathLst>
          </a:custGeom>
          <a:ln w="78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02799" y="1940724"/>
            <a:ext cx="351155" cy="474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245" dirty="0">
                <a:solidFill>
                  <a:srgbClr val="7B797B"/>
                </a:solidFill>
                <a:latin typeface="Times New Roman"/>
                <a:cs typeface="Times New Roman"/>
              </a:rPr>
              <a:t>.,...,.._</a:t>
            </a:r>
            <a:endParaRPr sz="19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  <a:spcBef>
                <a:spcPts val="825"/>
              </a:spcBef>
            </a:pPr>
            <a:r>
              <a:rPr sz="350" dirty="0">
                <a:solidFill>
                  <a:srgbClr val="7B797B"/>
                </a:solidFill>
                <a:latin typeface="Arial"/>
                <a:cs typeface="Arial"/>
              </a:rPr>
              <a:t>f</a:t>
            </a:r>
            <a:r>
              <a:rPr sz="350" spc="150" dirty="0">
                <a:solidFill>
                  <a:srgbClr val="7B797B"/>
                </a:solidFill>
                <a:latin typeface="Arial"/>
                <a:cs typeface="Arial"/>
              </a:rPr>
              <a:t> </a:t>
            </a:r>
            <a:r>
              <a:rPr sz="350" spc="120" dirty="0">
                <a:solidFill>
                  <a:srgbClr val="8C8E8E"/>
                </a:solidFill>
                <a:latin typeface="Arial"/>
                <a:cs typeface="Arial"/>
              </a:rPr>
              <a:t>••</a:t>
            </a:r>
            <a:r>
              <a:rPr sz="350" spc="120" dirty="0">
                <a:solidFill>
                  <a:srgbClr val="A8A8A8"/>
                </a:solidFill>
                <a:latin typeface="Arial"/>
                <a:cs typeface="Arial"/>
              </a:rPr>
              <a:t>•</a:t>
            </a:r>
            <a:r>
              <a:rPr sz="350" spc="120" dirty="0">
                <a:solidFill>
                  <a:srgbClr val="8C8E8E"/>
                </a:solidFill>
                <a:latin typeface="Arial"/>
                <a:cs typeface="Arial"/>
              </a:rPr>
              <a:t>,</a:t>
            </a:r>
            <a:r>
              <a:rPr sz="350" spc="120" dirty="0">
                <a:solidFill>
                  <a:srgbClr val="696969"/>
                </a:solidFill>
                <a:latin typeface="Arial"/>
                <a:cs typeface="Arial"/>
              </a:rPr>
              <a:t>.,.</a:t>
            </a:r>
            <a:endParaRPr sz="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647" y="2559257"/>
            <a:ext cx="1752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50" dirty="0">
                <a:solidFill>
                  <a:srgbClr val="A8A8A8"/>
                </a:solidFill>
                <a:latin typeface="Arial"/>
                <a:cs typeface="Arial"/>
              </a:rPr>
              <a:t>"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0361" y="2682833"/>
            <a:ext cx="793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270" dirty="0">
                <a:solidFill>
                  <a:srgbClr val="8C8E8E"/>
                </a:solidFill>
                <a:latin typeface="Times New Roman"/>
                <a:cs typeface="Times New Roman"/>
              </a:rPr>
              <a:t>'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79144" y="2834722"/>
            <a:ext cx="1809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145" dirty="0">
                <a:solidFill>
                  <a:srgbClr val="7B797B"/>
                </a:solidFill>
                <a:latin typeface="Arial"/>
                <a:cs typeface="Arial"/>
              </a:rPr>
              <a:t>/ </a:t>
            </a:r>
            <a:r>
              <a:rPr sz="650" spc="95" dirty="0">
                <a:solidFill>
                  <a:srgbClr val="7B797B"/>
                </a:solidFill>
                <a:latin typeface="Arial"/>
                <a:cs typeface="Arial"/>
              </a:rPr>
              <a:t>,'</a:t>
            </a:r>
            <a:endParaRPr sz="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9488" y="2851185"/>
            <a:ext cx="2844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i="1" spc="-112" baseline="-27777" dirty="0">
                <a:solidFill>
                  <a:srgbClr val="AEB390"/>
                </a:solidFill>
                <a:latin typeface="Times New Roman"/>
                <a:cs typeface="Times New Roman"/>
              </a:rPr>
              <a:t>:</a:t>
            </a:r>
            <a:r>
              <a:rPr sz="2550" i="1" spc="-112" baseline="-27777" dirty="0">
                <a:solidFill>
                  <a:srgbClr val="8C8E8E"/>
                </a:solidFill>
                <a:latin typeface="Times New Roman"/>
                <a:cs typeface="Times New Roman"/>
              </a:rPr>
              <a:t>/</a:t>
            </a:r>
            <a:r>
              <a:rPr sz="1300" i="1" spc="-75" dirty="0">
                <a:solidFill>
                  <a:srgbClr val="8C8E8E"/>
                </a:solidFill>
                <a:latin typeface="Times New Roman"/>
                <a:cs typeface="Times New Roman"/>
              </a:rPr>
              <a:t>,:</a:t>
            </a:r>
            <a:r>
              <a:rPr sz="1300" i="1" spc="-75" dirty="0">
                <a:solidFill>
                  <a:srgbClr val="A8A8A8"/>
                </a:solidFill>
                <a:latin typeface="Times New Roman"/>
                <a:cs typeface="Times New Roman"/>
              </a:rPr>
              <a:t>;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0007" y="2994734"/>
            <a:ext cx="41338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60" dirty="0">
                <a:solidFill>
                  <a:srgbClr val="A8A8A8"/>
                </a:solidFill>
                <a:latin typeface="Arial"/>
                <a:cs typeface="Arial"/>
              </a:rPr>
              <a:t>...</a:t>
            </a:r>
            <a:r>
              <a:rPr sz="2000" spc="110" dirty="0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sz="950" spc="405" dirty="0">
                <a:solidFill>
                  <a:srgbClr val="8C8E8E"/>
                </a:solidFill>
                <a:latin typeface="Times New Roman"/>
                <a:cs typeface="Times New Roman"/>
              </a:rPr>
              <a:t>,</a:t>
            </a:r>
            <a:r>
              <a:rPr sz="950" spc="405" dirty="0">
                <a:solidFill>
                  <a:srgbClr val="383F46"/>
                </a:solidFill>
                <a:latin typeface="Times New Roman"/>
                <a:cs typeface="Times New Roman"/>
              </a:rPr>
              <a:t>•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5371" y="3237712"/>
            <a:ext cx="15875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i="1" spc="285" dirty="0">
                <a:solidFill>
                  <a:srgbClr val="8597A7"/>
                </a:solidFill>
                <a:latin typeface="Times New Roman"/>
                <a:cs typeface="Times New Roman"/>
              </a:rPr>
              <a:t>•/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9645" y="3106456"/>
            <a:ext cx="43370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200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850" spc="200" dirty="0">
                <a:solidFill>
                  <a:srgbClr val="8597A7"/>
                </a:solidFill>
                <a:latin typeface="Arial"/>
                <a:cs typeface="Arial"/>
              </a:rPr>
              <a:t>.,,'"</a:t>
            </a:r>
            <a:endParaRPr sz="8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2170" y="3248907"/>
            <a:ext cx="14986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315" dirty="0">
                <a:solidFill>
                  <a:srgbClr val="A8A8A8"/>
                </a:solidFill>
                <a:latin typeface="Arial"/>
                <a:cs typeface="Arial"/>
              </a:rPr>
              <a:t>·</a:t>
            </a:r>
            <a:r>
              <a:rPr sz="2300" spc="-315" dirty="0">
                <a:solidFill>
                  <a:srgbClr val="C3C1C3"/>
                </a:solidFill>
                <a:latin typeface="Arial"/>
                <a:cs typeface="Arial"/>
              </a:rPr>
              <a:t>.</a:t>
            </a:r>
            <a:endParaRPr sz="2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0203" y="3395310"/>
            <a:ext cx="24320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20" dirty="0">
                <a:solidFill>
                  <a:srgbClr val="A8A8A8"/>
                </a:solidFill>
                <a:latin typeface="Times New Roman"/>
                <a:cs typeface="Times New Roman"/>
              </a:rPr>
              <a:t>:.,....</a:t>
            </a:r>
            <a:r>
              <a:rPr sz="850" spc="-120" dirty="0">
                <a:solidFill>
                  <a:srgbClr val="8C8E8E"/>
                </a:solidFill>
                <a:latin typeface="Times New Roman"/>
                <a:cs typeface="Times New Roman"/>
              </a:rPr>
              <a:t>.....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5639" y="3359313"/>
            <a:ext cx="8318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260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endParaRPr sz="2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3238" y="3371824"/>
            <a:ext cx="72580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245745" algn="l"/>
                <a:tab pos="434975" algn="l"/>
              </a:tabLst>
            </a:pPr>
            <a:r>
              <a:rPr sz="2350" spc="-325" dirty="0">
                <a:solidFill>
                  <a:srgbClr val="C1C697"/>
                </a:solidFill>
                <a:latin typeface="Arial"/>
                <a:cs typeface="Arial"/>
              </a:rPr>
              <a:t>.</a:t>
            </a:r>
            <a:r>
              <a:rPr sz="2350" dirty="0">
                <a:solidFill>
                  <a:srgbClr val="C1C697"/>
                </a:solidFill>
                <a:latin typeface="Arial"/>
                <a:cs typeface="Arial"/>
              </a:rPr>
              <a:t>	</a:t>
            </a:r>
            <a:r>
              <a:rPr sz="2700" spc="-335" dirty="0">
                <a:solidFill>
                  <a:srgbClr val="C3C1C3"/>
                </a:solidFill>
                <a:latin typeface="Times New Roman"/>
                <a:cs typeface="Times New Roman"/>
              </a:rPr>
              <a:t>.</a:t>
            </a:r>
            <a:r>
              <a:rPr sz="2700" dirty="0">
                <a:solidFill>
                  <a:srgbClr val="C3C1C3"/>
                </a:solidFill>
                <a:latin typeface="Times New Roman"/>
                <a:cs typeface="Times New Roman"/>
              </a:rPr>
              <a:t>	</a:t>
            </a:r>
            <a:r>
              <a:rPr sz="900" spc="-50" dirty="0">
                <a:solidFill>
                  <a:srgbClr val="A8A8A8"/>
                </a:solidFill>
                <a:latin typeface="Times New Roman"/>
                <a:cs typeface="Times New Roman"/>
              </a:rPr>
              <a:t>.:.,"</a:t>
            </a:r>
            <a:r>
              <a:rPr sz="2625" spc="-75" baseline="7936" dirty="0">
                <a:solidFill>
                  <a:srgbClr val="A8A8A8"/>
                </a:solidFill>
                <a:latin typeface="Times New Roman"/>
                <a:cs typeface="Times New Roman"/>
              </a:rPr>
              <a:t>--</a:t>
            </a:r>
            <a:endParaRPr sz="2625" baseline="7936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74475" y="3978676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812" y="0"/>
                </a:lnTo>
              </a:path>
            </a:pathLst>
          </a:custGeom>
          <a:ln w="15360">
            <a:solidFill>
              <a:srgbClr val="C2C0C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89872" y="3978676"/>
            <a:ext cx="829310" cy="0"/>
          </a:xfrm>
          <a:custGeom>
            <a:avLst/>
            <a:gdLst/>
            <a:ahLst/>
            <a:cxnLst/>
            <a:rect l="l" t="t" r="r" b="b"/>
            <a:pathLst>
              <a:path w="829310">
                <a:moveTo>
                  <a:pt x="0" y="0"/>
                </a:moveTo>
                <a:lnTo>
                  <a:pt x="829291" y="0"/>
                </a:lnTo>
              </a:path>
            </a:pathLst>
          </a:custGeom>
          <a:ln w="15360">
            <a:solidFill>
              <a:srgbClr val="C2C0C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406463" y="3778546"/>
            <a:ext cx="12890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-425" dirty="0">
                <a:solidFill>
                  <a:srgbClr val="C3C1C3"/>
                </a:solidFill>
                <a:latin typeface="Courier New"/>
                <a:cs typeface="Courier New"/>
              </a:rPr>
              <a:t>'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918" y="3588684"/>
            <a:ext cx="153860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22375" algn="l"/>
              </a:tabLst>
            </a:pPr>
            <a:r>
              <a:rPr sz="2300" spc="-90" dirty="0">
                <a:solidFill>
                  <a:srgbClr val="A8A8A8"/>
                </a:solidFill>
                <a:latin typeface="Times New Roman"/>
                <a:cs typeface="Times New Roman"/>
              </a:rPr>
              <a:t>..</a:t>
            </a:r>
            <a:r>
              <a:rPr sz="1300" u="sng" spc="210" dirty="0">
                <a:solidFill>
                  <a:srgbClr val="A37E8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u="sng" spc="50" dirty="0">
                <a:solidFill>
                  <a:srgbClr val="A37E8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-r··-</a:t>
            </a:r>
            <a:r>
              <a:rPr sz="1300" u="sng" spc="35" dirty="0">
                <a:solidFill>
                  <a:srgbClr val="A37E8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u="sng" spc="50" dirty="0">
                <a:solidFill>
                  <a:srgbClr val="A8A8A8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·</a:t>
            </a:r>
            <a:r>
              <a:rPr sz="1300" u="sng" spc="50" dirty="0">
                <a:solidFill>
                  <a:srgbClr val="8C8E8E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1300" u="sng" spc="60" dirty="0">
                <a:solidFill>
                  <a:srgbClr val="8C8E8E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·1</a:t>
            </a:r>
            <a:r>
              <a:rPr sz="1300" spc="60" dirty="0">
                <a:solidFill>
                  <a:srgbClr val="8C8E8E"/>
                </a:solidFill>
                <a:latin typeface="Times New Roman"/>
                <a:cs typeface="Times New Roman"/>
              </a:rPr>
              <a:t>f</a:t>
            </a:r>
            <a:r>
              <a:rPr sz="1300" spc="-10" dirty="0">
                <a:solidFill>
                  <a:srgbClr val="8C8E8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8C8E8E"/>
                </a:solidFill>
                <a:latin typeface="Times New Roman"/>
                <a:cs typeface="Times New Roman"/>
              </a:rPr>
              <a:t>·	</a:t>
            </a:r>
            <a:r>
              <a:rPr sz="1300" spc="110" dirty="0">
                <a:solidFill>
                  <a:srgbClr val="D6CDC3"/>
                </a:solidFill>
                <a:latin typeface="Times New Roman"/>
                <a:cs typeface="Times New Roman"/>
              </a:rPr>
              <a:t>••••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9610" y="3818054"/>
            <a:ext cx="718185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50" spc="-135" dirty="0">
                <a:solidFill>
                  <a:srgbClr val="A8A8A8"/>
                </a:solidFill>
                <a:latin typeface="Times New Roman"/>
                <a:cs typeface="Times New Roman"/>
              </a:rPr>
              <a:t>..</a:t>
            </a:r>
            <a:r>
              <a:rPr sz="1550" spc="-400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r>
              <a:rPr sz="2925" spc="-667" baseline="-9971" dirty="0">
                <a:solidFill>
                  <a:srgbClr val="696969"/>
                </a:solidFill>
                <a:latin typeface="Arial"/>
                <a:cs typeface="Arial"/>
              </a:rPr>
              <a:t>.</a:t>
            </a:r>
            <a:r>
              <a:rPr sz="1550" spc="-220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r>
              <a:rPr sz="2925" spc="-1027" baseline="-9971" dirty="0">
                <a:solidFill>
                  <a:srgbClr val="696969"/>
                </a:solidFill>
                <a:latin typeface="Arial"/>
                <a:cs typeface="Arial"/>
              </a:rPr>
              <a:t>.</a:t>
            </a:r>
            <a:r>
              <a:rPr sz="2025" spc="-794" baseline="12345" dirty="0">
                <a:solidFill>
                  <a:srgbClr val="A8A8A8"/>
                </a:solidFill>
                <a:latin typeface="Times New Roman"/>
                <a:cs typeface="Times New Roman"/>
              </a:rPr>
              <a:t>-</a:t>
            </a:r>
            <a:r>
              <a:rPr sz="1550" spc="-330" dirty="0">
                <a:solidFill>
                  <a:srgbClr val="A8A8A8"/>
                </a:solidFill>
                <a:latin typeface="Times New Roman"/>
                <a:cs typeface="Times New Roman"/>
              </a:rPr>
              <a:t>..</a:t>
            </a:r>
            <a:r>
              <a:rPr sz="2025" spc="-494" baseline="12345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r>
              <a:rPr sz="2925" spc="-494" baseline="-9971" dirty="0">
                <a:solidFill>
                  <a:srgbClr val="696969"/>
                </a:solidFill>
                <a:latin typeface="Arial"/>
                <a:cs typeface="Arial"/>
              </a:rPr>
              <a:t>.</a:t>
            </a:r>
            <a:r>
              <a:rPr sz="1550" spc="-330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r>
              <a:rPr sz="2025" spc="-494" baseline="12345" dirty="0">
                <a:solidFill>
                  <a:srgbClr val="A8A8A8"/>
                </a:solidFill>
                <a:latin typeface="Times New Roman"/>
                <a:cs typeface="Times New Roman"/>
              </a:rPr>
              <a:t>-</a:t>
            </a:r>
            <a:r>
              <a:rPr sz="2925" spc="-885" baseline="-9971" dirty="0">
                <a:solidFill>
                  <a:srgbClr val="696969"/>
                </a:solidFill>
                <a:latin typeface="Arial"/>
                <a:cs typeface="Arial"/>
              </a:rPr>
              <a:t>.</a:t>
            </a:r>
            <a:r>
              <a:rPr sz="1550" spc="-65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r>
              <a:rPr sz="1200" spc="-150" dirty="0">
                <a:solidFill>
                  <a:srgbClr val="A8A8A8"/>
                </a:solidFill>
                <a:latin typeface="Times New Roman"/>
                <a:cs typeface="Times New Roman"/>
              </a:rPr>
              <a:t>.......,,....</a:t>
            </a:r>
            <a:r>
              <a:rPr sz="1200" spc="254" dirty="0">
                <a:solidFill>
                  <a:srgbClr val="A8A8A8"/>
                </a:solidFill>
                <a:latin typeface="Times New Roman"/>
                <a:cs typeface="Times New Roman"/>
              </a:rPr>
              <a:t> </a:t>
            </a:r>
            <a:r>
              <a:rPr sz="3075" spc="-727" baseline="8130" dirty="0">
                <a:solidFill>
                  <a:srgbClr val="A8A8A8"/>
                </a:solidFill>
                <a:latin typeface="Courier New"/>
                <a:cs typeface="Courier New"/>
              </a:rPr>
              <a:t>.</a:t>
            </a:r>
            <a:endParaRPr sz="3075" baseline="813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-8410" y="2821333"/>
            <a:ext cx="9969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00" spc="-520" dirty="0">
                <a:solidFill>
                  <a:srgbClr val="A8A8A8"/>
                </a:solidFill>
                <a:latin typeface="Arial"/>
                <a:cs typeface="Arial"/>
              </a:rPr>
              <a:t>r</a:t>
            </a:r>
            <a:endParaRPr sz="3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-1793" y="3189644"/>
            <a:ext cx="730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30" dirty="0">
                <a:solidFill>
                  <a:srgbClr val="A8A8A8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126" y="4085179"/>
            <a:ext cx="7016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10" dirty="0">
                <a:solidFill>
                  <a:srgbClr val="A8A8A8"/>
                </a:solidFill>
                <a:latin typeface="Times New Roman"/>
                <a:cs typeface="Times New Roman"/>
              </a:rPr>
              <a:t>- </a:t>
            </a:r>
            <a:r>
              <a:rPr sz="2000" spc="110" dirty="0">
                <a:solidFill>
                  <a:srgbClr val="C3C1C3"/>
                </a:solidFill>
                <a:latin typeface="Times New Roman"/>
                <a:cs typeface="Times New Roman"/>
              </a:rPr>
              <a:t>----</a:t>
            </a:r>
            <a:r>
              <a:rPr sz="2000" spc="60" dirty="0">
                <a:solidFill>
                  <a:srgbClr val="C3C1C3"/>
                </a:solidFill>
                <a:latin typeface="Times New Roman"/>
                <a:cs typeface="Times New Roman"/>
              </a:rPr>
              <a:t>-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3461" y="3489912"/>
            <a:ext cx="256540" cy="789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0" spc="-1814" dirty="0">
                <a:solidFill>
                  <a:srgbClr val="696969"/>
                </a:solidFill>
                <a:latin typeface="Arial"/>
                <a:cs typeface="Arial"/>
              </a:rPr>
              <a:t>_</a:t>
            </a:r>
            <a:endParaRPr sz="5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56220" y="4176489"/>
            <a:ext cx="39116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7B797B"/>
                </a:solidFill>
                <a:latin typeface="Arial"/>
                <a:cs typeface="Arial"/>
              </a:rPr>
              <a:t>,</a:t>
            </a:r>
            <a:r>
              <a:rPr sz="600" spc="215" dirty="0">
                <a:solidFill>
                  <a:srgbClr val="7B797B"/>
                </a:solidFill>
                <a:latin typeface="Arial"/>
                <a:cs typeface="Arial"/>
              </a:rPr>
              <a:t>  </a:t>
            </a:r>
            <a:r>
              <a:rPr sz="600" spc="45" dirty="0">
                <a:solidFill>
                  <a:srgbClr val="8C8E8E"/>
                </a:solidFill>
                <a:latin typeface="Arial"/>
                <a:cs typeface="Arial"/>
              </a:rPr>
              <a:t>..</a:t>
            </a:r>
            <a:r>
              <a:rPr sz="600" spc="45" dirty="0">
                <a:solidFill>
                  <a:srgbClr val="A8A8A8"/>
                </a:solidFill>
                <a:latin typeface="Arial"/>
                <a:cs typeface="Arial"/>
              </a:rPr>
              <a:t>..</a:t>
            </a:r>
            <a:r>
              <a:rPr sz="600" spc="45" dirty="0">
                <a:solidFill>
                  <a:srgbClr val="696969"/>
                </a:solidFill>
                <a:latin typeface="Arial"/>
                <a:cs typeface="Arial"/>
              </a:rPr>
              <a:t>u</a:t>
            </a:r>
            <a:r>
              <a:rPr sz="600" spc="45" dirty="0">
                <a:latin typeface="Arial"/>
                <a:cs typeface="Arial"/>
              </a:rPr>
              <a:t>:</a:t>
            </a:r>
            <a:r>
              <a:rPr sz="600" spc="45" dirty="0">
                <a:solidFill>
                  <a:srgbClr val="7B797B"/>
                </a:solidFill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98036" y="5276153"/>
            <a:ext cx="12382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700" spc="-305" dirty="0">
                <a:solidFill>
                  <a:srgbClr val="D6CDC3"/>
                </a:solidFill>
                <a:latin typeface="Arial"/>
                <a:cs typeface="Arial"/>
              </a:rPr>
              <a:t>..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428" y="5618345"/>
            <a:ext cx="11620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40" dirty="0">
                <a:solidFill>
                  <a:srgbClr val="A8A8A8"/>
                </a:solidFill>
                <a:latin typeface="Times New Roman"/>
                <a:cs typeface="Times New Roman"/>
              </a:rPr>
              <a:t>-</a:t>
            </a:r>
            <a:r>
              <a:rPr sz="1750" spc="-175" dirty="0">
                <a:solidFill>
                  <a:srgbClr val="A8A8A8"/>
                </a:solidFill>
                <a:latin typeface="Times New Roman"/>
                <a:cs typeface="Times New Roman"/>
              </a:rPr>
              <a:t>·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23136" y="5623612"/>
            <a:ext cx="501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25" dirty="0">
                <a:solidFill>
                  <a:srgbClr val="C3C1C3"/>
                </a:solidFill>
                <a:latin typeface="Arial"/>
                <a:cs typeface="Arial"/>
              </a:rPr>
              <a:t>!</a:t>
            </a:r>
            <a:endParaRPr sz="11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76341" y="5783184"/>
            <a:ext cx="546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A8A8A8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07200" y="5684412"/>
            <a:ext cx="5854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spc="-125" dirty="0">
                <a:solidFill>
                  <a:srgbClr val="A8A8A8"/>
                </a:solidFill>
                <a:latin typeface="Arial"/>
                <a:cs typeface="Arial"/>
              </a:rPr>
              <a:t>...</a:t>
            </a:r>
            <a:r>
              <a:rPr sz="2100" spc="-125" dirty="0">
                <a:solidFill>
                  <a:srgbClr val="C3C1C3"/>
                </a:solidFill>
                <a:latin typeface="Arial"/>
                <a:cs typeface="Arial"/>
              </a:rPr>
              <a:t>.</a:t>
            </a:r>
            <a:r>
              <a:rPr sz="1800" spc="-187" baseline="4629" dirty="0">
                <a:solidFill>
                  <a:srgbClr val="A8A8A8"/>
                </a:solidFill>
                <a:latin typeface="Arial"/>
                <a:cs typeface="Arial"/>
              </a:rPr>
              <a:t>•</a:t>
            </a:r>
            <a:r>
              <a:rPr sz="2100" spc="-125" dirty="0">
                <a:solidFill>
                  <a:srgbClr val="8C8E8E"/>
                </a:solidFill>
                <a:latin typeface="Arial"/>
                <a:cs typeface="Arial"/>
              </a:rPr>
              <a:t>.</a:t>
            </a:r>
            <a:r>
              <a:rPr sz="1100" spc="-125" dirty="0">
                <a:solidFill>
                  <a:srgbClr val="A8A8A8"/>
                </a:solidFill>
                <a:latin typeface="Arial"/>
                <a:cs typeface="Arial"/>
              </a:rPr>
              <a:t>_,.,...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64017" y="2178436"/>
            <a:ext cx="492125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50" spc="-80" dirty="0">
                <a:solidFill>
                  <a:srgbClr val="8597A7"/>
                </a:solidFill>
                <a:latin typeface="Arial"/>
                <a:cs typeface="Arial"/>
              </a:rPr>
              <a:t>·</a:t>
            </a:r>
            <a:r>
              <a:rPr sz="2650" spc="-965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4425" spc="-292" baseline="-8474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2650" spc="-80" dirty="0">
                <a:solidFill>
                  <a:srgbClr val="C3C1C3"/>
                </a:solidFill>
                <a:latin typeface="Arial"/>
                <a:cs typeface="Arial"/>
              </a:rPr>
              <a:t>-</a:t>
            </a:r>
            <a:r>
              <a:rPr sz="2650" spc="-50" dirty="0">
                <a:solidFill>
                  <a:srgbClr val="A8A8A8"/>
                </a:solidFill>
                <a:latin typeface="Arial"/>
                <a:cs typeface="Arial"/>
              </a:rPr>
              <a:t>­</a:t>
            </a:r>
            <a:endParaRPr sz="2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284261" y="2298498"/>
            <a:ext cx="41465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55" dirty="0">
                <a:solidFill>
                  <a:srgbClr val="D6AF87"/>
                </a:solidFill>
                <a:latin typeface="Arial"/>
                <a:cs typeface="Arial"/>
              </a:rPr>
              <a:t>·</a:t>
            </a:r>
            <a:r>
              <a:rPr sz="2950" spc="-835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3000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3000" spc="-50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endParaRPr sz="3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01172" y="2411538"/>
            <a:ext cx="111760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-155" dirty="0">
                <a:solidFill>
                  <a:srgbClr val="A8A8A8"/>
                </a:solidFill>
                <a:latin typeface="Times New Roman"/>
                <a:cs typeface="Times New Roman"/>
              </a:rPr>
              <a:t>..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289417" y="2445779"/>
            <a:ext cx="300355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165" dirty="0">
                <a:solidFill>
                  <a:srgbClr val="89B38A"/>
                </a:solidFill>
                <a:latin typeface="Arial"/>
                <a:cs typeface="Arial"/>
              </a:rPr>
              <a:t>·</a:t>
            </a:r>
            <a:r>
              <a:rPr sz="2650" spc="-165" dirty="0">
                <a:solidFill>
                  <a:srgbClr val="A8A8A8"/>
                </a:solidFill>
                <a:latin typeface="Arial"/>
                <a:cs typeface="Arial"/>
              </a:rPr>
              <a:t>·</a:t>
            </a:r>
            <a:r>
              <a:rPr sz="2650" spc="-960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endParaRPr sz="2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88538" y="2380150"/>
            <a:ext cx="304800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10" dirty="0">
                <a:solidFill>
                  <a:srgbClr val="A8A8A8"/>
                </a:solidFill>
                <a:latin typeface="Times New Roman"/>
                <a:cs typeface="Times New Roman"/>
              </a:rPr>
              <a:t>-</a:t>
            </a:r>
            <a:r>
              <a:rPr sz="3600" spc="-1190" dirty="0">
                <a:solidFill>
                  <a:srgbClr val="A8A8A8"/>
                </a:solidFill>
                <a:latin typeface="Times New Roman"/>
                <a:cs typeface="Times New Roman"/>
              </a:rPr>
              <a:t>­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284997" y="2518211"/>
            <a:ext cx="390525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dirty="0">
                <a:solidFill>
                  <a:srgbClr val="BC7477"/>
                </a:solidFill>
                <a:latin typeface="Arial"/>
                <a:cs typeface="Arial"/>
              </a:rPr>
              <a:t>·</a:t>
            </a:r>
            <a:r>
              <a:rPr sz="2950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2950" spc="-770" dirty="0">
                <a:solidFill>
                  <a:srgbClr val="A8A8A8"/>
                </a:solidFill>
                <a:latin typeface="Arial"/>
                <a:cs typeface="Arial"/>
              </a:rPr>
              <a:t>­</a:t>
            </a:r>
            <a:endParaRPr sz="2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24614" y="2792141"/>
            <a:ext cx="399415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indent="-81280">
              <a:lnSpc>
                <a:spcPct val="100000"/>
              </a:lnSpc>
              <a:spcBef>
                <a:spcPts val="100"/>
              </a:spcBef>
              <a:buClr>
                <a:srgbClr val="D6CDC3"/>
              </a:buClr>
              <a:buFont typeface="Times New Roman"/>
              <a:buChar char="•"/>
              <a:tabLst>
                <a:tab pos="93980" algn="l"/>
              </a:tabLst>
            </a:pPr>
            <a:r>
              <a:rPr sz="550" i="1" spc="240" dirty="0">
                <a:solidFill>
                  <a:srgbClr val="A8A8A8"/>
                </a:solidFill>
                <a:latin typeface="Times New Roman"/>
                <a:cs typeface="Times New Roman"/>
              </a:rPr>
              <a:t>c;.-</a:t>
            </a:r>
            <a:r>
              <a:rPr sz="550" i="1" spc="265" dirty="0">
                <a:solidFill>
                  <a:srgbClr val="A8A8A8"/>
                </a:solidFill>
                <a:latin typeface="Times New Roman"/>
                <a:cs typeface="Times New Roman"/>
              </a:rPr>
              <a:t>v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84997" y="2620935"/>
            <a:ext cx="38481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25" spc="-1335" baseline="-1883" dirty="0">
                <a:solidFill>
                  <a:srgbClr val="A8A8A8"/>
                </a:solidFill>
                <a:latin typeface="Arial"/>
                <a:cs typeface="Arial"/>
              </a:rPr>
              <a:t>·</a:t>
            </a:r>
            <a:r>
              <a:rPr sz="2650" spc="10" dirty="0">
                <a:solidFill>
                  <a:srgbClr val="D6CDC3"/>
                </a:solidFill>
                <a:latin typeface="Arial"/>
                <a:cs typeface="Arial"/>
              </a:rPr>
              <a:t>.</a:t>
            </a:r>
            <a:r>
              <a:rPr sz="2650" spc="-705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4425" baseline="-1883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1500" spc="-325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4425" spc="-1267" baseline="-1883" dirty="0">
                <a:solidFill>
                  <a:srgbClr val="A8A8A8"/>
                </a:solidFill>
                <a:latin typeface="Arial"/>
                <a:cs typeface="Arial"/>
              </a:rPr>
              <a:t>­</a:t>
            </a:r>
            <a:r>
              <a:rPr sz="1500" spc="-114" dirty="0">
                <a:solidFill>
                  <a:srgbClr val="A8A8A8"/>
                </a:solidFill>
                <a:latin typeface="Arial"/>
                <a:cs typeface="Arial"/>
              </a:rPr>
              <a:t>..</a:t>
            </a:r>
            <a:endParaRPr sz="1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294364" y="2763167"/>
            <a:ext cx="25654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spc="-850" dirty="0">
                <a:solidFill>
                  <a:srgbClr val="C3C1C3"/>
                </a:solidFill>
                <a:latin typeface="Arial"/>
                <a:cs typeface="Arial"/>
              </a:rPr>
              <a:t>.</a:t>
            </a:r>
            <a:r>
              <a:rPr sz="2100" spc="-114" dirty="0">
                <a:solidFill>
                  <a:srgbClr val="A8A8A8"/>
                </a:solidFill>
                <a:latin typeface="Arial"/>
                <a:cs typeface="Arial"/>
              </a:rPr>
              <a:t>:</a:t>
            </a:r>
            <a:r>
              <a:rPr sz="2100" spc="-400" dirty="0">
                <a:solidFill>
                  <a:srgbClr val="A8A8A8"/>
                </a:solidFill>
                <a:latin typeface="Arial"/>
                <a:cs typeface="Arial"/>
              </a:rPr>
              <a:t>:</a:t>
            </a:r>
            <a:r>
              <a:rPr sz="2950" spc="-725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2100" spc="-125" dirty="0">
                <a:solidFill>
                  <a:srgbClr val="A8A8A8"/>
                </a:solidFill>
                <a:latin typeface="Arial"/>
                <a:cs typeface="Arial"/>
              </a:rPr>
              <a:t>;</a:t>
            </a:r>
            <a:r>
              <a:rPr sz="2100" spc="-670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endParaRPr sz="21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68975" y="2763167"/>
            <a:ext cx="58039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8450" algn="l"/>
              </a:tabLst>
            </a:pPr>
            <a:r>
              <a:rPr sz="2950" spc="-545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2100" spc="-459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2100" spc="-345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2100" spc="-720" dirty="0">
                <a:solidFill>
                  <a:srgbClr val="C3C1C3"/>
                </a:solidFill>
                <a:latin typeface="Arial"/>
                <a:cs typeface="Arial"/>
              </a:rPr>
              <a:t>(</a:t>
            </a:r>
            <a:r>
              <a:rPr sz="2100" spc="-150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2100" dirty="0">
                <a:solidFill>
                  <a:srgbClr val="A8A8A8"/>
                </a:solidFill>
                <a:latin typeface="Arial"/>
                <a:cs typeface="Arial"/>
              </a:rPr>
              <a:t>	</a:t>
            </a:r>
            <a:r>
              <a:rPr sz="2100" spc="-100" dirty="0">
                <a:solidFill>
                  <a:srgbClr val="A8A8A8"/>
                </a:solidFill>
                <a:latin typeface="Arial"/>
                <a:cs typeface="Arial"/>
              </a:rPr>
              <a:t>1·</a:t>
            </a:r>
            <a:r>
              <a:rPr sz="2100" spc="-100" dirty="0">
                <a:solidFill>
                  <a:srgbClr val="8C8E8E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90119" y="2861501"/>
            <a:ext cx="31686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80" dirty="0">
                <a:solidFill>
                  <a:srgbClr val="A8A8A8"/>
                </a:solidFill>
                <a:latin typeface="Arial"/>
                <a:cs typeface="Arial"/>
              </a:rPr>
              <a:t>•.</a:t>
            </a:r>
            <a:r>
              <a:rPr sz="950" spc="-80" dirty="0">
                <a:solidFill>
                  <a:srgbClr val="A8A8A8"/>
                </a:solidFill>
                <a:latin typeface="Times New Roman"/>
                <a:cs typeface="Times New Roman"/>
              </a:rPr>
              <a:t>..._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297830" y="2911984"/>
            <a:ext cx="281305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55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2650" spc="-55" dirty="0">
                <a:solidFill>
                  <a:srgbClr val="8C8E8E"/>
                </a:solidFill>
                <a:latin typeface="Arial"/>
                <a:cs typeface="Arial"/>
              </a:rPr>
              <a:t>..</a:t>
            </a:r>
            <a:endParaRPr sz="2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264017" y="3095042"/>
            <a:ext cx="40767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975" spc="-1177" baseline="-6289" dirty="0">
                <a:solidFill>
                  <a:srgbClr val="D6CDC3"/>
                </a:solidFill>
                <a:latin typeface="Arial"/>
                <a:cs typeface="Arial"/>
              </a:rPr>
              <a:t>·</a:t>
            </a:r>
            <a:r>
              <a:rPr sz="2300" spc="-225" dirty="0">
                <a:solidFill>
                  <a:srgbClr val="89BFB8"/>
                </a:solidFill>
                <a:latin typeface="Times New Roman"/>
                <a:cs typeface="Times New Roman"/>
              </a:rPr>
              <a:t>.</a:t>
            </a:r>
            <a:r>
              <a:rPr sz="3825" i="1" spc="-2362" baseline="5446" dirty="0">
                <a:solidFill>
                  <a:srgbClr val="A8A8A8"/>
                </a:solidFill>
                <a:latin typeface="Courier New"/>
                <a:cs typeface="Courier New"/>
              </a:rPr>
              <a:t>=</a:t>
            </a:r>
            <a:r>
              <a:rPr sz="2300" spc="-665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r>
              <a:rPr sz="4425" spc="-209" baseline="-5649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2300" spc="-940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r>
              <a:rPr sz="3825" i="1" spc="-1410" baseline="5446" dirty="0">
                <a:solidFill>
                  <a:srgbClr val="A8A8A8"/>
                </a:solidFill>
                <a:latin typeface="Courier New"/>
                <a:cs typeface="Courier New"/>
              </a:rPr>
              <a:t>-</a:t>
            </a:r>
            <a:r>
              <a:rPr sz="2300" spc="-50" dirty="0">
                <a:solidFill>
                  <a:srgbClr val="A8A8A8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297830" y="3251760"/>
            <a:ext cx="29591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90" dirty="0">
                <a:solidFill>
                  <a:srgbClr val="BADBD3"/>
                </a:solidFill>
                <a:latin typeface="Arial"/>
                <a:cs typeface="Arial"/>
              </a:rPr>
              <a:t>.</a:t>
            </a:r>
            <a:r>
              <a:rPr sz="2550" spc="-90" dirty="0">
                <a:solidFill>
                  <a:srgbClr val="A8A8A8"/>
                </a:solidFill>
                <a:latin typeface="Arial"/>
                <a:cs typeface="Arial"/>
              </a:rPr>
              <a:t>·-</a:t>
            </a:r>
            <a:endParaRPr sz="25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806194" y="4774390"/>
            <a:ext cx="142875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80" dirty="0">
                <a:solidFill>
                  <a:srgbClr val="A8A8A8"/>
                </a:solidFill>
                <a:latin typeface="Arial"/>
                <a:cs typeface="Arial"/>
              </a:rPr>
              <a:t>I</a:t>
            </a:r>
            <a:endParaRPr sz="36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910545" y="3729819"/>
            <a:ext cx="10541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-275" dirty="0">
                <a:solidFill>
                  <a:srgbClr val="C3C1C3"/>
                </a:solidFill>
                <a:latin typeface="Times New Roman"/>
                <a:cs typeface="Times New Roman"/>
              </a:rPr>
              <a:t>-</a:t>
            </a:r>
            <a:r>
              <a:rPr sz="1750" spc="-325" dirty="0">
                <a:solidFill>
                  <a:srgbClr val="C3C1C3"/>
                </a:solidFill>
                <a:latin typeface="Times New Roman"/>
                <a:cs typeface="Times New Roman"/>
              </a:rPr>
              <a:t>·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26769" algn="l"/>
              </a:tabLst>
            </a:pPr>
            <a:r>
              <a:rPr dirty="0"/>
              <a:t>	</a:t>
            </a:r>
            <a:r>
              <a:rPr spc="-470" dirty="0"/>
              <a:t>....</a:t>
            </a:r>
            <a:r>
              <a:rPr sz="5500" spc="-470" dirty="0"/>
              <a:t>_</a:t>
            </a:r>
            <a:r>
              <a:rPr sz="5500" spc="1375" dirty="0"/>
              <a:t> </a:t>
            </a:r>
            <a:endParaRPr sz="5500"/>
          </a:p>
        </p:txBody>
      </p:sp>
      <p:sp>
        <p:nvSpPr>
          <p:cNvPr id="57" name="object 57"/>
          <p:cNvSpPr txBox="1"/>
          <p:nvPr/>
        </p:nvSpPr>
        <p:spPr>
          <a:xfrm>
            <a:off x="3839645" y="2322863"/>
            <a:ext cx="352425" cy="9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dirty="0">
                <a:solidFill>
                  <a:srgbClr val="7B797B"/>
                </a:solidFill>
                <a:latin typeface="Times New Roman"/>
                <a:cs typeface="Times New Roman"/>
              </a:rPr>
              <a:t>'.</a:t>
            </a:r>
            <a:r>
              <a:rPr sz="450" spc="220" dirty="0">
                <a:solidFill>
                  <a:srgbClr val="7B797B"/>
                </a:solidFill>
                <a:latin typeface="Times New Roman"/>
                <a:cs typeface="Times New Roman"/>
              </a:rPr>
              <a:t>  </a:t>
            </a:r>
            <a:r>
              <a:rPr sz="450" spc="60" dirty="0">
                <a:solidFill>
                  <a:srgbClr val="7B797B"/>
                </a:solidFill>
                <a:latin typeface="Times New Roman"/>
                <a:cs typeface="Times New Roman"/>
              </a:rPr>
              <a:t>0.7).)7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12576" y="2464875"/>
            <a:ext cx="21399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i="1" spc="290" dirty="0">
                <a:solidFill>
                  <a:srgbClr val="8C8E8E"/>
                </a:solidFill>
                <a:latin typeface="Times New Roman"/>
                <a:cs typeface="Times New Roman"/>
              </a:rPr>
              <a:t>,/</a:t>
            </a:r>
            <a:r>
              <a:rPr sz="700" i="1" spc="290" dirty="0">
                <a:solidFill>
                  <a:srgbClr val="A8A8A8"/>
                </a:solidFill>
                <a:latin typeface="Times New Roman"/>
                <a:cs typeface="Times New Roman"/>
              </a:rPr>
              <a:t>'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68245" y="2399026"/>
            <a:ext cx="29146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75" dirty="0">
                <a:solidFill>
                  <a:srgbClr val="8597A7"/>
                </a:solidFill>
                <a:latin typeface="Times New Roman"/>
                <a:cs typeface="Times New Roman"/>
              </a:rPr>
              <a:t>.......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536495" y="2635202"/>
            <a:ext cx="172085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265"/>
              </a:lnSpc>
              <a:spcBef>
                <a:spcPts val="100"/>
              </a:spcBef>
            </a:pPr>
            <a:r>
              <a:rPr sz="1100" i="1" spc="-114" dirty="0">
                <a:solidFill>
                  <a:srgbClr val="8C8E8E"/>
                </a:solidFill>
                <a:latin typeface="Times New Roman"/>
                <a:cs typeface="Times New Roman"/>
              </a:rPr>
              <a:t>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785"/>
              </a:lnSpc>
            </a:pPr>
            <a:r>
              <a:rPr sz="700" i="1" spc="-25" dirty="0">
                <a:solidFill>
                  <a:srgbClr val="8C8E8E"/>
                </a:solidFill>
                <a:latin typeface="Times New Roman"/>
                <a:cs typeface="Times New Roman"/>
              </a:rPr>
              <a:t>,/'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45548" y="2894424"/>
            <a:ext cx="488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10" dirty="0">
                <a:solidFill>
                  <a:srgbClr val="8C8E8E"/>
                </a:solidFill>
                <a:latin typeface="Times New Roman"/>
                <a:cs typeface="Times New Roman"/>
              </a:rPr>
              <a:t>/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350956" y="2997147"/>
            <a:ext cx="4889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spc="-110" dirty="0">
                <a:solidFill>
                  <a:srgbClr val="7B797B"/>
                </a:solidFill>
                <a:latin typeface="Times New Roman"/>
                <a:cs typeface="Times New Roman"/>
              </a:rPr>
              <a:t>/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256148" y="3106236"/>
            <a:ext cx="476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5" dirty="0">
                <a:solidFill>
                  <a:srgbClr val="7B797B"/>
                </a:solidFill>
                <a:latin typeface="Times New Roman"/>
                <a:cs typeface="Times New Roman"/>
              </a:rPr>
              <a:t>/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883404" y="2995830"/>
            <a:ext cx="412115" cy="415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80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2550" spc="-80" dirty="0">
                <a:solidFill>
                  <a:srgbClr val="8597A7"/>
                </a:solidFill>
                <a:latin typeface="Arial"/>
                <a:cs typeface="Arial"/>
              </a:rPr>
              <a:t>.</a:t>
            </a:r>
            <a:r>
              <a:rPr sz="2550" spc="-150" dirty="0">
                <a:solidFill>
                  <a:srgbClr val="8597A7"/>
                </a:solidFill>
                <a:latin typeface="Arial"/>
                <a:cs typeface="Arial"/>
              </a:rPr>
              <a:t> </a:t>
            </a:r>
            <a:r>
              <a:rPr sz="850" spc="75" dirty="0">
                <a:solidFill>
                  <a:srgbClr val="8C8E8E"/>
                </a:solidFill>
                <a:latin typeface="Arial"/>
                <a:cs typeface="Arial"/>
              </a:rPr>
              <a:t>,,''</a:t>
            </a:r>
            <a:endParaRPr sz="8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735946" y="3124015"/>
            <a:ext cx="39878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dirty="0">
                <a:solidFill>
                  <a:srgbClr val="A8A8A8"/>
                </a:solidFill>
                <a:latin typeface="Arial"/>
                <a:cs typeface="Arial"/>
              </a:rPr>
              <a:t>..</a:t>
            </a:r>
            <a:r>
              <a:rPr sz="2350" dirty="0">
                <a:solidFill>
                  <a:srgbClr val="D6CDC3"/>
                </a:solidFill>
                <a:latin typeface="Arial"/>
                <a:cs typeface="Arial"/>
              </a:rPr>
              <a:t>.</a:t>
            </a:r>
            <a:r>
              <a:rPr sz="750" i="1" dirty="0">
                <a:solidFill>
                  <a:srgbClr val="7B797B"/>
                </a:solidFill>
                <a:latin typeface="Arial"/>
                <a:cs typeface="Arial"/>
              </a:rPr>
              <a:t>,,-</a:t>
            </a:r>
            <a:r>
              <a:rPr sz="750" i="1" spc="-50" dirty="0">
                <a:solidFill>
                  <a:srgbClr val="7B797B"/>
                </a:solidFill>
                <a:latin typeface="Arial"/>
                <a:cs typeface="Arial"/>
              </a:rPr>
              <a:t>/</a:t>
            </a:r>
            <a:endParaRPr sz="7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870073" y="3196448"/>
            <a:ext cx="47752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9245" algn="l"/>
              </a:tabLst>
            </a:pPr>
            <a:r>
              <a:rPr sz="1250" spc="-10" dirty="0">
                <a:solidFill>
                  <a:srgbClr val="C1C697"/>
                </a:solidFill>
                <a:latin typeface="Times New Roman"/>
                <a:cs typeface="Times New Roman"/>
              </a:rPr>
              <a:t>.</a:t>
            </a:r>
            <a:r>
              <a:rPr sz="1250" spc="-10" dirty="0">
                <a:solidFill>
                  <a:srgbClr val="8C8E8E"/>
                </a:solidFill>
                <a:latin typeface="Times New Roman"/>
                <a:cs typeface="Times New Roman"/>
              </a:rPr>
              <a:t>.....</a:t>
            </a:r>
            <a:r>
              <a:rPr sz="1250" spc="-10" dirty="0">
                <a:solidFill>
                  <a:srgbClr val="C1C697"/>
                </a:solidFill>
                <a:latin typeface="Times New Roman"/>
                <a:cs typeface="Times New Roman"/>
              </a:rPr>
              <a:t>.</a:t>
            </a:r>
            <a:r>
              <a:rPr sz="1250" dirty="0">
                <a:solidFill>
                  <a:srgbClr val="C1C697"/>
                </a:solidFill>
                <a:latin typeface="Times New Roman"/>
                <a:cs typeface="Times New Roman"/>
              </a:rPr>
              <a:t>	</a:t>
            </a:r>
            <a:r>
              <a:rPr sz="2550" spc="-315" dirty="0">
                <a:solidFill>
                  <a:srgbClr val="C1C697"/>
                </a:solidFill>
                <a:latin typeface="Arial"/>
                <a:cs typeface="Arial"/>
              </a:rPr>
              <a:t>.</a:t>
            </a:r>
            <a:r>
              <a:rPr sz="2550" spc="-320" dirty="0">
                <a:solidFill>
                  <a:srgbClr val="C1C697"/>
                </a:solidFill>
                <a:latin typeface="Arial"/>
                <a:cs typeface="Arial"/>
              </a:rPr>
              <a:t> </a:t>
            </a:r>
            <a:r>
              <a:rPr sz="2650" spc="-375" dirty="0">
                <a:solidFill>
                  <a:srgbClr val="C1C697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657137" y="3549175"/>
            <a:ext cx="36131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A8A8A8"/>
                </a:solidFill>
                <a:latin typeface="Times New Roman"/>
                <a:cs typeface="Times New Roman"/>
              </a:rPr>
              <a:t>••</a:t>
            </a:r>
            <a:r>
              <a:rPr sz="500" spc="425" dirty="0">
                <a:solidFill>
                  <a:srgbClr val="A8A8A8"/>
                </a:solidFill>
                <a:latin typeface="Times New Roman"/>
                <a:cs typeface="Times New Roman"/>
              </a:rPr>
              <a:t> </a:t>
            </a:r>
            <a:r>
              <a:rPr sz="500" i="1" spc="70" dirty="0">
                <a:solidFill>
                  <a:srgbClr val="8C8E8E"/>
                </a:solidFill>
                <a:latin typeface="Times New Roman"/>
                <a:cs typeface="Times New Roman"/>
              </a:rPr>
              <a:t>,.t','</a:t>
            </a:r>
            <a:r>
              <a:rPr sz="500" i="1" spc="165" dirty="0">
                <a:solidFill>
                  <a:srgbClr val="8C8E8E"/>
                </a:solidFill>
                <a:latin typeface="Times New Roman"/>
                <a:cs typeface="Times New Roman"/>
              </a:rPr>
              <a:t> </a:t>
            </a:r>
            <a:r>
              <a:rPr sz="500" spc="55" dirty="0">
                <a:solidFill>
                  <a:srgbClr val="D6AF87"/>
                </a:solidFill>
                <a:latin typeface="Times New Roman"/>
                <a:cs typeface="Times New Roman"/>
              </a:rPr>
              <a:t>•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278750" y="3363921"/>
            <a:ext cx="505459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395" dirty="0">
                <a:solidFill>
                  <a:srgbClr val="C3C1C3"/>
                </a:solidFill>
                <a:latin typeface="Arial"/>
                <a:cs typeface="Arial"/>
              </a:rPr>
              <a:t>.</a:t>
            </a:r>
            <a:r>
              <a:rPr sz="2350" spc="-15" dirty="0">
                <a:solidFill>
                  <a:srgbClr val="C3C1C3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89B38A"/>
                </a:solidFill>
                <a:latin typeface="Times New Roman"/>
                <a:cs typeface="Times New Roman"/>
              </a:rPr>
              <a:t>.</a:t>
            </a:r>
            <a:r>
              <a:rPr sz="850" i="1" spc="-10" dirty="0">
                <a:solidFill>
                  <a:srgbClr val="7B797B"/>
                </a:solidFill>
                <a:latin typeface="Arial"/>
                <a:cs typeface="Arial"/>
              </a:rPr>
              <a:t>_,.;­</a:t>
            </a:r>
            <a:endParaRPr sz="8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075550" y="3541272"/>
            <a:ext cx="104711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3730" algn="l"/>
              </a:tabLst>
            </a:pPr>
            <a:r>
              <a:rPr sz="1200" spc="55" dirty="0">
                <a:solidFill>
                  <a:srgbClr val="A8A8A8"/>
                </a:solidFill>
                <a:latin typeface="Times New Roman"/>
                <a:cs typeface="Times New Roman"/>
              </a:rPr>
              <a:t>··-</a:t>
            </a:r>
            <a:r>
              <a:rPr sz="1200" spc="55" dirty="0">
                <a:solidFill>
                  <a:srgbClr val="8C8E8E"/>
                </a:solidFill>
                <a:latin typeface="Times New Roman"/>
                <a:cs typeface="Times New Roman"/>
              </a:rPr>
              <a:t>-</a:t>
            </a:r>
            <a:r>
              <a:rPr sz="1200" spc="55" dirty="0">
                <a:solidFill>
                  <a:srgbClr val="A8A8A8"/>
                </a:solidFill>
                <a:latin typeface="Times New Roman"/>
                <a:cs typeface="Times New Roman"/>
              </a:rPr>
              <a:t>-</a:t>
            </a:r>
            <a:r>
              <a:rPr sz="1200" spc="-25" dirty="0">
                <a:solidFill>
                  <a:srgbClr val="8C8E8E"/>
                </a:solidFill>
                <a:latin typeface="Times New Roman"/>
                <a:cs typeface="Times New Roman"/>
              </a:rPr>
              <a:t>\..</a:t>
            </a:r>
            <a:r>
              <a:rPr sz="1200" dirty="0">
                <a:solidFill>
                  <a:srgbClr val="8C8E8E"/>
                </a:solidFill>
                <a:latin typeface="Times New Roman"/>
                <a:cs typeface="Times New Roman"/>
              </a:rPr>
              <a:t>	</a:t>
            </a:r>
            <a:r>
              <a:rPr sz="2300" spc="65" dirty="0">
                <a:solidFill>
                  <a:srgbClr val="8C8E8E"/>
                </a:solidFill>
                <a:latin typeface="Arial"/>
                <a:cs typeface="Arial"/>
              </a:rPr>
              <a:t>.</a:t>
            </a:r>
            <a:r>
              <a:rPr sz="2300" spc="65" dirty="0">
                <a:solidFill>
                  <a:srgbClr val="A8A8A8"/>
                </a:solidFill>
                <a:latin typeface="Arial"/>
                <a:cs typeface="Arial"/>
              </a:rPr>
              <a:t>.</a:t>
            </a:r>
            <a:r>
              <a:rPr sz="1950" spc="65" dirty="0">
                <a:solidFill>
                  <a:srgbClr val="A8A8A8"/>
                </a:solidFill>
                <a:latin typeface="Times New Roman"/>
                <a:cs typeface="Times New Roman"/>
              </a:rPr>
              <a:t>..,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081352" y="3819373"/>
            <a:ext cx="581660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spc="315" dirty="0">
                <a:solidFill>
                  <a:srgbClr val="BA8A8E"/>
                </a:solidFill>
                <a:latin typeface="Times New Roman"/>
                <a:cs typeface="Times New Roman"/>
              </a:rPr>
              <a:t>•</a:t>
            </a:r>
            <a:r>
              <a:rPr sz="550" spc="315" dirty="0">
                <a:solidFill>
                  <a:srgbClr val="A8A8A8"/>
                </a:solidFill>
                <a:latin typeface="Times New Roman"/>
                <a:cs typeface="Times New Roman"/>
              </a:rPr>
              <a:t>I</a:t>
            </a:r>
            <a:r>
              <a:rPr sz="550" spc="459" dirty="0">
                <a:solidFill>
                  <a:srgbClr val="A8A8A8"/>
                </a:solidFill>
                <a:latin typeface="Times New Roman"/>
                <a:cs typeface="Times New Roman"/>
              </a:rPr>
              <a:t> </a:t>
            </a:r>
            <a:r>
              <a:rPr sz="550" spc="270" dirty="0">
                <a:solidFill>
                  <a:srgbClr val="8C8E8E"/>
                </a:solidFill>
                <a:latin typeface="Times New Roman"/>
                <a:cs typeface="Times New Roman"/>
              </a:rPr>
              <a:t>...</a:t>
            </a:r>
            <a:r>
              <a:rPr sz="550" spc="270" dirty="0">
                <a:solidFill>
                  <a:srgbClr val="C3C1C3"/>
                </a:solidFill>
                <a:latin typeface="Times New Roman"/>
                <a:cs typeface="Times New Roman"/>
              </a:rPr>
              <a:t>-</a:t>
            </a:r>
            <a:r>
              <a:rPr sz="550" spc="330" dirty="0">
                <a:solidFill>
                  <a:srgbClr val="A8A8A8"/>
                </a:solidFill>
                <a:latin typeface="Times New Roman"/>
                <a:cs typeface="Times New Roman"/>
              </a:rPr>
              <a:t>,•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324640" y="5228522"/>
            <a:ext cx="118110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950" spc="-310" dirty="0">
                <a:solidFill>
                  <a:srgbClr val="D6CDC3"/>
                </a:solidFill>
                <a:latin typeface="Times New Roman"/>
                <a:cs typeface="Times New Roman"/>
              </a:rPr>
              <a:t>..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910024" y="5597712"/>
            <a:ext cx="14351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170" dirty="0">
                <a:solidFill>
                  <a:srgbClr val="C3C1C3"/>
                </a:solidFill>
                <a:latin typeface="Times New Roman"/>
                <a:cs typeface="Times New Roman"/>
              </a:rPr>
              <a:t>-</a:t>
            </a:r>
            <a:r>
              <a:rPr sz="1850" spc="-100" dirty="0">
                <a:solidFill>
                  <a:srgbClr val="A8A8A8"/>
                </a:solidFill>
                <a:latin typeface="Times New Roman"/>
                <a:cs typeface="Times New Roman"/>
              </a:rPr>
              <a:t>·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562526" y="5383924"/>
            <a:ext cx="8763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165" dirty="0">
                <a:solidFill>
                  <a:srgbClr val="89BFB8"/>
                </a:solidFill>
                <a:latin typeface="Arial"/>
                <a:cs typeface="Arial"/>
              </a:rPr>
              <a:t>.</a:t>
            </a:r>
            <a:endParaRPr sz="23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401820" y="5256179"/>
            <a:ext cx="227329" cy="614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130" dirty="0">
                <a:solidFill>
                  <a:srgbClr val="89BFB8"/>
                </a:solidFill>
                <a:latin typeface="Arial"/>
                <a:cs typeface="Arial"/>
              </a:rPr>
              <a:t>.,.</a:t>
            </a:r>
            <a:r>
              <a:rPr sz="1250" spc="-140" dirty="0">
                <a:solidFill>
                  <a:srgbClr val="89BFB8"/>
                </a:solidFill>
                <a:latin typeface="Arial"/>
                <a:cs typeface="Arial"/>
              </a:rPr>
              <a:t> </a:t>
            </a:r>
            <a:r>
              <a:rPr sz="3850" spc="-434" dirty="0">
                <a:solidFill>
                  <a:srgbClr val="C3C1C3"/>
                </a:solidFill>
                <a:latin typeface="Arial"/>
                <a:cs typeface="Arial"/>
              </a:rPr>
              <a:t>.</a:t>
            </a:r>
            <a:endParaRPr sz="38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398341" y="5767380"/>
            <a:ext cx="558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15" dirty="0">
                <a:solidFill>
                  <a:srgbClr val="A8A8A8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738902" y="5599248"/>
            <a:ext cx="457200" cy="59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700" spc="-254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r>
              <a:rPr sz="3700" spc="-655" dirty="0">
                <a:solidFill>
                  <a:srgbClr val="696969"/>
                </a:solidFill>
                <a:latin typeface="Arial"/>
                <a:cs typeface="Arial"/>
              </a:rPr>
              <a:t>·</a:t>
            </a:r>
            <a:r>
              <a:rPr sz="1800" spc="-292" baseline="55555" dirty="0">
                <a:solidFill>
                  <a:srgbClr val="8C8E8E"/>
                </a:solidFill>
                <a:latin typeface="Times New Roman"/>
                <a:cs typeface="Times New Roman"/>
              </a:rPr>
              <a:t>•</a:t>
            </a:r>
            <a:r>
              <a:rPr sz="3700" spc="-155" dirty="0">
                <a:solidFill>
                  <a:srgbClr val="A8A8A8"/>
                </a:solidFill>
                <a:latin typeface="Arial"/>
                <a:cs typeface="Arial"/>
              </a:rPr>
              <a:t>-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6547" y="1152271"/>
            <a:ext cx="756737" cy="7427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1742" y="2780037"/>
            <a:ext cx="3294960" cy="10114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85888" y="2748431"/>
            <a:ext cx="1954904" cy="10588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10960" y="3951287"/>
            <a:ext cx="6657975" cy="918844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910"/>
              </a:spcBef>
            </a:pPr>
            <a:r>
              <a:rPr sz="1500" spc="-45" dirty="0">
                <a:solidFill>
                  <a:srgbClr val="706B8A"/>
                </a:solidFill>
                <a:latin typeface="Times New Roman"/>
                <a:cs typeface="Times New Roman"/>
              </a:rPr>
              <a:t>Special</a:t>
            </a:r>
            <a:r>
              <a:rPr sz="1500" spc="4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thanks</a:t>
            </a:r>
            <a:r>
              <a:rPr sz="1500" spc="-3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to</a:t>
            </a:r>
            <a:r>
              <a:rPr sz="1500" spc="18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iQuHack</a:t>
            </a:r>
            <a:r>
              <a:rPr sz="1500" spc="-5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and</a:t>
            </a:r>
            <a:r>
              <a:rPr sz="1500" spc="7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spc="-80" dirty="0">
                <a:solidFill>
                  <a:srgbClr val="706B8A"/>
                </a:solidFill>
                <a:latin typeface="Times New Roman"/>
                <a:cs typeface="Times New Roman"/>
              </a:rPr>
              <a:t>iQulSE</a:t>
            </a:r>
            <a:r>
              <a:rPr sz="1500" spc="-4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for</a:t>
            </a:r>
            <a:r>
              <a:rPr sz="1500" spc="7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706B8A"/>
                </a:solidFill>
                <a:latin typeface="Times New Roman"/>
                <a:cs typeface="Times New Roman"/>
              </a:rPr>
              <a:t>providing</a:t>
            </a:r>
            <a:r>
              <a:rPr sz="1500" spc="5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us</a:t>
            </a:r>
            <a:r>
              <a:rPr sz="1500" spc="-1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with</a:t>
            </a:r>
            <a:r>
              <a:rPr sz="1500" spc="3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this</a:t>
            </a:r>
            <a:r>
              <a:rPr sz="1500" spc="-4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706B8A"/>
                </a:solidFill>
                <a:latin typeface="Times New Roman"/>
                <a:cs typeface="Times New Roman"/>
              </a:rPr>
              <a:t>opportunity.</a:t>
            </a:r>
            <a:endParaRPr sz="15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000"/>
              </a:lnSpc>
              <a:spcBef>
                <a:spcPts val="815"/>
              </a:spcBef>
            </a:pP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We</a:t>
            </a:r>
            <a:r>
              <a:rPr sz="1500" spc="-1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also</a:t>
            </a:r>
            <a:r>
              <a:rPr sz="1500" spc="-2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706B8A"/>
                </a:solidFill>
                <a:latin typeface="Times New Roman"/>
                <a:cs typeface="Times New Roman"/>
              </a:rPr>
              <a:t>would</a:t>
            </a:r>
            <a:r>
              <a:rPr sz="1500" spc="10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spc="-45" dirty="0">
                <a:solidFill>
                  <a:srgbClr val="706B8A"/>
                </a:solidFill>
                <a:latin typeface="Times New Roman"/>
                <a:cs typeface="Times New Roman"/>
              </a:rPr>
              <a:t>like</a:t>
            </a:r>
            <a:r>
              <a:rPr sz="1500" spc="-1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to</a:t>
            </a:r>
            <a:r>
              <a:rPr sz="1500" spc="26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thank</a:t>
            </a:r>
            <a:r>
              <a:rPr sz="1500" spc="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Quantum</a:t>
            </a:r>
            <a:r>
              <a:rPr sz="1500" spc="21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spc="-95" dirty="0">
                <a:solidFill>
                  <a:srgbClr val="706B8A"/>
                </a:solidFill>
                <a:latin typeface="Times New Roman"/>
                <a:cs typeface="Times New Roman"/>
              </a:rPr>
              <a:t>Rings</a:t>
            </a:r>
            <a:r>
              <a:rPr sz="1500" spc="-4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for</a:t>
            </a:r>
            <a:r>
              <a:rPr sz="1500" spc="-70" dirty="0">
                <a:solidFill>
                  <a:srgbClr val="706B8A"/>
                </a:solidFill>
                <a:latin typeface="Times New Roman"/>
                <a:cs typeface="Times New Roman"/>
              </a:rPr>
              <a:t> giving</a:t>
            </a:r>
            <a:r>
              <a:rPr sz="1500" spc="4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us</a:t>
            </a:r>
            <a:r>
              <a:rPr sz="1500" spc="1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mentorship</a:t>
            </a:r>
            <a:r>
              <a:rPr sz="1500" spc="75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06B8A"/>
                </a:solidFill>
                <a:latin typeface="Times New Roman"/>
                <a:cs typeface="Times New Roman"/>
              </a:rPr>
              <a:t>throughout</a:t>
            </a:r>
            <a:r>
              <a:rPr sz="1500" spc="50" dirty="0">
                <a:solidFill>
                  <a:srgbClr val="706B8A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706B8A"/>
                </a:solidFill>
                <a:latin typeface="Times New Roman"/>
                <a:cs typeface="Times New Roman"/>
              </a:rPr>
              <a:t>their challenge!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8158" y="5382397"/>
            <a:ext cx="1085215" cy="213360"/>
          </a:xfrm>
          <a:prstGeom prst="rect">
            <a:avLst/>
          </a:prstGeom>
          <a:solidFill>
            <a:srgbClr val="6B6290"/>
          </a:solidFill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ts val="1595"/>
              </a:lnSpc>
              <a:spcBef>
                <a:spcPts val="85"/>
              </a:spcBef>
            </a:pPr>
            <a:r>
              <a:rPr sz="1450" b="1" spc="130" dirty="0">
                <a:solidFill>
                  <a:srgbClr val="F6F4FB"/>
                </a:solidFill>
                <a:latin typeface="Arial"/>
                <a:cs typeface="Arial"/>
              </a:rPr>
              <a:t>QUANTUM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05622" y="5382397"/>
            <a:ext cx="607060" cy="264795"/>
          </a:xfrm>
          <a:custGeom>
            <a:avLst/>
            <a:gdLst/>
            <a:ahLst/>
            <a:cxnLst/>
            <a:rect l="l" t="t" r="r" b="b"/>
            <a:pathLst>
              <a:path w="607060" h="264795">
                <a:moveTo>
                  <a:pt x="606966" y="264362"/>
                </a:moveTo>
                <a:lnTo>
                  <a:pt x="0" y="264362"/>
                </a:lnTo>
                <a:lnTo>
                  <a:pt x="0" y="0"/>
                </a:lnTo>
                <a:lnTo>
                  <a:pt x="606966" y="0"/>
                </a:lnTo>
                <a:lnTo>
                  <a:pt x="606966" y="264362"/>
                </a:lnTo>
                <a:close/>
              </a:path>
            </a:pathLst>
          </a:custGeom>
          <a:solidFill>
            <a:srgbClr val="6B62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923" y="5379973"/>
            <a:ext cx="65532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45" dirty="0">
                <a:solidFill>
                  <a:srgbClr val="F6F4FB"/>
                </a:solidFill>
                <a:latin typeface="Arial"/>
                <a:cs typeface="Arial"/>
              </a:rPr>
              <a:t>RINGS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53937" y="5378755"/>
            <a:ext cx="2389505" cy="257175"/>
          </a:xfrm>
          <a:custGeom>
            <a:avLst/>
            <a:gdLst/>
            <a:ahLst/>
            <a:cxnLst/>
            <a:rect l="l" t="t" r="r" b="b"/>
            <a:pathLst>
              <a:path w="2389504" h="257175">
                <a:moveTo>
                  <a:pt x="2389023" y="257068"/>
                </a:moveTo>
                <a:lnTo>
                  <a:pt x="0" y="257068"/>
                </a:lnTo>
                <a:lnTo>
                  <a:pt x="0" y="0"/>
                </a:lnTo>
                <a:lnTo>
                  <a:pt x="2389023" y="0"/>
                </a:lnTo>
                <a:lnTo>
                  <a:pt x="2389023" y="257068"/>
                </a:lnTo>
                <a:close/>
              </a:path>
            </a:pathLst>
          </a:custGeom>
          <a:solidFill>
            <a:srgbClr val="6B62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53937" y="5378755"/>
            <a:ext cx="2389505" cy="2355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ts val="1789"/>
              </a:lnSpc>
              <a:spcBef>
                <a:spcPts val="60"/>
              </a:spcBef>
            </a:pPr>
            <a:r>
              <a:rPr sz="1500" spc="-45" dirty="0">
                <a:solidFill>
                  <a:srgbClr val="F6F4FB"/>
                </a:solidFill>
                <a:latin typeface="Times New Roman"/>
                <a:cs typeface="Times New Roman"/>
              </a:rPr>
              <a:t>Ethan,</a:t>
            </a:r>
            <a:r>
              <a:rPr sz="1500" spc="-40" dirty="0">
                <a:solidFill>
                  <a:srgbClr val="F6F4FB"/>
                </a:solidFill>
                <a:latin typeface="Times New Roman"/>
                <a:cs typeface="Times New Roman"/>
              </a:rPr>
              <a:t> </a:t>
            </a:r>
            <a:r>
              <a:rPr sz="1500" spc="-45" dirty="0">
                <a:solidFill>
                  <a:srgbClr val="F6F4FB"/>
                </a:solidFill>
                <a:latin typeface="Times New Roman"/>
                <a:cs typeface="Times New Roman"/>
              </a:rPr>
              <a:t>Frank.</a:t>
            </a:r>
            <a:r>
              <a:rPr sz="1500" spc="-95" dirty="0">
                <a:solidFill>
                  <a:srgbClr val="F6F4FB"/>
                </a:solidFill>
                <a:latin typeface="Times New Roman"/>
                <a:cs typeface="Times New Roman"/>
              </a:rPr>
              <a:t> </a:t>
            </a:r>
            <a:r>
              <a:rPr sz="1500" spc="-50" dirty="0">
                <a:solidFill>
                  <a:srgbClr val="F6F4FB"/>
                </a:solidFill>
                <a:latin typeface="Times New Roman"/>
                <a:cs typeface="Times New Roman"/>
              </a:rPr>
              <a:t>Hazel,</a:t>
            </a:r>
            <a:r>
              <a:rPr sz="1500" spc="-45" dirty="0">
                <a:solidFill>
                  <a:srgbClr val="F6F4FB"/>
                </a:solidFill>
                <a:latin typeface="Times New Roman"/>
                <a:cs typeface="Times New Roman"/>
              </a:rPr>
              <a:t> </a:t>
            </a:r>
            <a:r>
              <a:rPr sz="1500" spc="-40" dirty="0">
                <a:solidFill>
                  <a:srgbClr val="F6F4FB"/>
                </a:solidFill>
                <a:latin typeface="Times New Roman"/>
                <a:cs typeface="Times New Roman"/>
              </a:rPr>
              <a:t>Ryon,Varun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607" y="5646760"/>
            <a:ext cx="1242695" cy="213360"/>
          </a:xfrm>
          <a:prstGeom prst="rect">
            <a:avLst/>
          </a:prstGeom>
          <a:solidFill>
            <a:srgbClr val="6B629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5"/>
              </a:lnSpc>
            </a:pPr>
            <a:r>
              <a:rPr sz="1450" b="1" spc="55" dirty="0">
                <a:solidFill>
                  <a:srgbClr val="F6F4FB"/>
                </a:solidFill>
                <a:latin typeface="Arial"/>
                <a:cs typeface="Arial"/>
              </a:rPr>
              <a:t>CHALLENGE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6166" y="5613963"/>
            <a:ext cx="678180" cy="235585"/>
          </a:xfrm>
          <a:prstGeom prst="rect">
            <a:avLst/>
          </a:prstGeom>
          <a:solidFill>
            <a:srgbClr val="6B629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9"/>
              </a:lnSpc>
            </a:pPr>
            <a:r>
              <a:rPr sz="1500" spc="-25" dirty="0">
                <a:solidFill>
                  <a:srgbClr val="F6F4FB"/>
                </a:solidFill>
                <a:latin typeface="Times New Roman"/>
                <a:cs typeface="Times New Roman"/>
              </a:rPr>
              <a:t>iQuHack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69231" y="5525932"/>
            <a:ext cx="24130" cy="347980"/>
          </a:xfrm>
          <a:custGeom>
            <a:avLst/>
            <a:gdLst/>
            <a:ahLst/>
            <a:cxnLst/>
            <a:rect l="l" t="t" r="r" b="b"/>
            <a:pathLst>
              <a:path w="24129" h="347979">
                <a:moveTo>
                  <a:pt x="23648" y="347357"/>
                </a:moveTo>
                <a:lnTo>
                  <a:pt x="0" y="347357"/>
                </a:lnTo>
                <a:lnTo>
                  <a:pt x="0" y="0"/>
                </a:lnTo>
                <a:lnTo>
                  <a:pt x="23648" y="0"/>
                </a:lnTo>
                <a:lnTo>
                  <a:pt x="23648" y="347357"/>
                </a:lnTo>
                <a:close/>
              </a:path>
            </a:pathLst>
          </a:custGeom>
          <a:solidFill>
            <a:srgbClr val="6B62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56532" y="5523304"/>
            <a:ext cx="94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F6F4FB"/>
                </a:solidFill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53268" y="5613963"/>
            <a:ext cx="1017269" cy="235585"/>
          </a:xfrm>
          <a:prstGeom prst="rect">
            <a:avLst/>
          </a:prstGeom>
          <a:solidFill>
            <a:srgbClr val="6B629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9"/>
              </a:lnSpc>
            </a:pPr>
            <a:r>
              <a:rPr sz="1500" dirty="0">
                <a:solidFill>
                  <a:srgbClr val="F6F4FB"/>
                </a:solidFill>
                <a:latin typeface="Times New Roman"/>
                <a:cs typeface="Times New Roman"/>
              </a:rPr>
              <a:t>Winter</a:t>
            </a:r>
            <a:r>
              <a:rPr sz="1500" spc="285" dirty="0">
                <a:solidFill>
                  <a:srgbClr val="F6F4FB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6F4FB"/>
                </a:solidFill>
                <a:latin typeface="Times New Roman"/>
                <a:cs typeface="Times New Roman"/>
              </a:rPr>
              <a:t>2026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2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3350</Words>
  <Application>Microsoft Office PowerPoint</Application>
  <PresentationFormat>Benutzerdefiniert</PresentationFormat>
  <Paragraphs>665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Times New Roman</vt:lpstr>
      <vt:lpstr>Office Theme</vt:lpstr>
      <vt:lpstr>PowerPoint-Präsentation</vt:lpstr>
      <vt:lpstr>MEET THE TEAM</vt:lpstr>
      <vt:lpstr>GIVEN DATA</vt:lpstr>
      <vt:lpstr>PowerPoint-Präsentation</vt:lpstr>
      <vt:lpstr>RUNTIME</vt:lpstr>
      <vt:lpstr>RUNTIME</vt:lpstr>
      <vt:lpstr>THRESHOLD</vt:lpstr>
      <vt:lpstr>PowerPoint-Präsentation</vt:lpstr>
      <vt:lpstr>CLASSIFICATION OF CIRCUITS?</vt:lpstr>
      <vt:lpstr>How can we statically analyze metrics representing a circuit's difficulty?</vt:lpstr>
      <vt:lpstr>PowerPoint-Präsentation</vt:lpstr>
      <vt:lpstr>QUANTUM</vt:lpstr>
      <vt:lpstr>PowerPoint-Präsentation</vt:lpstr>
      <vt:lpstr>FIDELITY MAPPING</vt:lpstr>
      <vt:lpstr>LOGISTIC FITTING</vt:lpstr>
      <vt:lpstr>METRIC VlllDATION</vt:lpstr>
      <vt:lpstr>PowerPoint-Präsentation</vt:lpstr>
      <vt:lpstr>EVOLUTION</vt:lpstr>
      <vt:lpstr>PowerPoint-Präsentation</vt:lpstr>
      <vt:lpstr>PowerPoint-Präsentation</vt:lpstr>
      <vt:lpstr>WHY MODEL?</vt:lpstr>
      <vt:lpstr>PYTORCH NEURAL NETWORK</vt:lpstr>
      <vt:lpstr>RESULTS</vt:lpstr>
      <vt:lpstr> ...._ 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2026-08-10T04:09:32Z</dcterms:created>
  <dcterms:modified xsi:type="dcterms:W3CDTF">2026-08-10T04:09:36Z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2026-08-10T00:00:00Z</vt:filetime>
  </property>
  <property fmtid="{D5CDD505-2E9C-101B-9397-08002B2CF9AE}" pid="3" name="LastSaved">
    <vt:filetime>2026-08-10T00:00:00Z</vt:filetime>
  </property>
</Properties>
</file>